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383" r:id="rId3"/>
    <p:sldId id="385" r:id="rId4"/>
    <p:sldId id="384" r:id="rId5"/>
    <p:sldId id="386" r:id="rId6"/>
    <p:sldId id="387" r:id="rId7"/>
    <p:sldId id="388" r:id="rId8"/>
    <p:sldId id="389"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9503EF-A3A3-438B-9A8E-5786332E7612}" type="datetimeFigureOut">
              <a:rPr kumimoji="1" lang="ja-JP" altLang="en-US" smtClean="0"/>
              <a:t>2026/6/26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03359E-3879-4A16-B359-475CD3AAA3AF}" type="slidenum">
              <a:rPr kumimoji="1" lang="ja-JP" altLang="en-US" smtClean="0"/>
              <a:t>‹#›</a:t>
            </a:fld>
            <a:endParaRPr kumimoji="1" lang="ja-JP" altLang="en-US"/>
          </a:p>
        </p:txBody>
      </p:sp>
    </p:spTree>
    <p:extLst>
      <p:ext uri="{BB962C8B-B14F-4D97-AF65-F5344CB8AC3E}">
        <p14:creationId xmlns:p14="http://schemas.microsoft.com/office/powerpoint/2010/main" val="5558831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2</a:t>
            </a:fld>
            <a:endParaRPr kumimoji="1" lang="ja-JP" altLang="en-US"/>
          </a:p>
        </p:txBody>
      </p:sp>
    </p:spTree>
    <p:extLst>
      <p:ext uri="{BB962C8B-B14F-4D97-AF65-F5344CB8AC3E}">
        <p14:creationId xmlns:p14="http://schemas.microsoft.com/office/powerpoint/2010/main" val="2165588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3</a:t>
            </a:fld>
            <a:endParaRPr kumimoji="1" lang="ja-JP" altLang="en-US"/>
          </a:p>
        </p:txBody>
      </p:sp>
    </p:spTree>
    <p:extLst>
      <p:ext uri="{BB962C8B-B14F-4D97-AF65-F5344CB8AC3E}">
        <p14:creationId xmlns:p14="http://schemas.microsoft.com/office/powerpoint/2010/main" val="3945115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a:t>
            </a:fld>
            <a:endParaRPr kumimoji="1" lang="ja-JP" altLang="en-US"/>
          </a:p>
        </p:txBody>
      </p:sp>
    </p:spTree>
    <p:extLst>
      <p:ext uri="{BB962C8B-B14F-4D97-AF65-F5344CB8AC3E}">
        <p14:creationId xmlns:p14="http://schemas.microsoft.com/office/powerpoint/2010/main" val="2403082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a:t>
            </a:fld>
            <a:endParaRPr kumimoji="1" lang="ja-JP" altLang="en-US"/>
          </a:p>
        </p:txBody>
      </p:sp>
    </p:spTree>
    <p:extLst>
      <p:ext uri="{BB962C8B-B14F-4D97-AF65-F5344CB8AC3E}">
        <p14:creationId xmlns:p14="http://schemas.microsoft.com/office/powerpoint/2010/main" val="3406818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a:t>
            </a:fld>
            <a:endParaRPr kumimoji="1" lang="ja-JP" altLang="en-US"/>
          </a:p>
        </p:txBody>
      </p:sp>
    </p:spTree>
    <p:extLst>
      <p:ext uri="{BB962C8B-B14F-4D97-AF65-F5344CB8AC3E}">
        <p14:creationId xmlns:p14="http://schemas.microsoft.com/office/powerpoint/2010/main" val="3693634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7</a:t>
            </a:fld>
            <a:endParaRPr kumimoji="1" lang="ja-JP" altLang="en-US"/>
          </a:p>
        </p:txBody>
      </p:sp>
    </p:spTree>
    <p:extLst>
      <p:ext uri="{BB962C8B-B14F-4D97-AF65-F5344CB8AC3E}">
        <p14:creationId xmlns:p14="http://schemas.microsoft.com/office/powerpoint/2010/main" val="2511654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8</a:t>
            </a:fld>
            <a:endParaRPr kumimoji="1" lang="ja-JP" altLang="en-US"/>
          </a:p>
        </p:txBody>
      </p:sp>
    </p:spTree>
    <p:extLst>
      <p:ext uri="{BB962C8B-B14F-4D97-AF65-F5344CB8AC3E}">
        <p14:creationId xmlns:p14="http://schemas.microsoft.com/office/powerpoint/2010/main" val="3346416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EA2629-520E-A9C0-FCEB-263FED60811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E462748-8325-2EE4-436B-C842E7D5A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7452900-B298-9684-B538-918BEA40704C}"/>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5" name="フッター プレースホルダー 4">
            <a:extLst>
              <a:ext uri="{FF2B5EF4-FFF2-40B4-BE49-F238E27FC236}">
                <a16:creationId xmlns:a16="http://schemas.microsoft.com/office/drawing/2014/main" id="{B4D1DA9B-CC34-DCC1-A57E-B42300950D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9919473-EE9F-BBE3-75C6-C7D448E42B53}"/>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739757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857864-DBD0-116B-AE34-6DD6D430893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9DD4C34-6A05-A7C2-C526-F6272679D2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84F666-89CF-72FA-09BE-77BB61F66EAF}"/>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5" name="フッター プレースホルダー 4">
            <a:extLst>
              <a:ext uri="{FF2B5EF4-FFF2-40B4-BE49-F238E27FC236}">
                <a16:creationId xmlns:a16="http://schemas.microsoft.com/office/drawing/2014/main" id="{A11354ED-7BFA-36C4-962F-8A68F74600C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6BAD08E-DE76-6136-4190-C218D25F38C8}"/>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2688528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D082F4-B70E-6CB6-2095-7BA50C62C65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0F3EAC6-EE4C-544B-9E94-49A8F671FE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C533259-A455-6490-4F71-99F2227E3649}"/>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5" name="フッター プレースホルダー 4">
            <a:extLst>
              <a:ext uri="{FF2B5EF4-FFF2-40B4-BE49-F238E27FC236}">
                <a16:creationId xmlns:a16="http://schemas.microsoft.com/office/drawing/2014/main" id="{7EB0AC90-1852-619B-384F-ADDFCE67EBC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B6FEDF-7754-575C-A983-30C4283C5669}"/>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3861922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F77BA4-34EB-C103-D8D9-D1A4CE47C21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87CD81D-2C29-AF40-CC18-73D216473EF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74A88AE-778E-B3DE-FD22-4C185E2E0F7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590BAFB-AD22-B23D-E13E-673F7DB835AE}"/>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6" name="フッター プレースホルダー 5">
            <a:extLst>
              <a:ext uri="{FF2B5EF4-FFF2-40B4-BE49-F238E27FC236}">
                <a16:creationId xmlns:a16="http://schemas.microsoft.com/office/drawing/2014/main" id="{6461C6ED-1D16-7790-1C24-1900F1FDD9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BD2235C-E7A6-0695-D731-399319221144}"/>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2000452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E1AF09-DD67-12CF-4D65-FE0A6CB46E8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F899D20-438F-3505-E88E-95F82D74C5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44B3794-AA82-6390-6201-D1283BA67A9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23B75E-FB7C-8329-F796-764C0A7FD6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7A604F4-98B4-6AFD-DB7A-9C31DED0FB1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B6200E5-5EDE-76D5-6D74-3A1988F119A8}"/>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8" name="フッター プレースホルダー 7">
            <a:extLst>
              <a:ext uri="{FF2B5EF4-FFF2-40B4-BE49-F238E27FC236}">
                <a16:creationId xmlns:a16="http://schemas.microsoft.com/office/drawing/2014/main" id="{84606ED2-6CD1-586F-B357-2469771FB10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BBB56C6-3795-B393-6E60-F99D73B223DE}"/>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335248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3FEFB7-8D31-47B2-873C-4678AF6A65E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2E824EA-427D-74ED-5ACA-5422904888EB}"/>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4" name="フッター プレースホルダー 3">
            <a:extLst>
              <a:ext uri="{FF2B5EF4-FFF2-40B4-BE49-F238E27FC236}">
                <a16:creationId xmlns:a16="http://schemas.microsoft.com/office/drawing/2014/main" id="{5803A123-B510-4703-1342-A7959603A08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E9B20C6-7460-FCA7-38E2-67926DB73789}"/>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62087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8636386-A2DE-7D36-6E00-B1E495023F6A}"/>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3" name="フッター プレースホルダー 2">
            <a:extLst>
              <a:ext uri="{FF2B5EF4-FFF2-40B4-BE49-F238E27FC236}">
                <a16:creationId xmlns:a16="http://schemas.microsoft.com/office/drawing/2014/main" id="{D914DC61-ED0E-BD8A-A62F-7B69B5DBFCA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7712094-E42D-83B8-263B-68E406BF41F6}"/>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612962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CEE5AC-D467-71B7-01DF-DB898FA8E45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823E5B9-57A9-0FFF-65D3-637AA5744F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23F7F91-FC0B-EB5C-ECC9-C1FC7B0C31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7C25335-97A3-231E-8F3A-7194391C748B}"/>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6" name="フッター プレースホルダー 5">
            <a:extLst>
              <a:ext uri="{FF2B5EF4-FFF2-40B4-BE49-F238E27FC236}">
                <a16:creationId xmlns:a16="http://schemas.microsoft.com/office/drawing/2014/main" id="{111A5D3F-1F0C-1402-6747-1130064D353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02E23D7-B465-F439-EDAA-C000762A2D7B}"/>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1291852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6DD7E9-CE22-72D8-4C7B-DF4C167926B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5AE7E48-60D4-22A1-19A2-BF5ADEDF08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4892539-88C2-8ADA-1FF1-1260238ED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78E9B9E-6CB0-815E-AA98-30A4C42694EA}"/>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6" name="フッター プレースホルダー 5">
            <a:extLst>
              <a:ext uri="{FF2B5EF4-FFF2-40B4-BE49-F238E27FC236}">
                <a16:creationId xmlns:a16="http://schemas.microsoft.com/office/drawing/2014/main" id="{2280CFEA-0707-EE28-7D50-A5831546E5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C20F83-D1ED-448E-F27D-95067E5096E4}"/>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4196825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B4EE4B-60F5-EE9E-48F0-5AD3F08D8D1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D87DB6D-BE11-951C-527F-311466A3ADD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2BF59C4-CFF3-DE36-8B05-6C5B1DE31F01}"/>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5" name="フッター プレースホルダー 4">
            <a:extLst>
              <a:ext uri="{FF2B5EF4-FFF2-40B4-BE49-F238E27FC236}">
                <a16:creationId xmlns:a16="http://schemas.microsoft.com/office/drawing/2014/main" id="{ADAFF542-1A2C-9DE8-80B8-F1783EC2C61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84A465-9E9B-4560-C756-B96B2C3159A7}"/>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2608689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71CC23F-0827-3B57-1A57-FE814A4000F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52817C9-0EB3-B81C-F027-5C93A37C606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77FA4C-D0B1-7958-B0F4-148E62FE2766}"/>
              </a:ext>
            </a:extLst>
          </p:cNvPr>
          <p:cNvSpPr>
            <a:spLocks noGrp="1"/>
          </p:cNvSpPr>
          <p:nvPr>
            <p:ph type="dt" sz="half" idx="10"/>
          </p:nvPr>
        </p:nvSpPr>
        <p:spPr/>
        <p:txBody>
          <a:bodyPr/>
          <a:lstStyle/>
          <a:p>
            <a:fld id="{71C26338-3316-4717-B2CD-6C49E253FBA9}" type="datetimeFigureOut">
              <a:rPr kumimoji="1" lang="ja-JP" altLang="en-US" smtClean="0"/>
              <a:t>2026/6/26</a:t>
            </a:fld>
            <a:endParaRPr kumimoji="1" lang="ja-JP" altLang="en-US"/>
          </a:p>
        </p:txBody>
      </p:sp>
      <p:sp>
        <p:nvSpPr>
          <p:cNvPr id="5" name="フッター プレースホルダー 4">
            <a:extLst>
              <a:ext uri="{FF2B5EF4-FFF2-40B4-BE49-F238E27FC236}">
                <a16:creationId xmlns:a16="http://schemas.microsoft.com/office/drawing/2014/main" id="{29A4F95D-B57C-D11E-537B-59127F4C43E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3648B1-651E-6263-89A3-AABFA3B85241}"/>
              </a:ext>
            </a:extLst>
          </p:cNvPr>
          <p:cNvSpPr>
            <a:spLocks noGrp="1"/>
          </p:cNvSpPr>
          <p:nvPr>
            <p:ph type="sldNum" sz="quarter" idx="12"/>
          </p:nvPr>
        </p:nvSpPr>
        <p:spPr/>
        <p:txBody>
          <a:body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4182958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D0952CB-102A-D33A-630E-91F139D9DE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4E78FB-CA2E-7305-ABA5-4DE4059C60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14FCE3C-7420-E759-3BA0-2EA243DD60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C26338-3316-4717-B2CD-6C49E253FBA9}" type="datetimeFigureOut">
              <a:rPr kumimoji="1" lang="ja-JP" altLang="en-US" smtClean="0"/>
              <a:t>2026/6/26</a:t>
            </a:fld>
            <a:endParaRPr kumimoji="1" lang="ja-JP" altLang="en-US"/>
          </a:p>
        </p:txBody>
      </p:sp>
      <p:sp>
        <p:nvSpPr>
          <p:cNvPr id="5" name="フッター プレースホルダー 4">
            <a:extLst>
              <a:ext uri="{FF2B5EF4-FFF2-40B4-BE49-F238E27FC236}">
                <a16:creationId xmlns:a16="http://schemas.microsoft.com/office/drawing/2014/main" id="{B5992D99-778A-6574-AEE8-37E33382C9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FD7E99B-1CBE-3ECA-CD76-5F88FA6A75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5C884A-2425-4444-B240-FBFC8C6BAF14}" type="slidenum">
              <a:rPr kumimoji="1" lang="ja-JP" altLang="en-US" smtClean="0"/>
              <a:t>‹#›</a:t>
            </a:fld>
            <a:endParaRPr kumimoji="1" lang="ja-JP" altLang="en-US"/>
          </a:p>
        </p:txBody>
      </p:sp>
    </p:spTree>
    <p:extLst>
      <p:ext uri="{BB962C8B-B14F-4D97-AF65-F5344CB8AC3E}">
        <p14:creationId xmlns:p14="http://schemas.microsoft.com/office/powerpoint/2010/main" val="2476579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856A02-C519-A9FA-77C1-ED30D563B0FE}"/>
              </a:ext>
            </a:extLst>
          </p:cNvPr>
          <p:cNvSpPr>
            <a:spLocks noGrp="1"/>
          </p:cNvSpPr>
          <p:nvPr>
            <p:ph type="ctrTitle"/>
          </p:nvPr>
        </p:nvSpPr>
        <p:spPr/>
        <p:txBody>
          <a:bodyPr/>
          <a:lstStyle/>
          <a:p>
            <a:r>
              <a:rPr kumimoji="1" lang="ja-JP" altLang="en-US" dirty="0"/>
              <a:t>画像処理と機械学習</a:t>
            </a:r>
          </a:p>
        </p:txBody>
      </p:sp>
      <p:sp>
        <p:nvSpPr>
          <p:cNvPr id="3" name="字幕 2">
            <a:extLst>
              <a:ext uri="{FF2B5EF4-FFF2-40B4-BE49-F238E27FC236}">
                <a16:creationId xmlns:a16="http://schemas.microsoft.com/office/drawing/2014/main" id="{63097D6C-A055-6CD4-B59C-D599DC6F8D6F}"/>
              </a:ext>
            </a:extLst>
          </p:cNvPr>
          <p:cNvSpPr>
            <a:spLocks noGrp="1"/>
          </p:cNvSpPr>
          <p:nvPr>
            <p:ph type="subTitle" idx="1"/>
          </p:nvPr>
        </p:nvSpPr>
        <p:spPr/>
        <p:txBody>
          <a:bodyPr/>
          <a:lstStyle/>
          <a:p>
            <a:r>
              <a:rPr kumimoji="1" lang="ja-JP" altLang="en-US" dirty="0"/>
              <a:t>ポリテクセンター栃木</a:t>
            </a:r>
          </a:p>
        </p:txBody>
      </p:sp>
    </p:spTree>
    <p:extLst>
      <p:ext uri="{BB962C8B-B14F-4D97-AF65-F5344CB8AC3E}">
        <p14:creationId xmlns:p14="http://schemas.microsoft.com/office/powerpoint/2010/main" val="2017255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画像処理と機械学習の簡単な歴史①</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dirty="0">
                <a:solidFill>
                  <a:srgbClr val="000000"/>
                </a:solidFill>
                <a:latin typeface="Consolas" panose="020B0609020204030204" pitchFamily="49" charset="0"/>
              </a:rPr>
              <a:t>～</a:t>
            </a:r>
            <a:r>
              <a:rPr lang="en-US" altLang="ja-JP" dirty="0">
                <a:solidFill>
                  <a:srgbClr val="000000"/>
                </a:solidFill>
                <a:latin typeface="Consolas" panose="020B0609020204030204" pitchFamily="49" charset="0"/>
              </a:rPr>
              <a:t>2012</a:t>
            </a:r>
            <a:r>
              <a:rPr lang="ja-JP" altLang="en-US" dirty="0">
                <a:solidFill>
                  <a:srgbClr val="000000"/>
                </a:solidFill>
                <a:latin typeface="Consolas" panose="020B0609020204030204" pitchFamily="49" charset="0"/>
              </a:rPr>
              <a:t>年</a:t>
            </a:r>
            <a:endParaRPr lang="en-US" altLang="ja-JP" dirty="0">
              <a:solidFill>
                <a:srgbClr val="000000"/>
              </a:solidFill>
              <a:latin typeface="Consolas" panose="020B0609020204030204" pitchFamily="49" charset="0"/>
            </a:endParaRPr>
          </a:p>
          <a:p>
            <a:pPr marL="0" indent="0">
              <a:buNone/>
            </a:pPr>
            <a:r>
              <a:rPr lang="ja-JP" altLang="en-US" sz="2000" dirty="0">
                <a:solidFill>
                  <a:srgbClr val="000000"/>
                </a:solidFill>
                <a:latin typeface="Consolas" panose="020B0609020204030204" pitchFamily="49" charset="0"/>
              </a:rPr>
              <a:t>画像処理で得た特徴量からエンジニアが複雑なアルゴリズムを書いて画像認識をしていた</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2009</a:t>
            </a:r>
            <a:r>
              <a:rPr lang="ja-JP" altLang="en-US" sz="2000" dirty="0">
                <a:solidFill>
                  <a:srgbClr val="000000"/>
                </a:solidFill>
                <a:latin typeface="Consolas" panose="020B0609020204030204" pitchFamily="49" charset="0"/>
              </a:rPr>
              <a:t>年に李飛飛らによって</a:t>
            </a:r>
            <a:r>
              <a:rPr lang="en-US" altLang="ja-JP" sz="2000" b="1" dirty="0">
                <a:solidFill>
                  <a:srgbClr val="000000"/>
                </a:solidFill>
                <a:latin typeface="Consolas" panose="020B0609020204030204" pitchFamily="49" charset="0"/>
              </a:rPr>
              <a:t>ImageNet</a:t>
            </a:r>
            <a:r>
              <a:rPr lang="ja-JP" altLang="en-US" sz="2000" dirty="0">
                <a:solidFill>
                  <a:srgbClr val="000000"/>
                </a:solidFill>
                <a:latin typeface="Consolas" panose="020B0609020204030204" pitchFamily="49" charset="0"/>
              </a:rPr>
              <a:t>という大規模な画像データベースが公開され、</a:t>
            </a:r>
            <a:r>
              <a:rPr lang="en-US" altLang="ja-JP" sz="2000" dirty="0">
                <a:solidFill>
                  <a:srgbClr val="000000"/>
                </a:solidFill>
                <a:latin typeface="Consolas" panose="020B0609020204030204" pitchFamily="49" charset="0"/>
              </a:rPr>
              <a:t>2010</a:t>
            </a:r>
            <a:r>
              <a:rPr lang="ja-JP" altLang="en-US" sz="2000" dirty="0">
                <a:solidFill>
                  <a:srgbClr val="000000"/>
                </a:solidFill>
                <a:latin typeface="Consolas" panose="020B0609020204030204" pitchFamily="49" charset="0"/>
              </a:rPr>
              <a:t>年から</a:t>
            </a:r>
            <a:r>
              <a:rPr lang="en-US" altLang="ja-JP" sz="2000" dirty="0">
                <a:solidFill>
                  <a:srgbClr val="000000"/>
                </a:solidFill>
                <a:latin typeface="Consolas" panose="020B0609020204030204" pitchFamily="49" charset="0"/>
              </a:rPr>
              <a:t>2017</a:t>
            </a:r>
            <a:r>
              <a:rPr lang="ja-JP" altLang="en-US" sz="2000" dirty="0">
                <a:solidFill>
                  <a:srgbClr val="000000"/>
                </a:solidFill>
                <a:latin typeface="Consolas" panose="020B0609020204030204" pitchFamily="49" charset="0"/>
              </a:rPr>
              <a:t>年にかけて毎年</a:t>
            </a:r>
            <a:r>
              <a:rPr lang="en-US" altLang="ja-JP" sz="2000" b="1" dirty="0">
                <a:solidFill>
                  <a:srgbClr val="000000"/>
                </a:solidFill>
                <a:latin typeface="Consolas" panose="020B0609020204030204" pitchFamily="49" charset="0"/>
              </a:rPr>
              <a:t>ILSVRC</a:t>
            </a:r>
            <a:r>
              <a:rPr lang="ja-JP" altLang="en-US" sz="2000" dirty="0">
                <a:solidFill>
                  <a:srgbClr val="000000"/>
                </a:solidFill>
                <a:latin typeface="Consolas" panose="020B0609020204030204" pitchFamily="49" charset="0"/>
              </a:rPr>
              <a:t>という画像認識大会が開かれた</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2012</a:t>
            </a:r>
            <a:r>
              <a:rPr lang="ja-JP" altLang="en-US" sz="2000" dirty="0">
                <a:solidFill>
                  <a:srgbClr val="000000"/>
                </a:solidFill>
                <a:latin typeface="Consolas" panose="020B0609020204030204" pitchFamily="49" charset="0"/>
              </a:rPr>
              <a:t>年の</a:t>
            </a:r>
            <a:r>
              <a:rPr lang="en-US" altLang="ja-JP" sz="2000" b="1" dirty="0">
                <a:solidFill>
                  <a:srgbClr val="000000"/>
                </a:solidFill>
                <a:latin typeface="Consolas" panose="020B0609020204030204" pitchFamily="49" charset="0"/>
              </a:rPr>
              <a:t>ILSVRC</a:t>
            </a:r>
            <a:r>
              <a:rPr lang="ja-JP" altLang="en-US" sz="2000" dirty="0">
                <a:solidFill>
                  <a:srgbClr val="000000"/>
                </a:solidFill>
                <a:latin typeface="Consolas" panose="020B0609020204030204" pitchFamily="49" charset="0"/>
              </a:rPr>
              <a:t>で</a:t>
            </a:r>
            <a:r>
              <a:rPr lang="en-US" altLang="ja-JP" sz="2000" b="1" dirty="0" err="1">
                <a:solidFill>
                  <a:srgbClr val="000000"/>
                </a:solidFill>
                <a:latin typeface="Consolas" panose="020B0609020204030204" pitchFamily="49" charset="0"/>
              </a:rPr>
              <a:t>AlexNet</a:t>
            </a:r>
            <a:r>
              <a:rPr lang="en-US" altLang="ja-JP" sz="2000" dirty="0">
                <a:solidFill>
                  <a:srgbClr val="000000"/>
                </a:solidFill>
                <a:latin typeface="Consolas" panose="020B0609020204030204" pitchFamily="49" charset="0"/>
              </a:rPr>
              <a:t>(CNN)</a:t>
            </a:r>
            <a:r>
              <a:rPr lang="ja-JP" altLang="en-US" sz="2000" dirty="0">
                <a:solidFill>
                  <a:srgbClr val="000000"/>
                </a:solidFill>
                <a:latin typeface="Consolas" panose="020B0609020204030204" pitchFamily="49" charset="0"/>
              </a:rPr>
              <a:t>が優勝し、以降は機械学習の研究が盛んになる</a:t>
            </a:r>
            <a:endParaRPr lang="en-US" altLang="ja-JP" sz="2000" dirty="0">
              <a:solidFill>
                <a:srgbClr val="000000"/>
              </a:solidFill>
              <a:latin typeface="Consolas" panose="020B0609020204030204" pitchFamily="49" charset="0"/>
            </a:endParaRPr>
          </a:p>
          <a:p>
            <a:pPr marL="0" indent="0">
              <a:buNone/>
            </a:pPr>
            <a:endParaRPr lang="en-US" altLang="ja-JP" sz="2000"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2</a:t>
            </a:fld>
            <a:endParaRPr kumimoji="1" lang="ja-JP" altLang="en-US"/>
          </a:p>
        </p:txBody>
      </p:sp>
    </p:spTree>
    <p:extLst>
      <p:ext uri="{BB962C8B-B14F-4D97-AF65-F5344CB8AC3E}">
        <p14:creationId xmlns:p14="http://schemas.microsoft.com/office/powerpoint/2010/main" val="1504215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画像処理と機械学習の簡単な歴史②</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en-US" altLang="ja-JP" b="0" dirty="0">
                <a:solidFill>
                  <a:srgbClr val="000000"/>
                </a:solidFill>
                <a:effectLst/>
                <a:latin typeface="Consolas" panose="020B0609020204030204" pitchFamily="49" charset="0"/>
              </a:rPr>
              <a:t>2012</a:t>
            </a:r>
            <a:r>
              <a:rPr lang="ja-JP" altLang="en-US" b="0" dirty="0">
                <a:solidFill>
                  <a:srgbClr val="000000"/>
                </a:solidFill>
                <a:effectLst/>
                <a:latin typeface="Consolas" panose="020B0609020204030204" pitchFamily="49" charset="0"/>
              </a:rPr>
              <a:t>～</a:t>
            </a:r>
            <a:r>
              <a:rPr lang="en-US" altLang="ja-JP" b="0" dirty="0">
                <a:solidFill>
                  <a:srgbClr val="000000"/>
                </a:solidFill>
                <a:effectLst/>
                <a:latin typeface="Consolas" panose="020B0609020204030204" pitchFamily="49" charset="0"/>
              </a:rPr>
              <a:t>2017</a:t>
            </a:r>
            <a:r>
              <a:rPr lang="ja-JP" altLang="en-US" b="0" dirty="0">
                <a:solidFill>
                  <a:srgbClr val="000000"/>
                </a:solidFill>
                <a:effectLst/>
                <a:latin typeface="Consolas" panose="020B0609020204030204" pitchFamily="49" charset="0"/>
              </a:rPr>
              <a:t>年　</a:t>
            </a:r>
            <a:r>
              <a:rPr lang="en-US" altLang="ja-JP" b="0" dirty="0">
                <a:solidFill>
                  <a:srgbClr val="000000"/>
                </a:solidFill>
                <a:effectLst/>
                <a:latin typeface="Consolas" panose="020B0609020204030204" pitchFamily="49" charset="0"/>
              </a:rPr>
              <a:t>CNN</a:t>
            </a:r>
            <a:r>
              <a:rPr lang="ja-JP" altLang="en-US" b="0" dirty="0">
                <a:solidFill>
                  <a:srgbClr val="000000"/>
                </a:solidFill>
                <a:effectLst/>
                <a:latin typeface="Consolas" panose="020B0609020204030204" pitchFamily="49" charset="0"/>
              </a:rPr>
              <a:t>革命</a:t>
            </a:r>
            <a:endParaRPr lang="en-US" altLang="ja-JP" b="0" dirty="0">
              <a:solidFill>
                <a:srgbClr val="000000"/>
              </a:solidFill>
              <a:effectLst/>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CNN</a:t>
            </a:r>
            <a:r>
              <a:rPr lang="ja-JP" altLang="en-US" sz="2000" dirty="0">
                <a:solidFill>
                  <a:srgbClr val="000000"/>
                </a:solidFill>
                <a:latin typeface="Consolas" panose="020B0609020204030204" pitchFamily="49" charset="0"/>
              </a:rPr>
              <a:t>とは</a:t>
            </a:r>
            <a:r>
              <a:rPr lang="ja-JP" altLang="en-US" sz="2000" b="1" dirty="0">
                <a:solidFill>
                  <a:srgbClr val="000000"/>
                </a:solidFill>
                <a:latin typeface="Consolas" panose="020B0609020204030204" pitchFamily="49" charset="0"/>
              </a:rPr>
              <a:t>畳み込みニューラルネットワーク</a:t>
            </a:r>
            <a:r>
              <a:rPr lang="ja-JP" altLang="en-US" sz="2000" dirty="0">
                <a:solidFill>
                  <a:srgbClr val="000000"/>
                </a:solidFill>
                <a:latin typeface="Consolas" panose="020B0609020204030204" pitchFamily="49" charset="0"/>
              </a:rPr>
              <a:t>の略で、人の神経網</a:t>
            </a:r>
            <a:r>
              <a:rPr lang="en-US" altLang="ja-JP" sz="2000" dirty="0">
                <a:solidFill>
                  <a:srgbClr val="000000"/>
                </a:solidFill>
                <a:latin typeface="Consolas" panose="020B0609020204030204" pitchFamily="49" charset="0"/>
              </a:rPr>
              <a:t>(</a:t>
            </a:r>
            <a:r>
              <a:rPr lang="ja-JP" altLang="en-US" sz="2000" dirty="0">
                <a:solidFill>
                  <a:srgbClr val="000000"/>
                </a:solidFill>
                <a:latin typeface="Consolas" panose="020B0609020204030204" pitchFamily="49" charset="0"/>
              </a:rPr>
              <a:t>ニューラルネットワーク</a:t>
            </a:r>
            <a:r>
              <a:rPr lang="en-US" altLang="ja-JP" sz="2000" dirty="0">
                <a:solidFill>
                  <a:srgbClr val="000000"/>
                </a:solidFill>
                <a:latin typeface="Consolas" panose="020B0609020204030204" pitchFamily="49" charset="0"/>
              </a:rPr>
              <a:t>)</a:t>
            </a:r>
            <a:r>
              <a:rPr lang="ja-JP" altLang="en-US" sz="2000" dirty="0">
                <a:solidFill>
                  <a:srgbClr val="000000"/>
                </a:solidFill>
                <a:latin typeface="Consolas" panose="020B0609020204030204" pitchFamily="49" charset="0"/>
              </a:rPr>
              <a:t>をコンピュータで再現した人工ニューラルネットワークの一つ。この時代は機械学習の手法の中でも画像認識の世界では</a:t>
            </a:r>
            <a:r>
              <a:rPr lang="en-US" altLang="ja-JP" sz="2000" dirty="0">
                <a:solidFill>
                  <a:srgbClr val="000000"/>
                </a:solidFill>
                <a:latin typeface="Consolas" panose="020B0609020204030204" pitchFamily="49" charset="0"/>
              </a:rPr>
              <a:t>CNN</a:t>
            </a:r>
            <a:r>
              <a:rPr lang="ja-JP" altLang="en-US" sz="2000" dirty="0">
                <a:solidFill>
                  <a:srgbClr val="000000"/>
                </a:solidFill>
                <a:latin typeface="Consolas" panose="020B0609020204030204" pitchFamily="49" charset="0"/>
              </a:rPr>
              <a:t>が一番人気。ちなみに自然言語・音声認識などの順序が大事な対象の認識では</a:t>
            </a:r>
            <a:r>
              <a:rPr lang="en-US" altLang="ja-JP" sz="2000" dirty="0">
                <a:solidFill>
                  <a:srgbClr val="000000"/>
                </a:solidFill>
                <a:latin typeface="Consolas" panose="020B0609020204030204" pitchFamily="49" charset="0"/>
              </a:rPr>
              <a:t>RNN</a:t>
            </a:r>
            <a:r>
              <a:rPr lang="ja-JP" altLang="en-US" sz="2000" dirty="0">
                <a:solidFill>
                  <a:srgbClr val="000000"/>
                </a:solidFill>
                <a:latin typeface="Consolas" panose="020B0609020204030204" pitchFamily="49" charset="0"/>
              </a:rPr>
              <a:t>が人気。</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2012</a:t>
            </a:r>
            <a:r>
              <a:rPr lang="ja-JP" altLang="en-US" sz="2000" dirty="0">
                <a:solidFill>
                  <a:srgbClr val="000000"/>
                </a:solidFill>
                <a:latin typeface="Consolas" panose="020B0609020204030204" pitchFamily="49" charset="0"/>
              </a:rPr>
              <a:t>年の</a:t>
            </a:r>
            <a:r>
              <a:rPr lang="en-US" altLang="ja-JP" sz="2000" dirty="0">
                <a:solidFill>
                  <a:srgbClr val="000000"/>
                </a:solidFill>
                <a:latin typeface="Consolas" panose="020B0609020204030204" pitchFamily="49" charset="0"/>
              </a:rPr>
              <a:t>ILSVRC</a:t>
            </a:r>
            <a:r>
              <a:rPr lang="ja-JP" altLang="en-US" sz="2000" dirty="0">
                <a:solidFill>
                  <a:srgbClr val="000000"/>
                </a:solidFill>
                <a:latin typeface="Consolas" panose="020B0609020204030204" pitchFamily="49" charset="0"/>
              </a:rPr>
              <a:t>で</a:t>
            </a:r>
            <a:r>
              <a:rPr lang="en-US" altLang="ja-JP" sz="2000" b="1" dirty="0" err="1">
                <a:solidFill>
                  <a:srgbClr val="000000"/>
                </a:solidFill>
                <a:latin typeface="Consolas" panose="020B0609020204030204" pitchFamily="49" charset="0"/>
              </a:rPr>
              <a:t>AlexNet</a:t>
            </a:r>
            <a:r>
              <a:rPr lang="ja-JP" altLang="en-US" sz="2000" dirty="0">
                <a:solidFill>
                  <a:srgbClr val="000000"/>
                </a:solidFill>
                <a:latin typeface="Consolas" panose="020B0609020204030204" pitchFamily="49" charset="0"/>
              </a:rPr>
              <a:t>が従来手法を</a:t>
            </a:r>
            <a:r>
              <a:rPr lang="en-US" altLang="ja-JP" sz="2000" dirty="0">
                <a:solidFill>
                  <a:srgbClr val="000000"/>
                </a:solidFill>
                <a:latin typeface="Consolas" panose="020B0609020204030204" pitchFamily="49" charset="0"/>
              </a:rPr>
              <a:t>10%</a:t>
            </a:r>
            <a:r>
              <a:rPr lang="ja-JP" altLang="en-US" sz="2000" dirty="0">
                <a:solidFill>
                  <a:srgbClr val="000000"/>
                </a:solidFill>
                <a:latin typeface="Consolas" panose="020B0609020204030204" pitchFamily="49" charset="0"/>
              </a:rPr>
              <a:t>以上上回るスコアで劇的勝利</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2013</a:t>
            </a:r>
            <a:r>
              <a:rPr lang="ja-JP" altLang="en-US" sz="2000" dirty="0">
                <a:solidFill>
                  <a:srgbClr val="000000"/>
                </a:solidFill>
                <a:latin typeface="Consolas" panose="020B0609020204030204" pitchFamily="49" charset="0"/>
              </a:rPr>
              <a:t>年は</a:t>
            </a:r>
            <a:r>
              <a:rPr lang="en-US" altLang="ja-JP" sz="2000" dirty="0" err="1">
                <a:solidFill>
                  <a:srgbClr val="000000"/>
                </a:solidFill>
                <a:latin typeface="Consolas" panose="020B0609020204030204" pitchFamily="49" charset="0"/>
              </a:rPr>
              <a:t>AlexNet</a:t>
            </a:r>
            <a:r>
              <a:rPr lang="ja-JP" altLang="en-US" sz="2000" dirty="0">
                <a:solidFill>
                  <a:srgbClr val="000000"/>
                </a:solidFill>
                <a:latin typeface="Consolas" panose="020B0609020204030204" pitchFamily="49" charset="0"/>
              </a:rPr>
              <a:t>の構造を可視化し精度の大幅改善を行った</a:t>
            </a:r>
            <a:r>
              <a:rPr lang="en-US" altLang="ja-JP" sz="2000" b="1" dirty="0" err="1">
                <a:solidFill>
                  <a:srgbClr val="000000"/>
                </a:solidFill>
                <a:latin typeface="Consolas" panose="020B0609020204030204" pitchFamily="49" charset="0"/>
              </a:rPr>
              <a:t>ZFNet</a:t>
            </a:r>
            <a:r>
              <a:rPr lang="ja-JP" altLang="en-US" sz="2000" dirty="0">
                <a:solidFill>
                  <a:srgbClr val="000000"/>
                </a:solidFill>
                <a:latin typeface="Consolas" panose="020B0609020204030204" pitchFamily="49" charset="0"/>
              </a:rPr>
              <a:t>が優勝</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2014</a:t>
            </a:r>
            <a:r>
              <a:rPr lang="ja-JP" altLang="en-US" sz="2000" dirty="0">
                <a:solidFill>
                  <a:srgbClr val="000000"/>
                </a:solidFill>
                <a:latin typeface="Consolas" panose="020B0609020204030204" pitchFamily="49" charset="0"/>
              </a:rPr>
              <a:t>年は</a:t>
            </a:r>
            <a:r>
              <a:rPr lang="en-US" altLang="ja-JP" sz="2000" dirty="0" err="1">
                <a:solidFill>
                  <a:srgbClr val="000000"/>
                </a:solidFill>
                <a:latin typeface="Consolas" panose="020B0609020204030204" pitchFamily="49" charset="0"/>
              </a:rPr>
              <a:t>GoogLeNet</a:t>
            </a:r>
            <a:r>
              <a:rPr lang="en-US" altLang="ja-JP" sz="2000" dirty="0">
                <a:solidFill>
                  <a:srgbClr val="000000"/>
                </a:solidFill>
                <a:latin typeface="Consolas" panose="020B0609020204030204" pitchFamily="49" charset="0"/>
              </a:rPr>
              <a:t>/Inception(</a:t>
            </a:r>
            <a:r>
              <a:rPr lang="ja-JP" altLang="en-US" sz="2000" dirty="0">
                <a:solidFill>
                  <a:srgbClr val="000000"/>
                </a:solidFill>
                <a:latin typeface="Consolas" panose="020B0609020204030204" pitchFamily="49" charset="0"/>
              </a:rPr>
              <a:t>並列フィルタ新登場</a:t>
            </a:r>
            <a:r>
              <a:rPr lang="en-US" altLang="ja-JP" sz="2000" dirty="0">
                <a:solidFill>
                  <a:srgbClr val="000000"/>
                </a:solidFill>
                <a:latin typeface="Consolas" panose="020B0609020204030204" pitchFamily="49" charset="0"/>
              </a:rPr>
              <a:t>)</a:t>
            </a:r>
            <a:r>
              <a:rPr lang="ja-JP" altLang="en-US" sz="2000" dirty="0">
                <a:solidFill>
                  <a:srgbClr val="000000"/>
                </a:solidFill>
                <a:latin typeface="Consolas" panose="020B0609020204030204" pitchFamily="49" charset="0"/>
              </a:rPr>
              <a:t>が出て、</a:t>
            </a:r>
            <a:r>
              <a:rPr lang="en-US" altLang="ja-JP" sz="2000" b="1" dirty="0">
                <a:solidFill>
                  <a:srgbClr val="000000"/>
                </a:solidFill>
                <a:latin typeface="Consolas" panose="020B0609020204030204" pitchFamily="49" charset="0"/>
              </a:rPr>
              <a:t>VGG</a:t>
            </a:r>
            <a:r>
              <a:rPr lang="ja-JP" altLang="en-US" sz="2000" dirty="0">
                <a:solidFill>
                  <a:srgbClr val="000000"/>
                </a:solidFill>
                <a:latin typeface="Consolas" panose="020B0609020204030204" pitchFamily="49" charset="0"/>
              </a:rPr>
              <a:t>が優勝</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2015</a:t>
            </a:r>
            <a:r>
              <a:rPr lang="ja-JP" altLang="en-US" sz="2000" dirty="0">
                <a:solidFill>
                  <a:srgbClr val="000000"/>
                </a:solidFill>
                <a:latin typeface="Consolas" panose="020B0609020204030204" pitchFamily="49" charset="0"/>
              </a:rPr>
              <a:t>年に</a:t>
            </a:r>
            <a:r>
              <a:rPr lang="ja-JP" altLang="en-US" sz="2000" b="1" dirty="0">
                <a:solidFill>
                  <a:srgbClr val="000000"/>
                </a:solidFill>
                <a:latin typeface="Consolas" panose="020B0609020204030204" pitchFamily="49" charset="0"/>
              </a:rPr>
              <a:t>スキップ結合</a:t>
            </a:r>
            <a:r>
              <a:rPr lang="ja-JP" altLang="en-US" sz="2000" dirty="0">
                <a:solidFill>
                  <a:srgbClr val="000000"/>
                </a:solidFill>
                <a:latin typeface="Consolas" panose="020B0609020204030204" pitchFamily="49" charset="0"/>
              </a:rPr>
              <a:t>による</a:t>
            </a:r>
            <a:r>
              <a:rPr lang="ja-JP" altLang="en-US" sz="2000" b="1" dirty="0">
                <a:solidFill>
                  <a:srgbClr val="000000"/>
                </a:solidFill>
                <a:latin typeface="Consolas" panose="020B0609020204030204" pitchFamily="49" charset="0"/>
              </a:rPr>
              <a:t>残差ネットワーク</a:t>
            </a:r>
            <a:r>
              <a:rPr lang="en-US" altLang="ja-JP" sz="2000" dirty="0">
                <a:solidFill>
                  <a:srgbClr val="000000"/>
                </a:solidFill>
                <a:latin typeface="Consolas" panose="020B0609020204030204" pitchFamily="49" charset="0"/>
              </a:rPr>
              <a:t>(</a:t>
            </a:r>
            <a:r>
              <a:rPr lang="ja-JP" altLang="en-US" sz="2000" dirty="0">
                <a:solidFill>
                  <a:srgbClr val="000000"/>
                </a:solidFill>
                <a:latin typeface="Consolas" panose="020B0609020204030204" pitchFamily="49" charset="0"/>
              </a:rPr>
              <a:t>これはこれで革命的</a:t>
            </a:r>
            <a:r>
              <a:rPr lang="en-US" altLang="ja-JP" sz="2000" dirty="0">
                <a:solidFill>
                  <a:srgbClr val="000000"/>
                </a:solidFill>
                <a:latin typeface="Consolas" panose="020B0609020204030204" pitchFamily="49" charset="0"/>
              </a:rPr>
              <a:t>)</a:t>
            </a:r>
            <a:r>
              <a:rPr lang="ja-JP" altLang="en-US" sz="2000" dirty="0">
                <a:solidFill>
                  <a:srgbClr val="000000"/>
                </a:solidFill>
                <a:latin typeface="Consolas" panose="020B0609020204030204" pitchFamily="49" charset="0"/>
              </a:rPr>
              <a:t>を搭載した</a:t>
            </a:r>
            <a:r>
              <a:rPr lang="en-US" altLang="ja-JP" sz="2000" b="1" dirty="0" err="1">
                <a:solidFill>
                  <a:srgbClr val="000000"/>
                </a:solidFill>
                <a:latin typeface="Consolas" panose="020B0609020204030204" pitchFamily="49" charset="0"/>
              </a:rPr>
              <a:t>ResNet</a:t>
            </a:r>
            <a:r>
              <a:rPr lang="ja-JP" altLang="en-US" sz="2000" dirty="0">
                <a:solidFill>
                  <a:srgbClr val="000000"/>
                </a:solidFill>
                <a:latin typeface="Consolas" panose="020B0609020204030204" pitchFamily="49" charset="0"/>
              </a:rPr>
              <a:t>が優勝、とうとう人間を超える精度をたたき出す</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2016</a:t>
            </a:r>
            <a:r>
              <a:rPr lang="ja-JP" altLang="en-US" sz="2000" dirty="0">
                <a:solidFill>
                  <a:srgbClr val="000000"/>
                </a:solidFill>
                <a:latin typeface="Consolas" panose="020B0609020204030204" pitchFamily="49" charset="0"/>
              </a:rPr>
              <a:t>年は香港中文大学の</a:t>
            </a:r>
            <a:r>
              <a:rPr lang="en-US" altLang="ja-JP" sz="2000" dirty="0">
                <a:solidFill>
                  <a:srgbClr val="000000"/>
                </a:solidFill>
                <a:latin typeface="Consolas" panose="020B0609020204030204" pitchFamily="49" charset="0"/>
              </a:rPr>
              <a:t>GBD-Net</a:t>
            </a:r>
            <a:r>
              <a:rPr lang="ja-JP" altLang="en-US" sz="2000" dirty="0">
                <a:solidFill>
                  <a:srgbClr val="000000"/>
                </a:solidFill>
                <a:latin typeface="Consolas" panose="020B0609020204030204" pitchFamily="49" charset="0"/>
              </a:rPr>
              <a:t>が優勝</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2017</a:t>
            </a:r>
            <a:r>
              <a:rPr lang="ja-JP" altLang="en-US" sz="2000" dirty="0">
                <a:solidFill>
                  <a:srgbClr val="000000"/>
                </a:solidFill>
                <a:latin typeface="Consolas" panose="020B0609020204030204" pitchFamily="49" charset="0"/>
              </a:rPr>
              <a:t>年は中国科学アカデミーの</a:t>
            </a:r>
            <a:r>
              <a:rPr lang="en-US" altLang="ja-JP" sz="2000" dirty="0" err="1">
                <a:solidFill>
                  <a:srgbClr val="000000"/>
                </a:solidFill>
                <a:latin typeface="Consolas" panose="020B0609020204030204" pitchFamily="49" charset="0"/>
              </a:rPr>
              <a:t>SENet</a:t>
            </a:r>
            <a:r>
              <a:rPr lang="ja-JP" altLang="en-US" sz="2000" dirty="0">
                <a:solidFill>
                  <a:srgbClr val="000000"/>
                </a:solidFill>
                <a:latin typeface="Consolas" panose="020B0609020204030204" pitchFamily="49" charset="0"/>
              </a:rPr>
              <a:t>が優勝</a:t>
            </a:r>
            <a:endParaRPr lang="en-US" altLang="ja-JP" sz="2000" dirty="0">
              <a:solidFill>
                <a:srgbClr val="000000"/>
              </a:solidFill>
              <a:latin typeface="Consolas" panose="020B0609020204030204" pitchFamily="49" charset="0"/>
            </a:endParaRPr>
          </a:p>
          <a:p>
            <a:pPr marL="0" indent="0">
              <a:buNone/>
            </a:pPr>
            <a:r>
              <a:rPr lang="ja-JP" altLang="en-US" sz="2000" dirty="0">
                <a:solidFill>
                  <a:srgbClr val="000000"/>
                </a:solidFill>
                <a:latin typeface="Consolas" panose="020B0609020204030204" pitchFamily="49" charset="0"/>
              </a:rPr>
              <a:t>「</a:t>
            </a:r>
            <a:r>
              <a:rPr lang="en-US" altLang="ja-JP" sz="2000" dirty="0">
                <a:solidFill>
                  <a:srgbClr val="000000"/>
                </a:solidFill>
                <a:latin typeface="Consolas" panose="020B0609020204030204" pitchFamily="49" charset="0"/>
              </a:rPr>
              <a:t>ImageNet</a:t>
            </a:r>
            <a:r>
              <a:rPr lang="ja-JP" altLang="en-US" sz="2000" dirty="0">
                <a:solidFill>
                  <a:srgbClr val="000000"/>
                </a:solidFill>
                <a:latin typeface="Consolas" panose="020B0609020204030204" pitchFamily="49" charset="0"/>
              </a:rPr>
              <a:t>の大量の画像を認識する」という課題についてはほぼ頭打ちになり、大会は</a:t>
            </a:r>
            <a:r>
              <a:rPr lang="en-US" altLang="ja-JP" sz="2000" dirty="0">
                <a:solidFill>
                  <a:srgbClr val="000000"/>
                </a:solidFill>
                <a:latin typeface="Consolas" panose="020B0609020204030204" pitchFamily="49" charset="0"/>
              </a:rPr>
              <a:t>2017</a:t>
            </a:r>
            <a:r>
              <a:rPr lang="ja-JP" altLang="en-US" sz="2000" dirty="0">
                <a:solidFill>
                  <a:srgbClr val="000000"/>
                </a:solidFill>
                <a:latin typeface="Consolas" panose="020B0609020204030204" pitchFamily="49" charset="0"/>
              </a:rPr>
              <a:t>年で終了した</a:t>
            </a:r>
            <a:endParaRPr lang="en-US" altLang="ja-JP" sz="2000"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3</a:t>
            </a:fld>
            <a:endParaRPr kumimoji="1" lang="ja-JP" altLang="en-US"/>
          </a:p>
        </p:txBody>
      </p:sp>
    </p:spTree>
    <p:extLst>
      <p:ext uri="{BB962C8B-B14F-4D97-AF65-F5344CB8AC3E}">
        <p14:creationId xmlns:p14="http://schemas.microsoft.com/office/powerpoint/2010/main" val="1002848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画像処理と機械学習の簡単な歴史③</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199" y="1324304"/>
            <a:ext cx="10676467" cy="5168570"/>
          </a:xfrm>
        </p:spPr>
        <p:txBody>
          <a:bodyPr>
            <a:normAutofit/>
          </a:bodyPr>
          <a:lstStyle/>
          <a:p>
            <a:r>
              <a:rPr lang="en-US" altLang="ja-JP" dirty="0">
                <a:solidFill>
                  <a:srgbClr val="000000"/>
                </a:solidFill>
                <a:latin typeface="Consolas" panose="020B0609020204030204" pitchFamily="49" charset="0"/>
              </a:rPr>
              <a:t>2017</a:t>
            </a:r>
            <a:r>
              <a:rPr lang="ja-JP" altLang="en-US" dirty="0">
                <a:solidFill>
                  <a:srgbClr val="000000"/>
                </a:solidFill>
                <a:latin typeface="Consolas" panose="020B0609020204030204" pitchFamily="49" charset="0"/>
              </a:rPr>
              <a:t>～</a:t>
            </a:r>
            <a:r>
              <a:rPr lang="en-US" altLang="ja-JP" dirty="0">
                <a:solidFill>
                  <a:srgbClr val="000000"/>
                </a:solidFill>
                <a:latin typeface="Consolas" panose="020B0609020204030204" pitchFamily="49" charset="0"/>
              </a:rPr>
              <a:t>2021</a:t>
            </a:r>
            <a:r>
              <a:rPr lang="ja-JP" altLang="en-US" dirty="0">
                <a:solidFill>
                  <a:srgbClr val="000000"/>
                </a:solidFill>
                <a:latin typeface="Consolas" panose="020B0609020204030204" pitchFamily="49" charset="0"/>
              </a:rPr>
              <a:t>年　</a:t>
            </a:r>
            <a:r>
              <a:rPr lang="en-US" altLang="ja-JP" dirty="0">
                <a:solidFill>
                  <a:srgbClr val="000000"/>
                </a:solidFill>
                <a:latin typeface="Consolas" panose="020B0609020204030204" pitchFamily="49" charset="0"/>
              </a:rPr>
              <a:t>Transformer</a:t>
            </a:r>
            <a:r>
              <a:rPr lang="ja-JP" altLang="en-US" dirty="0">
                <a:solidFill>
                  <a:srgbClr val="000000"/>
                </a:solidFill>
                <a:latin typeface="Consolas" panose="020B0609020204030204" pitchFamily="49" charset="0"/>
              </a:rPr>
              <a:t>革命</a:t>
            </a:r>
            <a:endParaRPr lang="en-US" altLang="ja-JP"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RNN</a:t>
            </a:r>
            <a:r>
              <a:rPr lang="ja-JP" altLang="en-US" sz="2000" dirty="0">
                <a:solidFill>
                  <a:srgbClr val="000000"/>
                </a:solidFill>
                <a:latin typeface="Consolas" panose="020B0609020204030204" pitchFamily="49" charset="0"/>
              </a:rPr>
              <a:t>や</a:t>
            </a:r>
            <a:r>
              <a:rPr lang="en-US" altLang="ja-JP" sz="2000" dirty="0">
                <a:solidFill>
                  <a:srgbClr val="000000"/>
                </a:solidFill>
                <a:latin typeface="Consolas" panose="020B0609020204030204" pitchFamily="49" charset="0"/>
              </a:rPr>
              <a:t>CNN</a:t>
            </a:r>
            <a:r>
              <a:rPr lang="ja-JP" altLang="en-US" sz="2000" dirty="0">
                <a:solidFill>
                  <a:srgbClr val="000000"/>
                </a:solidFill>
                <a:latin typeface="Consolas" panose="020B0609020204030204" pitchFamily="49" charset="0"/>
              </a:rPr>
              <a:t>は人のニューラルネットワークを再現したものだが、人の脳の複雑さをコンピュータで再現するととてつもない複雑さ・不自由さが付きまとう。</a:t>
            </a:r>
            <a:r>
              <a:rPr lang="en-US" altLang="ja-JP" sz="2000" dirty="0">
                <a:solidFill>
                  <a:srgbClr val="000000"/>
                </a:solidFill>
                <a:latin typeface="Consolas" panose="020B0609020204030204" pitchFamily="49" charset="0"/>
              </a:rPr>
              <a:t>2014</a:t>
            </a:r>
            <a:r>
              <a:rPr lang="ja-JP" altLang="en-US" sz="2000" dirty="0">
                <a:solidFill>
                  <a:srgbClr val="000000"/>
                </a:solidFill>
                <a:latin typeface="Consolas" panose="020B0609020204030204" pitchFamily="49" charset="0"/>
              </a:rPr>
              <a:t>年に</a:t>
            </a:r>
            <a:r>
              <a:rPr lang="en-US" altLang="ja-JP" sz="2000" b="1" dirty="0">
                <a:solidFill>
                  <a:srgbClr val="000000"/>
                </a:solidFill>
                <a:latin typeface="Consolas" panose="020B0609020204030204" pitchFamily="49" charset="0"/>
              </a:rPr>
              <a:t>Attention</a:t>
            </a:r>
            <a:r>
              <a:rPr lang="ja-JP" altLang="en-US" sz="2000" dirty="0">
                <a:solidFill>
                  <a:srgbClr val="000000"/>
                </a:solidFill>
                <a:latin typeface="Consolas" panose="020B0609020204030204" pitchFamily="49" charset="0"/>
              </a:rPr>
              <a:t>（注意機構）に関する論文で「どこに注目するか」に重みづけをする考え方が生まれた</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ILSVRC</a:t>
            </a:r>
            <a:r>
              <a:rPr lang="ja-JP" altLang="en-US" sz="2000" dirty="0">
                <a:solidFill>
                  <a:srgbClr val="000000"/>
                </a:solidFill>
                <a:latin typeface="Consolas" panose="020B0609020204030204" pitchFamily="49" charset="0"/>
              </a:rPr>
              <a:t>の終了と同じ年に、</a:t>
            </a:r>
            <a:r>
              <a:rPr lang="en-US" altLang="ja-JP" sz="2000" dirty="0">
                <a:solidFill>
                  <a:srgbClr val="000000"/>
                </a:solidFill>
                <a:latin typeface="Consolas" panose="020B0609020204030204" pitchFamily="49" charset="0"/>
              </a:rPr>
              <a:t>Google</a:t>
            </a:r>
            <a:r>
              <a:rPr lang="ja-JP" altLang="en-US" sz="2000" dirty="0">
                <a:solidFill>
                  <a:srgbClr val="000000"/>
                </a:solidFill>
                <a:latin typeface="Consolas" panose="020B0609020204030204" pitchFamily="49" charset="0"/>
              </a:rPr>
              <a:t>研究チームから多分教科書に載るであろう論文「</a:t>
            </a:r>
            <a:r>
              <a:rPr lang="en-US" altLang="ja-JP" sz="2000" b="1" dirty="0">
                <a:solidFill>
                  <a:srgbClr val="000000"/>
                </a:solidFill>
                <a:latin typeface="Consolas" panose="020B0609020204030204" pitchFamily="49" charset="0"/>
              </a:rPr>
              <a:t>Attention Is All You Need</a:t>
            </a:r>
            <a:r>
              <a:rPr lang="ja-JP" altLang="en-US" sz="2000" dirty="0">
                <a:solidFill>
                  <a:srgbClr val="000000"/>
                </a:solidFill>
                <a:latin typeface="Consolas" panose="020B0609020204030204" pitchFamily="49" charset="0"/>
              </a:rPr>
              <a:t>」が発表され、</a:t>
            </a:r>
            <a:r>
              <a:rPr lang="en-US" altLang="ja-JP" sz="2000" b="1" dirty="0">
                <a:solidFill>
                  <a:srgbClr val="000000"/>
                </a:solidFill>
                <a:latin typeface="Consolas" panose="020B0609020204030204" pitchFamily="49" charset="0"/>
              </a:rPr>
              <a:t>Transformer</a:t>
            </a:r>
            <a:r>
              <a:rPr lang="ja-JP" altLang="en-US" sz="2000" dirty="0">
                <a:solidFill>
                  <a:srgbClr val="000000"/>
                </a:solidFill>
                <a:latin typeface="Consolas" panose="020B0609020204030204" pitchFamily="49" charset="0"/>
              </a:rPr>
              <a:t>という</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が登場。自然言語の翻訳をとんでもない精度で行い一躍話題になる</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2020</a:t>
            </a:r>
            <a:r>
              <a:rPr lang="ja-JP" altLang="en-US" sz="2000" dirty="0">
                <a:solidFill>
                  <a:srgbClr val="000000"/>
                </a:solidFill>
                <a:latin typeface="Consolas" panose="020B0609020204030204" pitchFamily="49" charset="0"/>
              </a:rPr>
              <a:t>年に</a:t>
            </a:r>
            <a:r>
              <a:rPr lang="en-US" altLang="ja-JP" sz="2000" dirty="0">
                <a:solidFill>
                  <a:srgbClr val="000000"/>
                </a:solidFill>
                <a:latin typeface="Consolas" panose="020B0609020204030204" pitchFamily="49" charset="0"/>
              </a:rPr>
              <a:t>Transformer</a:t>
            </a:r>
            <a:r>
              <a:rPr lang="ja-JP" altLang="en-US" sz="2000" dirty="0">
                <a:solidFill>
                  <a:srgbClr val="000000"/>
                </a:solidFill>
                <a:latin typeface="Consolas" panose="020B0609020204030204" pitchFamily="49" charset="0"/>
              </a:rPr>
              <a:t>を画像処理に組み込んだ</a:t>
            </a:r>
            <a:r>
              <a:rPr lang="en-US" altLang="ja-JP" sz="2000" dirty="0">
                <a:solidFill>
                  <a:srgbClr val="000000"/>
                </a:solidFill>
                <a:latin typeface="Consolas" panose="020B0609020204030204" pitchFamily="49" charset="0"/>
              </a:rPr>
              <a:t>Vision Transformer(VIT)</a:t>
            </a:r>
            <a:r>
              <a:rPr lang="ja-JP" altLang="en-US" sz="2000" dirty="0">
                <a:solidFill>
                  <a:srgbClr val="000000"/>
                </a:solidFill>
                <a:latin typeface="Consolas" panose="020B0609020204030204" pitchFamily="49" charset="0"/>
              </a:rPr>
              <a:t>が登場。</a:t>
            </a:r>
            <a:r>
              <a:rPr lang="en-US" altLang="ja-JP" sz="2000" dirty="0">
                <a:solidFill>
                  <a:srgbClr val="000000"/>
                </a:solidFill>
                <a:latin typeface="Consolas" panose="020B0609020204030204" pitchFamily="49" charset="0"/>
              </a:rPr>
              <a:t>VIT</a:t>
            </a:r>
            <a:r>
              <a:rPr lang="ja-JP" altLang="en-US" sz="2000" dirty="0">
                <a:solidFill>
                  <a:srgbClr val="000000"/>
                </a:solidFill>
                <a:latin typeface="Consolas" panose="020B0609020204030204" pitchFamily="49" charset="0"/>
              </a:rPr>
              <a:t>は</a:t>
            </a:r>
            <a:r>
              <a:rPr lang="en-US" altLang="ja-JP" sz="2000" dirty="0">
                <a:solidFill>
                  <a:srgbClr val="000000"/>
                </a:solidFill>
                <a:latin typeface="Consolas" panose="020B0609020204030204" pitchFamily="49" charset="0"/>
              </a:rPr>
              <a:t>CNN</a:t>
            </a:r>
            <a:r>
              <a:rPr lang="ja-JP" altLang="en-US" sz="2000" dirty="0">
                <a:solidFill>
                  <a:srgbClr val="000000"/>
                </a:solidFill>
                <a:latin typeface="Consolas" panose="020B0609020204030204" pitchFamily="49" charset="0"/>
              </a:rPr>
              <a:t>を一切使わず、学習データが多い場合に</a:t>
            </a:r>
            <a:r>
              <a:rPr lang="en-US" altLang="ja-JP" sz="2000" dirty="0">
                <a:solidFill>
                  <a:srgbClr val="000000"/>
                </a:solidFill>
                <a:latin typeface="Consolas" panose="020B0609020204030204" pitchFamily="49" charset="0"/>
              </a:rPr>
              <a:t>CNN</a:t>
            </a:r>
            <a:r>
              <a:rPr lang="ja-JP" altLang="en-US" sz="2000" dirty="0">
                <a:solidFill>
                  <a:srgbClr val="000000"/>
                </a:solidFill>
                <a:latin typeface="Consolas" panose="020B0609020204030204" pitchFamily="49" charset="0"/>
              </a:rPr>
              <a:t>を超える画像認識のスコアを出す</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2021</a:t>
            </a:r>
            <a:r>
              <a:rPr lang="ja-JP" altLang="en-US" sz="2000" dirty="0">
                <a:solidFill>
                  <a:srgbClr val="000000"/>
                </a:solidFill>
                <a:latin typeface="Consolas" panose="020B0609020204030204" pitchFamily="49" charset="0"/>
              </a:rPr>
              <a:t>年に</a:t>
            </a:r>
            <a:r>
              <a:rPr lang="en-US" altLang="ja-JP" sz="2000" dirty="0">
                <a:solidFill>
                  <a:srgbClr val="000000"/>
                </a:solidFill>
                <a:latin typeface="Consolas" panose="020B0609020204030204" pitchFamily="49" charset="0"/>
              </a:rPr>
              <a:t>OpenAI</a:t>
            </a:r>
            <a:r>
              <a:rPr lang="ja-JP" altLang="en-US" sz="2000" dirty="0">
                <a:solidFill>
                  <a:srgbClr val="000000"/>
                </a:solidFill>
                <a:latin typeface="Consolas" panose="020B0609020204030204" pitchFamily="49" charset="0"/>
              </a:rPr>
              <a:t>から</a:t>
            </a:r>
            <a:r>
              <a:rPr lang="en-US" altLang="ja-JP" sz="2000" b="1" dirty="0">
                <a:solidFill>
                  <a:srgbClr val="000000"/>
                </a:solidFill>
                <a:latin typeface="Consolas" panose="020B0609020204030204" pitchFamily="49" charset="0"/>
              </a:rPr>
              <a:t>CLIP</a:t>
            </a:r>
            <a:r>
              <a:rPr lang="ja-JP" altLang="en-US" sz="2000" dirty="0">
                <a:solidFill>
                  <a:srgbClr val="000000"/>
                </a:solidFill>
                <a:latin typeface="Consolas" panose="020B0609020204030204" pitchFamily="49" charset="0"/>
              </a:rPr>
              <a:t>が発表される。画像と言語を同時に学習し、インターネットでの画像検索の能力を飛躍的に向上させた</a:t>
            </a:r>
            <a:endParaRPr lang="en-US" altLang="ja-JP" sz="2000" dirty="0">
              <a:solidFill>
                <a:srgbClr val="000000"/>
              </a:solidFill>
              <a:latin typeface="Consolas" panose="020B0609020204030204" pitchFamily="49" charset="0"/>
            </a:endParaRPr>
          </a:p>
          <a:p>
            <a:pPr marL="0" indent="0">
              <a:buNone/>
            </a:pPr>
            <a:r>
              <a:rPr lang="ja-JP" altLang="en-US" sz="2000" dirty="0">
                <a:solidFill>
                  <a:srgbClr val="000000"/>
                </a:solidFill>
                <a:latin typeface="Consolas" panose="020B0609020204030204" pitchFamily="49" charset="0"/>
              </a:rPr>
              <a:t>特に</a:t>
            </a:r>
            <a:r>
              <a:rPr lang="en-US" altLang="ja-JP" sz="2000" dirty="0">
                <a:solidFill>
                  <a:srgbClr val="000000"/>
                </a:solidFill>
                <a:latin typeface="Consolas" panose="020B0609020204030204" pitchFamily="49" charset="0"/>
              </a:rPr>
              <a:t>CLIP</a:t>
            </a:r>
            <a:r>
              <a:rPr lang="ja-JP" altLang="en-US" sz="2000" dirty="0">
                <a:solidFill>
                  <a:srgbClr val="000000"/>
                </a:solidFill>
                <a:latin typeface="Consolas" panose="020B0609020204030204" pitchFamily="49" charset="0"/>
              </a:rPr>
              <a:t>で採用された</a:t>
            </a:r>
            <a:r>
              <a:rPr lang="ja-JP" altLang="en-US" sz="2000" b="1" dirty="0">
                <a:solidFill>
                  <a:srgbClr val="000000"/>
                </a:solidFill>
                <a:latin typeface="Consolas" panose="020B0609020204030204" pitchFamily="49" charset="0"/>
              </a:rPr>
              <a:t>ゼロショット</a:t>
            </a:r>
            <a:r>
              <a:rPr lang="ja-JP" altLang="en-US" sz="2000" dirty="0">
                <a:solidFill>
                  <a:srgbClr val="000000"/>
                </a:solidFill>
                <a:latin typeface="Consolas" panose="020B0609020204030204" pitchFamily="49" charset="0"/>
              </a:rPr>
              <a:t>（すでに</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が持っている知識を活用して、初めていわれた指示をこなす）は、のちの画像認識の分野にも大きな影響を与える</a:t>
            </a:r>
            <a:endParaRPr lang="en-US" altLang="ja-JP" sz="2000"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4</a:t>
            </a:fld>
            <a:endParaRPr kumimoji="1" lang="ja-JP" altLang="en-US"/>
          </a:p>
        </p:txBody>
      </p:sp>
    </p:spTree>
    <p:extLst>
      <p:ext uri="{BB962C8B-B14F-4D97-AF65-F5344CB8AC3E}">
        <p14:creationId xmlns:p14="http://schemas.microsoft.com/office/powerpoint/2010/main" val="513321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画像処理と機械学習のかんたんな歴史④</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199" y="1324304"/>
            <a:ext cx="10676467" cy="5168570"/>
          </a:xfrm>
        </p:spPr>
        <p:txBody>
          <a:bodyPr>
            <a:normAutofit/>
          </a:bodyPr>
          <a:lstStyle/>
          <a:p>
            <a:r>
              <a:rPr lang="en-US" altLang="ja-JP" dirty="0">
                <a:solidFill>
                  <a:srgbClr val="000000"/>
                </a:solidFill>
                <a:latin typeface="Consolas" panose="020B0609020204030204" pitchFamily="49" charset="0"/>
              </a:rPr>
              <a:t>2021</a:t>
            </a:r>
            <a:r>
              <a:rPr lang="ja-JP" altLang="en-US" dirty="0">
                <a:solidFill>
                  <a:srgbClr val="000000"/>
                </a:solidFill>
                <a:latin typeface="Consolas" panose="020B0609020204030204" pitchFamily="49" charset="0"/>
              </a:rPr>
              <a:t>年～　生成</a:t>
            </a:r>
            <a:r>
              <a:rPr lang="en-US" altLang="ja-JP" dirty="0">
                <a:solidFill>
                  <a:srgbClr val="000000"/>
                </a:solidFill>
                <a:latin typeface="Consolas" panose="020B0609020204030204" pitchFamily="49" charset="0"/>
              </a:rPr>
              <a:t>AI</a:t>
            </a:r>
            <a:r>
              <a:rPr lang="ja-JP" altLang="en-US" dirty="0">
                <a:solidFill>
                  <a:srgbClr val="000000"/>
                </a:solidFill>
                <a:latin typeface="Consolas" panose="020B0609020204030204" pitchFamily="49" charset="0"/>
              </a:rPr>
              <a:t>革命</a:t>
            </a:r>
          </a:p>
          <a:p>
            <a:pPr marL="0" indent="0">
              <a:buNone/>
            </a:pPr>
            <a:r>
              <a:rPr lang="en-US" altLang="ja-JP" sz="2000" dirty="0">
                <a:solidFill>
                  <a:srgbClr val="000000"/>
                </a:solidFill>
                <a:latin typeface="Consolas" panose="020B0609020204030204" pitchFamily="49" charset="0"/>
              </a:rPr>
              <a:t>2020</a:t>
            </a:r>
            <a:r>
              <a:rPr lang="ja-JP" altLang="en-US" sz="2000" dirty="0">
                <a:solidFill>
                  <a:srgbClr val="000000"/>
                </a:solidFill>
                <a:latin typeface="Consolas" panose="020B0609020204030204" pitchFamily="49" charset="0"/>
              </a:rPr>
              <a:t>年に</a:t>
            </a:r>
            <a:r>
              <a:rPr lang="en-US" altLang="ja-JP" sz="2000" dirty="0">
                <a:solidFill>
                  <a:srgbClr val="000000"/>
                </a:solidFill>
                <a:latin typeface="Consolas" panose="020B0609020204030204" pitchFamily="49" charset="0"/>
              </a:rPr>
              <a:t>OpenAI</a:t>
            </a:r>
            <a:r>
              <a:rPr lang="ja-JP" altLang="en-US" sz="2000" dirty="0">
                <a:solidFill>
                  <a:srgbClr val="000000"/>
                </a:solidFill>
                <a:latin typeface="Consolas" panose="020B0609020204030204" pitchFamily="49" charset="0"/>
              </a:rPr>
              <a:t>は</a:t>
            </a:r>
            <a:r>
              <a:rPr lang="en-US" altLang="ja-JP" sz="2000" dirty="0">
                <a:solidFill>
                  <a:srgbClr val="000000"/>
                </a:solidFill>
                <a:latin typeface="Consolas" panose="020B0609020204030204" pitchFamily="49" charset="0"/>
              </a:rPr>
              <a:t>Transformer</a:t>
            </a:r>
            <a:r>
              <a:rPr lang="ja-JP" altLang="en-US" sz="2000" dirty="0">
                <a:solidFill>
                  <a:srgbClr val="000000"/>
                </a:solidFill>
                <a:latin typeface="Consolas" panose="020B0609020204030204" pitchFamily="49" charset="0"/>
              </a:rPr>
              <a:t>と</a:t>
            </a:r>
            <a:r>
              <a:rPr lang="en-US" altLang="ja-JP" sz="2000" dirty="0">
                <a:solidFill>
                  <a:srgbClr val="000000"/>
                </a:solidFill>
                <a:latin typeface="Consolas" panose="020B0609020204030204" pitchFamily="49" charset="0"/>
              </a:rPr>
              <a:t>LLM(</a:t>
            </a:r>
            <a:r>
              <a:rPr lang="ja-JP" altLang="en-US" sz="2000" dirty="0">
                <a:solidFill>
                  <a:srgbClr val="000000"/>
                </a:solidFill>
                <a:latin typeface="Consolas" panose="020B0609020204030204" pitchFamily="49" charset="0"/>
              </a:rPr>
              <a:t>大規模言語モデル</a:t>
            </a:r>
            <a:r>
              <a:rPr lang="en-US" altLang="ja-JP" sz="2000" dirty="0">
                <a:solidFill>
                  <a:srgbClr val="000000"/>
                </a:solidFill>
                <a:latin typeface="Consolas" panose="020B0609020204030204" pitchFamily="49" charset="0"/>
              </a:rPr>
              <a:t>)</a:t>
            </a:r>
            <a:r>
              <a:rPr lang="ja-JP" altLang="en-US" sz="2000" dirty="0">
                <a:solidFill>
                  <a:srgbClr val="000000"/>
                </a:solidFill>
                <a:latin typeface="Consolas" panose="020B0609020204030204" pitchFamily="49" charset="0"/>
              </a:rPr>
              <a:t>を採用した</a:t>
            </a:r>
            <a:r>
              <a:rPr lang="en-US" altLang="ja-JP" sz="2000" dirty="0">
                <a:solidFill>
                  <a:srgbClr val="000000"/>
                </a:solidFill>
                <a:latin typeface="Consolas" panose="020B0609020204030204" pitchFamily="49" charset="0"/>
              </a:rPr>
              <a:t>GPT-3</a:t>
            </a:r>
            <a:r>
              <a:rPr lang="ja-JP" altLang="en-US" sz="2000" dirty="0">
                <a:solidFill>
                  <a:srgbClr val="000000"/>
                </a:solidFill>
                <a:latin typeface="Consolas" panose="020B0609020204030204" pitchFamily="49" charset="0"/>
              </a:rPr>
              <a:t>を開発。アメリカの</a:t>
            </a:r>
            <a:r>
              <a:rPr lang="en-US" altLang="ja-JP" sz="2000" dirty="0">
                <a:solidFill>
                  <a:srgbClr val="000000"/>
                </a:solidFill>
                <a:latin typeface="Consolas" panose="020B0609020204030204" pitchFamily="49" charset="0"/>
              </a:rPr>
              <a:t>Reddit</a:t>
            </a:r>
            <a:r>
              <a:rPr lang="ja-JP" altLang="en-US" sz="2000" dirty="0">
                <a:solidFill>
                  <a:srgbClr val="000000"/>
                </a:solidFill>
                <a:latin typeface="Consolas" panose="020B0609020204030204" pitchFamily="49" charset="0"/>
              </a:rPr>
              <a:t>という掲示板サイトで</a:t>
            </a:r>
            <a:r>
              <a:rPr lang="en-US" altLang="ja-JP" sz="2000" dirty="0">
                <a:solidFill>
                  <a:srgbClr val="000000"/>
                </a:solidFill>
                <a:latin typeface="Consolas" panose="020B0609020204030204" pitchFamily="49" charset="0"/>
              </a:rPr>
              <a:t>1</a:t>
            </a:r>
            <a:r>
              <a:rPr lang="ja-JP" altLang="en-US" sz="2000" dirty="0">
                <a:solidFill>
                  <a:srgbClr val="000000"/>
                </a:solidFill>
                <a:latin typeface="Consolas" panose="020B0609020204030204" pitchFamily="49" charset="0"/>
              </a:rPr>
              <a:t>週間誰にも気づかれずに人間と対話していた。（投稿数・速度が異常という理由で気づかれた）</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2022</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11</a:t>
            </a:r>
            <a:r>
              <a:rPr lang="ja-JP" altLang="en-US" sz="2000" dirty="0">
                <a:solidFill>
                  <a:srgbClr val="000000"/>
                </a:solidFill>
                <a:latin typeface="Consolas" panose="020B0609020204030204" pitchFamily="49" charset="0"/>
              </a:rPr>
              <a:t>月</a:t>
            </a:r>
            <a:r>
              <a:rPr lang="en-US" altLang="ja-JP" sz="2000" dirty="0">
                <a:solidFill>
                  <a:srgbClr val="000000"/>
                </a:solidFill>
                <a:latin typeface="Consolas" panose="020B0609020204030204" pitchFamily="49" charset="0"/>
              </a:rPr>
              <a:t>30</a:t>
            </a:r>
            <a:r>
              <a:rPr lang="ja-JP" altLang="en-US" sz="2000" dirty="0">
                <a:solidFill>
                  <a:srgbClr val="000000"/>
                </a:solidFill>
                <a:latin typeface="Consolas" panose="020B0609020204030204" pitchFamily="49" charset="0"/>
              </a:rPr>
              <a:t>日、</a:t>
            </a:r>
            <a:r>
              <a:rPr lang="en-US" altLang="ja-JP" sz="2000" dirty="0">
                <a:solidFill>
                  <a:srgbClr val="000000"/>
                </a:solidFill>
                <a:latin typeface="Consolas" panose="020B0609020204030204" pitchFamily="49" charset="0"/>
              </a:rPr>
              <a:t>OpenAI</a:t>
            </a:r>
            <a:r>
              <a:rPr lang="ja-JP" altLang="en-US" sz="2000" dirty="0">
                <a:solidFill>
                  <a:srgbClr val="000000"/>
                </a:solidFill>
                <a:latin typeface="Consolas" panose="020B0609020204030204" pitchFamily="49" charset="0"/>
              </a:rPr>
              <a:t>より、初期の</a:t>
            </a:r>
            <a:r>
              <a:rPr lang="en-US" altLang="ja-JP" sz="2000" dirty="0">
                <a:solidFill>
                  <a:srgbClr val="000000"/>
                </a:solidFill>
                <a:latin typeface="Consolas" panose="020B0609020204030204" pitchFamily="49" charset="0"/>
              </a:rPr>
              <a:t>GPT-3</a:t>
            </a:r>
            <a:r>
              <a:rPr lang="ja-JP" altLang="en-US" sz="2000" dirty="0">
                <a:solidFill>
                  <a:srgbClr val="000000"/>
                </a:solidFill>
                <a:latin typeface="Consolas" panose="020B0609020204030204" pitchFamily="49" charset="0"/>
              </a:rPr>
              <a:t>からマイナーアップデートを遂げた</a:t>
            </a:r>
            <a:r>
              <a:rPr lang="en-US" altLang="ja-JP" sz="2000" dirty="0">
                <a:solidFill>
                  <a:srgbClr val="000000"/>
                </a:solidFill>
                <a:latin typeface="Consolas" panose="020B0609020204030204" pitchFamily="49" charset="0"/>
              </a:rPr>
              <a:t>GPT-3.5</a:t>
            </a:r>
            <a:r>
              <a:rPr lang="ja-JP" altLang="en-US" sz="2000" dirty="0">
                <a:solidFill>
                  <a:srgbClr val="000000"/>
                </a:solidFill>
                <a:latin typeface="Consolas" panose="020B0609020204030204" pitchFamily="49" charset="0"/>
              </a:rPr>
              <a:t>を搭載した</a:t>
            </a:r>
            <a:r>
              <a:rPr lang="en-US" altLang="ja-JP" sz="2000" dirty="0">
                <a:solidFill>
                  <a:srgbClr val="000000"/>
                </a:solidFill>
                <a:latin typeface="Consolas" panose="020B0609020204030204" pitchFamily="49" charset="0"/>
              </a:rPr>
              <a:t>ChatGPT</a:t>
            </a:r>
            <a:r>
              <a:rPr lang="ja-JP" altLang="en-US" sz="2000" dirty="0">
                <a:solidFill>
                  <a:srgbClr val="000000"/>
                </a:solidFill>
                <a:latin typeface="Consolas" panose="020B0609020204030204" pitchFamily="49" charset="0"/>
              </a:rPr>
              <a:t>がリリースされた</a:t>
            </a:r>
            <a:endParaRPr lang="en-US" altLang="ja-JP" sz="2000" dirty="0">
              <a:solidFill>
                <a:srgbClr val="000000"/>
              </a:solidFill>
              <a:latin typeface="Consolas" panose="020B0609020204030204" pitchFamily="49" charset="0"/>
            </a:endParaRPr>
          </a:p>
          <a:p>
            <a:pPr marL="0" indent="0">
              <a:buNone/>
            </a:pPr>
            <a:r>
              <a:rPr lang="ja-JP" altLang="en-US" sz="2000" dirty="0">
                <a:solidFill>
                  <a:srgbClr val="000000"/>
                </a:solidFill>
                <a:latin typeface="Consolas" panose="020B0609020204030204" pitchFamily="49" charset="0"/>
              </a:rPr>
              <a:t>画像の分野では少しさかのぼり</a:t>
            </a:r>
            <a:r>
              <a:rPr lang="en-US" altLang="ja-JP" sz="2000" dirty="0">
                <a:solidFill>
                  <a:srgbClr val="000000"/>
                </a:solidFill>
                <a:latin typeface="Consolas" panose="020B0609020204030204" pitchFamily="49" charset="0"/>
              </a:rPr>
              <a:t>2022</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4</a:t>
            </a:r>
            <a:r>
              <a:rPr lang="ja-JP" altLang="en-US" sz="2000" dirty="0">
                <a:solidFill>
                  <a:srgbClr val="000000"/>
                </a:solidFill>
                <a:latin typeface="Consolas" panose="020B0609020204030204" pitchFamily="49" charset="0"/>
              </a:rPr>
              <a:t>月に</a:t>
            </a:r>
            <a:r>
              <a:rPr lang="en-US" altLang="ja-JP" sz="2000" dirty="0">
                <a:solidFill>
                  <a:srgbClr val="000000"/>
                </a:solidFill>
                <a:latin typeface="Consolas" panose="020B0609020204030204" pitchFamily="49" charset="0"/>
              </a:rPr>
              <a:t>DALL-E(OpenAI)</a:t>
            </a:r>
            <a:r>
              <a:rPr lang="ja-JP" altLang="en-US" sz="2000" dirty="0">
                <a:solidFill>
                  <a:srgbClr val="000000"/>
                </a:solidFill>
                <a:latin typeface="Consolas" panose="020B0609020204030204" pitchFamily="49" charset="0"/>
              </a:rPr>
              <a:t>が、</a:t>
            </a:r>
            <a:r>
              <a:rPr lang="en-US" altLang="ja-JP" sz="2000" dirty="0">
                <a:solidFill>
                  <a:srgbClr val="000000"/>
                </a:solidFill>
                <a:latin typeface="Consolas" panose="020B0609020204030204" pitchFamily="49" charset="0"/>
              </a:rPr>
              <a:t>2022</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7</a:t>
            </a:r>
            <a:r>
              <a:rPr lang="ja-JP" altLang="en-US" sz="2000" dirty="0">
                <a:solidFill>
                  <a:srgbClr val="000000"/>
                </a:solidFill>
                <a:latin typeface="Consolas" panose="020B0609020204030204" pitchFamily="49" charset="0"/>
              </a:rPr>
              <a:t>月に</a:t>
            </a:r>
            <a:r>
              <a:rPr lang="en-US" altLang="ja-JP" sz="2000" dirty="0">
                <a:solidFill>
                  <a:srgbClr val="000000"/>
                </a:solidFill>
                <a:latin typeface="Consolas" panose="020B0609020204030204" pitchFamily="49" charset="0"/>
              </a:rPr>
              <a:t>Midjourney</a:t>
            </a:r>
            <a:r>
              <a:rPr lang="ja-JP" altLang="en-US" sz="2000" dirty="0">
                <a:solidFill>
                  <a:srgbClr val="000000"/>
                </a:solidFill>
                <a:latin typeface="Consolas" panose="020B0609020204030204" pitchFamily="49" charset="0"/>
              </a:rPr>
              <a:t>のオープンベータ版が公開された。現在の画像生成</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の源流。この時に絵画コンテストで</a:t>
            </a:r>
            <a:r>
              <a:rPr lang="en-US" altLang="ja-JP" sz="2000" dirty="0">
                <a:solidFill>
                  <a:srgbClr val="000000"/>
                </a:solidFill>
                <a:latin typeface="Consolas" panose="020B0609020204030204" pitchFamily="49" charset="0"/>
              </a:rPr>
              <a:t>Midjourney</a:t>
            </a:r>
            <a:r>
              <a:rPr lang="ja-JP" altLang="en-US" sz="2000" dirty="0">
                <a:solidFill>
                  <a:srgbClr val="000000"/>
                </a:solidFill>
                <a:latin typeface="Consolas" panose="020B0609020204030204" pitchFamily="49" charset="0"/>
              </a:rPr>
              <a:t>で生成＋人の手で若干修正した絵が優勝して話題となる</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2022</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8</a:t>
            </a:r>
            <a:r>
              <a:rPr lang="ja-JP" altLang="en-US" sz="2000" dirty="0">
                <a:solidFill>
                  <a:srgbClr val="000000"/>
                </a:solidFill>
                <a:latin typeface="Consolas" panose="020B0609020204030204" pitchFamily="49" charset="0"/>
              </a:rPr>
              <a:t>月、拡散モデル</a:t>
            </a:r>
            <a:r>
              <a:rPr lang="en-US" altLang="ja-JP" sz="2000" dirty="0">
                <a:solidFill>
                  <a:srgbClr val="000000"/>
                </a:solidFill>
                <a:latin typeface="Consolas" panose="020B0609020204030204" pitchFamily="49" charset="0"/>
              </a:rPr>
              <a:t>(Diffusion Models)</a:t>
            </a:r>
            <a:r>
              <a:rPr lang="ja-JP" altLang="en-US" sz="2000" dirty="0">
                <a:solidFill>
                  <a:srgbClr val="000000"/>
                </a:solidFill>
                <a:latin typeface="Consolas" panose="020B0609020204030204" pitchFamily="49" charset="0"/>
              </a:rPr>
              <a:t>が採用された</a:t>
            </a:r>
            <a:r>
              <a:rPr lang="en-US" altLang="ja-JP" sz="2000" dirty="0">
                <a:solidFill>
                  <a:srgbClr val="000000"/>
                </a:solidFill>
                <a:latin typeface="Consolas" panose="020B0609020204030204" pitchFamily="49" charset="0"/>
              </a:rPr>
              <a:t>Stable Diffusion</a:t>
            </a:r>
            <a:r>
              <a:rPr lang="ja-JP" altLang="en-US" sz="2000" dirty="0">
                <a:solidFill>
                  <a:srgbClr val="000000"/>
                </a:solidFill>
                <a:latin typeface="Consolas" panose="020B0609020204030204" pitchFamily="49" charset="0"/>
              </a:rPr>
              <a:t>がオープンソースとして公開される。拡散モデルでは画像にノイズを加えて完全にノイズだらけの画像になってから画像処理でノイズを取り除くという仕組みのモデル</a:t>
            </a:r>
            <a:endParaRPr lang="en-US" altLang="ja-JP" sz="2000"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5</a:t>
            </a:fld>
            <a:endParaRPr kumimoji="1" lang="ja-JP" altLang="en-US"/>
          </a:p>
        </p:txBody>
      </p:sp>
    </p:spTree>
    <p:extLst>
      <p:ext uri="{BB962C8B-B14F-4D97-AF65-F5344CB8AC3E}">
        <p14:creationId xmlns:p14="http://schemas.microsoft.com/office/powerpoint/2010/main" val="959714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画像処理と機械学習のかんたんな歴史⑤</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199" y="1324304"/>
            <a:ext cx="10676467" cy="5168570"/>
          </a:xfrm>
        </p:spPr>
        <p:txBody>
          <a:bodyPr>
            <a:normAutofit/>
          </a:bodyPr>
          <a:lstStyle/>
          <a:p>
            <a:r>
              <a:rPr lang="en-US" altLang="ja-JP" dirty="0">
                <a:solidFill>
                  <a:srgbClr val="000000"/>
                </a:solidFill>
                <a:latin typeface="Consolas" panose="020B0609020204030204" pitchFamily="49" charset="0"/>
              </a:rPr>
              <a:t>2023</a:t>
            </a:r>
            <a:r>
              <a:rPr lang="ja-JP" altLang="en-US" dirty="0">
                <a:solidFill>
                  <a:srgbClr val="000000"/>
                </a:solidFill>
                <a:latin typeface="Consolas" panose="020B0609020204030204" pitchFamily="49" charset="0"/>
              </a:rPr>
              <a:t>年～　</a:t>
            </a:r>
            <a:r>
              <a:rPr lang="en-US" altLang="ja-JP" dirty="0"/>
              <a:t>Foundation Vision Models(VFMs)</a:t>
            </a:r>
            <a:endParaRPr lang="ja-JP" altLang="en-US"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2021</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2</a:t>
            </a:r>
            <a:r>
              <a:rPr lang="ja-JP" altLang="en-US" sz="2000" dirty="0">
                <a:solidFill>
                  <a:srgbClr val="000000"/>
                </a:solidFill>
                <a:latin typeface="Consolas" panose="020B0609020204030204" pitchFamily="49" charset="0"/>
              </a:rPr>
              <a:t>月に発表された</a:t>
            </a:r>
            <a:r>
              <a:rPr lang="en-US" altLang="ja-JP" sz="2000" dirty="0">
                <a:solidFill>
                  <a:srgbClr val="000000"/>
                </a:solidFill>
                <a:latin typeface="Consolas" panose="020B0609020204030204" pitchFamily="49" charset="0"/>
              </a:rPr>
              <a:t>OpenAI</a:t>
            </a:r>
            <a:r>
              <a:rPr lang="ja-JP" altLang="en-US" sz="2000" dirty="0">
                <a:solidFill>
                  <a:srgbClr val="000000"/>
                </a:solidFill>
                <a:latin typeface="Consolas" panose="020B0609020204030204" pitchFamily="49" charset="0"/>
              </a:rPr>
              <a:t>の</a:t>
            </a:r>
            <a:r>
              <a:rPr lang="en-US" altLang="ja-JP" sz="2000" dirty="0">
                <a:solidFill>
                  <a:srgbClr val="000000"/>
                </a:solidFill>
                <a:latin typeface="Consolas" panose="020B0609020204030204" pitchFamily="49" charset="0"/>
              </a:rPr>
              <a:t>CLIP</a:t>
            </a:r>
            <a:r>
              <a:rPr lang="ja-JP" altLang="en-US" sz="2000" dirty="0">
                <a:solidFill>
                  <a:srgbClr val="000000"/>
                </a:solidFill>
                <a:latin typeface="Consolas" panose="020B0609020204030204" pitchFamily="49" charset="0"/>
              </a:rPr>
              <a:t>にあった、事前に学習して新しいタスクをこなすゼロショットを応用して</a:t>
            </a:r>
            <a:r>
              <a:rPr lang="ja-JP" altLang="en-US" sz="2000" b="1" dirty="0">
                <a:solidFill>
                  <a:srgbClr val="000000"/>
                </a:solidFill>
                <a:latin typeface="Consolas" panose="020B0609020204030204" pitchFamily="49" charset="0"/>
              </a:rPr>
              <a:t>ビジョン基板モデル（</a:t>
            </a:r>
            <a:r>
              <a:rPr lang="en-US" altLang="ja-JP" sz="2000" b="1" dirty="0">
                <a:solidFill>
                  <a:srgbClr val="000000"/>
                </a:solidFill>
                <a:latin typeface="Consolas" panose="020B0609020204030204" pitchFamily="49" charset="0"/>
              </a:rPr>
              <a:t>VFM</a:t>
            </a:r>
            <a:r>
              <a:rPr lang="ja-JP" altLang="en-US" sz="2000" b="1" dirty="0">
                <a:solidFill>
                  <a:srgbClr val="000000"/>
                </a:solidFill>
                <a:latin typeface="Consolas" panose="020B0609020204030204" pitchFamily="49" charset="0"/>
              </a:rPr>
              <a:t>）</a:t>
            </a:r>
            <a:r>
              <a:rPr lang="ja-JP" altLang="en-US" sz="2000" dirty="0">
                <a:solidFill>
                  <a:srgbClr val="000000"/>
                </a:solidFill>
                <a:latin typeface="Consolas" panose="020B0609020204030204" pitchFamily="49" charset="0"/>
              </a:rPr>
              <a:t>が登場</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VFM</a:t>
            </a:r>
            <a:r>
              <a:rPr lang="ja-JP" altLang="en-US" sz="2000" dirty="0">
                <a:solidFill>
                  <a:srgbClr val="000000"/>
                </a:solidFill>
                <a:latin typeface="Consolas" panose="020B0609020204030204" pitchFamily="49" charset="0"/>
              </a:rPr>
              <a:t>は簡単に言えば、事前に大量のデータを学習し、あらゆる新規の視覚タスクをこなす巨大モデル。</a:t>
            </a:r>
            <a:r>
              <a:rPr lang="en-US" altLang="ja-JP" sz="2000" dirty="0">
                <a:solidFill>
                  <a:srgbClr val="000000"/>
                </a:solidFill>
                <a:latin typeface="Consolas" panose="020B0609020204030204" pitchFamily="49" charset="0"/>
              </a:rPr>
              <a:t>1</a:t>
            </a:r>
            <a:r>
              <a:rPr lang="ja-JP" altLang="en-US" sz="2000" dirty="0">
                <a:solidFill>
                  <a:srgbClr val="000000"/>
                </a:solidFill>
                <a:latin typeface="Consolas" panose="020B0609020204030204" pitchFamily="49" charset="0"/>
              </a:rPr>
              <a:t>つのモデルで、画像の分類・物体検出・画像検索・画像生成などができる</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2023</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4</a:t>
            </a:r>
            <a:r>
              <a:rPr lang="ja-JP" altLang="en-US" sz="2000" dirty="0">
                <a:solidFill>
                  <a:srgbClr val="000000"/>
                </a:solidFill>
                <a:latin typeface="Consolas" panose="020B0609020204030204" pitchFamily="49" charset="0"/>
              </a:rPr>
              <a:t>月に</a:t>
            </a:r>
            <a:r>
              <a:rPr lang="en-US" altLang="ja-JP" sz="2000" dirty="0">
                <a:solidFill>
                  <a:srgbClr val="000000"/>
                </a:solidFill>
                <a:latin typeface="Consolas" panose="020B0609020204030204" pitchFamily="49" charset="0"/>
              </a:rPr>
              <a:t>Meta</a:t>
            </a:r>
            <a:r>
              <a:rPr lang="ja-JP" altLang="en-US" sz="2000" dirty="0">
                <a:solidFill>
                  <a:srgbClr val="000000"/>
                </a:solidFill>
                <a:latin typeface="Consolas" panose="020B0609020204030204" pitchFamily="49" charset="0"/>
              </a:rPr>
              <a:t>社から</a:t>
            </a:r>
            <a:r>
              <a:rPr lang="en-US" altLang="ja-JP" sz="2000" dirty="0">
                <a:solidFill>
                  <a:srgbClr val="000000"/>
                </a:solidFill>
                <a:latin typeface="Consolas" panose="020B0609020204030204" pitchFamily="49" charset="0"/>
              </a:rPr>
              <a:t>VFM</a:t>
            </a:r>
            <a:r>
              <a:rPr lang="ja-JP" altLang="en-US" sz="2000" dirty="0">
                <a:solidFill>
                  <a:srgbClr val="000000"/>
                </a:solidFill>
                <a:latin typeface="Consolas" panose="020B0609020204030204" pitchFamily="49" charset="0"/>
              </a:rPr>
              <a:t>を採用した</a:t>
            </a:r>
            <a:r>
              <a:rPr lang="en-US" altLang="ja-JP" sz="2000" dirty="0">
                <a:solidFill>
                  <a:srgbClr val="000000"/>
                </a:solidFill>
                <a:latin typeface="Consolas" panose="020B0609020204030204" pitchFamily="49" charset="0"/>
              </a:rPr>
              <a:t>SAM</a:t>
            </a:r>
            <a:r>
              <a:rPr lang="ja-JP" altLang="en-US" sz="2000" dirty="0">
                <a:solidFill>
                  <a:srgbClr val="000000"/>
                </a:solidFill>
                <a:latin typeface="Consolas" panose="020B0609020204030204" pitchFamily="49" charset="0"/>
              </a:rPr>
              <a:t>が発表された。</a:t>
            </a:r>
            <a:r>
              <a:rPr lang="en-US" altLang="ja-JP" sz="2000" dirty="0">
                <a:solidFill>
                  <a:srgbClr val="000000"/>
                </a:solidFill>
                <a:latin typeface="Consolas" panose="020B0609020204030204" pitchFamily="49" charset="0"/>
              </a:rPr>
              <a:t>SAM</a:t>
            </a:r>
            <a:r>
              <a:rPr lang="ja-JP" altLang="en-US" sz="2000" dirty="0">
                <a:solidFill>
                  <a:srgbClr val="000000"/>
                </a:solidFill>
                <a:latin typeface="Consolas" panose="020B0609020204030204" pitchFamily="49" charset="0"/>
              </a:rPr>
              <a:t>は画像や動画の任意の物体をワンクリックで切り抜けるモデル。</a:t>
            </a:r>
            <a:r>
              <a:rPr lang="en-US" altLang="ja-JP" sz="2000" dirty="0">
                <a:solidFill>
                  <a:srgbClr val="000000"/>
                </a:solidFill>
                <a:latin typeface="Consolas" panose="020B0609020204030204" pitchFamily="49" charset="0"/>
              </a:rPr>
              <a:t>2024</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7</a:t>
            </a:r>
            <a:r>
              <a:rPr lang="ja-JP" altLang="en-US" sz="2000" dirty="0">
                <a:solidFill>
                  <a:srgbClr val="000000"/>
                </a:solidFill>
                <a:latin typeface="Consolas" panose="020B0609020204030204" pitchFamily="49" charset="0"/>
              </a:rPr>
              <a:t>月</a:t>
            </a:r>
            <a:r>
              <a:rPr lang="en-US" altLang="ja-JP" sz="2000" dirty="0">
                <a:solidFill>
                  <a:srgbClr val="000000"/>
                </a:solidFill>
                <a:latin typeface="Consolas" panose="020B0609020204030204" pitchFamily="49" charset="0"/>
              </a:rPr>
              <a:t>29</a:t>
            </a:r>
            <a:r>
              <a:rPr lang="ja-JP" altLang="en-US" sz="2000" dirty="0">
                <a:solidFill>
                  <a:srgbClr val="000000"/>
                </a:solidFill>
                <a:latin typeface="Consolas" panose="020B0609020204030204" pitchFamily="49" charset="0"/>
              </a:rPr>
              <a:t>日には</a:t>
            </a:r>
            <a:r>
              <a:rPr lang="en-US" altLang="ja-JP" sz="2000" dirty="0">
                <a:solidFill>
                  <a:srgbClr val="000000"/>
                </a:solidFill>
                <a:latin typeface="Consolas" panose="020B0609020204030204" pitchFamily="49" charset="0"/>
              </a:rPr>
              <a:t>SAM2</a:t>
            </a:r>
            <a:r>
              <a:rPr lang="ja-JP" altLang="en-US" sz="2000" dirty="0">
                <a:solidFill>
                  <a:srgbClr val="000000"/>
                </a:solidFill>
                <a:latin typeface="Consolas" panose="020B0609020204030204" pitchFamily="49" charset="0"/>
              </a:rPr>
              <a:t>も発表されている。</a:t>
            </a:r>
            <a:endParaRPr lang="en-US" altLang="ja-JP" sz="2000" dirty="0">
              <a:solidFill>
                <a:srgbClr val="000000"/>
              </a:solidFill>
              <a:latin typeface="Consolas" panose="020B0609020204030204" pitchFamily="49" charset="0"/>
            </a:endParaRPr>
          </a:p>
          <a:p>
            <a:pPr marL="0" indent="0">
              <a:buNone/>
            </a:pPr>
            <a:r>
              <a:rPr lang="ja-JP" altLang="en-US" sz="2000" dirty="0">
                <a:solidFill>
                  <a:srgbClr val="000000"/>
                </a:solidFill>
                <a:latin typeface="Consolas" panose="020B0609020204030204" pitchFamily="49" charset="0"/>
              </a:rPr>
              <a:t>最近のスマホの写真で背景をワンタップでいい感じに削除したりするのは、</a:t>
            </a:r>
            <a:r>
              <a:rPr lang="en-US" altLang="ja-JP" sz="2000" dirty="0">
                <a:solidFill>
                  <a:srgbClr val="000000"/>
                </a:solidFill>
                <a:latin typeface="Consolas" panose="020B0609020204030204" pitchFamily="49" charset="0"/>
              </a:rPr>
              <a:t>SAM</a:t>
            </a:r>
            <a:r>
              <a:rPr lang="ja-JP" altLang="en-US" sz="2000" dirty="0">
                <a:solidFill>
                  <a:srgbClr val="000000"/>
                </a:solidFill>
                <a:latin typeface="Consolas" panose="020B0609020204030204" pitchFamily="49" charset="0"/>
              </a:rPr>
              <a:t>を源流とする軽量版モデル</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2023</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2024</a:t>
            </a:r>
            <a:r>
              <a:rPr lang="ja-JP" altLang="en-US" sz="2000" dirty="0">
                <a:solidFill>
                  <a:srgbClr val="000000"/>
                </a:solidFill>
                <a:latin typeface="Consolas" panose="020B0609020204030204" pitchFamily="49" charset="0"/>
              </a:rPr>
              <a:t>年にかけて</a:t>
            </a:r>
            <a:r>
              <a:rPr lang="en-US" altLang="ja-JP" sz="2000" dirty="0">
                <a:solidFill>
                  <a:srgbClr val="000000"/>
                </a:solidFill>
                <a:latin typeface="Consolas" panose="020B0609020204030204" pitchFamily="49" charset="0"/>
              </a:rPr>
              <a:t>YOLO11(Attention</a:t>
            </a:r>
            <a:r>
              <a:rPr lang="ja-JP" altLang="en-US" sz="2000" dirty="0">
                <a:solidFill>
                  <a:srgbClr val="000000"/>
                </a:solidFill>
                <a:latin typeface="Consolas" panose="020B0609020204030204" pitchFamily="49" charset="0"/>
              </a:rPr>
              <a:t>機構採用でエッジデバイスにも乗る軽量</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やら、</a:t>
            </a:r>
            <a:r>
              <a:rPr lang="en-US" altLang="ja-JP" sz="2000" dirty="0">
                <a:solidFill>
                  <a:srgbClr val="000000"/>
                </a:solidFill>
                <a:latin typeface="Consolas" panose="020B0609020204030204" pitchFamily="49" charset="0"/>
              </a:rPr>
              <a:t>FLUX.1(</a:t>
            </a:r>
            <a:r>
              <a:rPr lang="ja-JP" altLang="en-US" sz="2000" dirty="0">
                <a:solidFill>
                  <a:srgbClr val="000000"/>
                </a:solidFill>
                <a:latin typeface="Consolas" panose="020B0609020204030204" pitchFamily="49" charset="0"/>
              </a:rPr>
              <a:t>写真のようなリアル画像生成</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やら、</a:t>
            </a:r>
            <a:r>
              <a:rPr lang="en-US" altLang="ja-JP" sz="2000" dirty="0">
                <a:solidFill>
                  <a:srgbClr val="000000"/>
                </a:solidFill>
                <a:latin typeface="Consolas" panose="020B0609020204030204" pitchFamily="49" charset="0"/>
              </a:rPr>
              <a:t>Grounding DINO 1.5(</a:t>
            </a:r>
            <a:r>
              <a:rPr lang="ja-JP" altLang="en-US" sz="2000" dirty="0">
                <a:solidFill>
                  <a:srgbClr val="000000"/>
                </a:solidFill>
                <a:latin typeface="Consolas" panose="020B0609020204030204" pitchFamily="49" charset="0"/>
              </a:rPr>
              <a:t>テキストで指定した物体を検出する検出器</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やらが登場</a:t>
            </a:r>
            <a:endParaRPr lang="en-US" altLang="ja-JP" sz="2000"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6</a:t>
            </a:fld>
            <a:endParaRPr kumimoji="1" lang="ja-JP" altLang="en-US"/>
          </a:p>
        </p:txBody>
      </p:sp>
    </p:spTree>
    <p:extLst>
      <p:ext uri="{BB962C8B-B14F-4D97-AF65-F5344CB8AC3E}">
        <p14:creationId xmlns:p14="http://schemas.microsoft.com/office/powerpoint/2010/main" val="1779669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画像処理と機械学習のかんたんな歴史⑥</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199" y="1324304"/>
            <a:ext cx="10676467" cy="5168570"/>
          </a:xfrm>
        </p:spPr>
        <p:txBody>
          <a:bodyPr>
            <a:normAutofit/>
          </a:bodyPr>
          <a:lstStyle/>
          <a:p>
            <a:r>
              <a:rPr lang="en-US" altLang="ja-JP" dirty="0">
                <a:solidFill>
                  <a:srgbClr val="000000"/>
                </a:solidFill>
                <a:latin typeface="Consolas" panose="020B0609020204030204" pitchFamily="49" charset="0"/>
              </a:rPr>
              <a:t>2025</a:t>
            </a:r>
            <a:r>
              <a:rPr lang="ja-JP" altLang="en-US" dirty="0">
                <a:solidFill>
                  <a:srgbClr val="000000"/>
                </a:solidFill>
                <a:latin typeface="Consolas" panose="020B0609020204030204" pitchFamily="49" charset="0"/>
              </a:rPr>
              <a:t>年～</a:t>
            </a:r>
            <a:r>
              <a:rPr lang="en-US" altLang="ja-JP" dirty="0">
                <a:solidFill>
                  <a:srgbClr val="000000"/>
                </a:solidFill>
                <a:latin typeface="Consolas" panose="020B0609020204030204" pitchFamily="49" charset="0"/>
              </a:rPr>
              <a:t>2026</a:t>
            </a:r>
            <a:r>
              <a:rPr lang="ja-JP" altLang="en-US" dirty="0">
                <a:solidFill>
                  <a:srgbClr val="000000"/>
                </a:solidFill>
                <a:latin typeface="Consolas" panose="020B0609020204030204" pitchFamily="49" charset="0"/>
              </a:rPr>
              <a:t>年　</a:t>
            </a:r>
            <a:r>
              <a:rPr lang="ja-JP" altLang="en-US" dirty="0"/>
              <a:t>エッジ</a:t>
            </a:r>
            <a:r>
              <a:rPr lang="en-US" altLang="ja-JP" dirty="0"/>
              <a:t>AI</a:t>
            </a:r>
            <a:r>
              <a:rPr lang="ja-JP" altLang="en-US" dirty="0"/>
              <a:t>・エージェント</a:t>
            </a:r>
            <a:endParaRPr lang="ja-JP" altLang="en-US"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2025</a:t>
            </a:r>
            <a:r>
              <a:rPr lang="ja-JP" altLang="en-US" sz="2000" dirty="0">
                <a:solidFill>
                  <a:srgbClr val="000000"/>
                </a:solidFill>
                <a:latin typeface="Consolas" panose="020B0609020204030204" pitchFamily="49" charset="0"/>
              </a:rPr>
              <a:t>年にエッジデバイス向けの</a:t>
            </a:r>
            <a:r>
              <a:rPr lang="en-US" altLang="ja-JP" sz="2000" dirty="0">
                <a:solidFill>
                  <a:srgbClr val="000000"/>
                </a:solidFill>
                <a:latin typeface="Consolas" panose="020B0609020204030204" pitchFamily="49" charset="0"/>
              </a:rPr>
              <a:t>YOLO26</a:t>
            </a:r>
            <a:r>
              <a:rPr lang="ja-JP" altLang="en-US" sz="2000" dirty="0">
                <a:solidFill>
                  <a:srgbClr val="000000"/>
                </a:solidFill>
                <a:latin typeface="Consolas" panose="020B0609020204030204" pitchFamily="49" charset="0"/>
              </a:rPr>
              <a:t>が登場。</a:t>
            </a:r>
            <a:r>
              <a:rPr lang="en-US" altLang="ja-JP" sz="2000" dirty="0">
                <a:solidFill>
                  <a:srgbClr val="000000"/>
                </a:solidFill>
                <a:latin typeface="Consolas" panose="020B0609020204030204" pitchFamily="49" charset="0"/>
              </a:rPr>
              <a:t>CPU</a:t>
            </a:r>
            <a:r>
              <a:rPr lang="ja-JP" altLang="en-US" sz="2000" dirty="0">
                <a:solidFill>
                  <a:srgbClr val="000000"/>
                </a:solidFill>
                <a:latin typeface="Consolas" panose="020B0609020204030204" pitchFamily="49" charset="0"/>
              </a:rPr>
              <a:t>推論が大幅に高速化。ラズパイでも容易に動く</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として人気（私調べ）になる</a:t>
            </a:r>
            <a:endParaRPr lang="en-US" altLang="ja-JP" sz="2000" dirty="0">
              <a:solidFill>
                <a:srgbClr val="000000"/>
              </a:solidFill>
              <a:latin typeface="Consolas" panose="020B0609020204030204" pitchFamily="49" charset="0"/>
            </a:endParaRPr>
          </a:p>
          <a:p>
            <a:pPr marL="0" indent="0">
              <a:buNone/>
            </a:pPr>
            <a:r>
              <a:rPr lang="ja-JP" altLang="en-US" sz="2000" dirty="0">
                <a:solidFill>
                  <a:srgbClr val="000000"/>
                </a:solidFill>
                <a:latin typeface="Consolas" panose="020B0609020204030204" pitchFamily="49" charset="0"/>
              </a:rPr>
              <a:t>同時期に</a:t>
            </a:r>
            <a:r>
              <a:rPr lang="en-US" altLang="ja-JP" sz="2000" dirty="0">
                <a:solidFill>
                  <a:srgbClr val="000000"/>
                </a:solidFill>
                <a:latin typeface="Consolas" panose="020B0609020204030204" pitchFamily="49" charset="0"/>
              </a:rPr>
              <a:t>SAM3</a:t>
            </a:r>
            <a:r>
              <a:rPr lang="ja-JP" altLang="en-US" sz="2000" dirty="0">
                <a:solidFill>
                  <a:srgbClr val="000000"/>
                </a:solidFill>
                <a:latin typeface="Consolas" panose="020B0609020204030204" pitchFamily="49" charset="0"/>
              </a:rPr>
              <a:t>が登場。概念セグメンテーションを初めて取り入れた。</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2026</a:t>
            </a:r>
            <a:r>
              <a:rPr lang="ja-JP" altLang="en-US" sz="2000" dirty="0">
                <a:solidFill>
                  <a:srgbClr val="000000"/>
                </a:solidFill>
                <a:latin typeface="Consolas" panose="020B0609020204030204" pitchFamily="49" charset="0"/>
              </a:rPr>
              <a:t>年</a:t>
            </a:r>
            <a:r>
              <a:rPr lang="en-US" altLang="ja-JP" sz="2000" dirty="0">
                <a:solidFill>
                  <a:srgbClr val="000000"/>
                </a:solidFill>
                <a:latin typeface="Consolas" panose="020B0609020204030204" pitchFamily="49" charset="0"/>
              </a:rPr>
              <a:t>2</a:t>
            </a:r>
            <a:r>
              <a:rPr lang="ja-JP" altLang="en-US" sz="2000" dirty="0">
                <a:solidFill>
                  <a:srgbClr val="000000"/>
                </a:solidFill>
                <a:latin typeface="Consolas" panose="020B0609020204030204" pitchFamily="49" charset="0"/>
              </a:rPr>
              <a:t>月に</a:t>
            </a:r>
            <a:r>
              <a:rPr lang="en-US" altLang="ja-JP" sz="2000" dirty="0">
                <a:solidFill>
                  <a:srgbClr val="000000"/>
                </a:solidFill>
                <a:latin typeface="Consolas" panose="020B0609020204030204" pitchFamily="49" charset="0"/>
              </a:rPr>
              <a:t>Google</a:t>
            </a:r>
            <a:r>
              <a:rPr lang="ja-JP" altLang="en-US" sz="2000" dirty="0">
                <a:solidFill>
                  <a:srgbClr val="000000"/>
                </a:solidFill>
                <a:latin typeface="Consolas" panose="020B0609020204030204" pitchFamily="49" charset="0"/>
              </a:rPr>
              <a:t>から</a:t>
            </a:r>
            <a:r>
              <a:rPr lang="en-US" altLang="ja-JP" sz="2000" dirty="0">
                <a:solidFill>
                  <a:srgbClr val="000000"/>
                </a:solidFill>
                <a:latin typeface="Consolas" panose="020B0609020204030204" pitchFamily="49" charset="0"/>
              </a:rPr>
              <a:t>NanoBanana2</a:t>
            </a:r>
            <a:r>
              <a:rPr lang="ja-JP" altLang="en-US" sz="2000" dirty="0">
                <a:solidFill>
                  <a:srgbClr val="000000"/>
                </a:solidFill>
                <a:latin typeface="Consolas" panose="020B0609020204030204" pitchFamily="49" charset="0"/>
              </a:rPr>
              <a:t>が登場。</a:t>
            </a:r>
            <a:r>
              <a:rPr lang="en-US" altLang="ja-JP" sz="2000" dirty="0">
                <a:solidFill>
                  <a:srgbClr val="000000"/>
                </a:solidFill>
                <a:latin typeface="Consolas" panose="020B0609020204030204" pitchFamily="49" charset="0"/>
              </a:rPr>
              <a:t>Gemini 3</a:t>
            </a:r>
            <a:r>
              <a:rPr lang="ja-JP" altLang="en-US" sz="2000" dirty="0">
                <a:solidFill>
                  <a:srgbClr val="000000"/>
                </a:solidFill>
                <a:latin typeface="Consolas" panose="020B0609020204030204" pitchFamily="49" charset="0"/>
              </a:rPr>
              <a:t>に統合された画像生成モデルで、</a:t>
            </a:r>
            <a:r>
              <a:rPr lang="en-US" altLang="ja-JP" sz="2000" dirty="0">
                <a:solidFill>
                  <a:srgbClr val="000000"/>
                </a:solidFill>
                <a:latin typeface="Consolas" panose="020B0609020204030204" pitchFamily="49" charset="0"/>
              </a:rPr>
              <a:t>Gemini</a:t>
            </a:r>
            <a:r>
              <a:rPr lang="ja-JP" altLang="en-US" sz="2000" dirty="0">
                <a:solidFill>
                  <a:srgbClr val="000000"/>
                </a:solidFill>
                <a:latin typeface="Consolas" panose="020B0609020204030204" pitchFamily="49" charset="0"/>
              </a:rPr>
              <a:t>アプリのすべてのモードで</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による画像生成が標準搭載</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の軽量化で</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チップ搭載センサが登場し始める。</a:t>
            </a:r>
            <a:r>
              <a:rPr lang="en-US" altLang="ja-JP" sz="2000" dirty="0">
                <a:solidFill>
                  <a:srgbClr val="000000"/>
                </a:solidFill>
                <a:latin typeface="Consolas" panose="020B0609020204030204" pitchFamily="49" charset="0"/>
              </a:rPr>
              <a:t>2024</a:t>
            </a:r>
            <a:r>
              <a:rPr lang="ja-JP" altLang="en-US" sz="2000" dirty="0">
                <a:solidFill>
                  <a:srgbClr val="000000"/>
                </a:solidFill>
                <a:latin typeface="Consolas" panose="020B0609020204030204" pitchFamily="49" charset="0"/>
              </a:rPr>
              <a:t>年の終盤に</a:t>
            </a:r>
            <a:r>
              <a:rPr lang="en-US" altLang="ja-JP" sz="2000" dirty="0">
                <a:solidFill>
                  <a:srgbClr val="000000"/>
                </a:solidFill>
                <a:latin typeface="Consolas" panose="020B0609020204030204" pitchFamily="49" charset="0"/>
              </a:rPr>
              <a:t>Raspberry Pi AI Camera</a:t>
            </a:r>
            <a:r>
              <a:rPr lang="ja-JP" altLang="en-US" sz="2000" dirty="0">
                <a:solidFill>
                  <a:srgbClr val="000000"/>
                </a:solidFill>
                <a:latin typeface="Consolas" panose="020B0609020204030204" pitchFamily="49" charset="0"/>
              </a:rPr>
              <a:t>が登場。カメラ自体に</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が乗っており物体検知が可能に。</a:t>
            </a:r>
            <a:r>
              <a:rPr lang="en-US" altLang="ja-JP" sz="2000" dirty="0">
                <a:solidFill>
                  <a:srgbClr val="000000"/>
                </a:solidFill>
                <a:latin typeface="Consolas" panose="020B0609020204030204" pitchFamily="49" charset="0"/>
              </a:rPr>
              <a:t>2025</a:t>
            </a:r>
            <a:r>
              <a:rPr lang="ja-JP" altLang="en-US" sz="2000" dirty="0">
                <a:solidFill>
                  <a:srgbClr val="000000"/>
                </a:solidFill>
                <a:latin typeface="Consolas" panose="020B0609020204030204" pitchFamily="49" charset="0"/>
              </a:rPr>
              <a:t>年中ごろより</a:t>
            </a:r>
            <a:r>
              <a:rPr lang="en-US" altLang="ja-JP" sz="2000" dirty="0">
                <a:solidFill>
                  <a:srgbClr val="000000"/>
                </a:solidFill>
                <a:latin typeface="Consolas" panose="020B0609020204030204" pitchFamily="49" charset="0"/>
              </a:rPr>
              <a:t>AI</a:t>
            </a:r>
            <a:r>
              <a:rPr lang="ja-JP" altLang="en-US" sz="2000" dirty="0">
                <a:solidFill>
                  <a:srgbClr val="000000"/>
                </a:solidFill>
                <a:latin typeface="Consolas" panose="020B0609020204030204" pitchFamily="49" charset="0"/>
              </a:rPr>
              <a:t>搭載防犯カメラも国内の市場に出回るようになる。</a:t>
            </a:r>
            <a:endParaRPr lang="en-US" altLang="ja-JP" sz="2000" dirty="0">
              <a:solidFill>
                <a:srgbClr val="000000"/>
              </a:solidFill>
              <a:latin typeface="Consolas" panose="020B0609020204030204" pitchFamily="49" charset="0"/>
            </a:endParaRPr>
          </a:p>
          <a:p>
            <a:pPr marL="0" indent="0">
              <a:buNone/>
            </a:pP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2026</a:t>
            </a:r>
            <a:r>
              <a:rPr lang="ja-JP" altLang="en-US" sz="2000" dirty="0">
                <a:solidFill>
                  <a:srgbClr val="000000"/>
                </a:solidFill>
                <a:latin typeface="Consolas" panose="020B0609020204030204" pitchFamily="49" charset="0"/>
              </a:rPr>
              <a:t>年初頭より</a:t>
            </a:r>
            <a:r>
              <a:rPr lang="en-US" altLang="ja-JP" sz="2000" b="1" dirty="0">
                <a:solidFill>
                  <a:srgbClr val="000000"/>
                </a:solidFill>
                <a:latin typeface="Consolas" panose="020B0609020204030204" pitchFamily="49" charset="0"/>
              </a:rPr>
              <a:t>Physical AI</a:t>
            </a:r>
            <a:r>
              <a:rPr lang="ja-JP" altLang="en-US" sz="2000" b="1" dirty="0">
                <a:solidFill>
                  <a:srgbClr val="000000"/>
                </a:solidFill>
                <a:latin typeface="Consolas" panose="020B0609020204030204" pitchFamily="49" charset="0"/>
              </a:rPr>
              <a:t>（鉄腕アトムとかドラえもんみたいなもの）</a:t>
            </a:r>
            <a:r>
              <a:rPr lang="ja-JP" altLang="en-US" sz="2000" dirty="0">
                <a:solidFill>
                  <a:srgbClr val="000000"/>
                </a:solidFill>
                <a:latin typeface="Consolas" panose="020B0609020204030204" pitchFamily="49" charset="0"/>
              </a:rPr>
              <a:t>が騒がれ始める。日本政府の試算では</a:t>
            </a:r>
            <a:r>
              <a:rPr lang="en-US" altLang="ja-JP" sz="2000" dirty="0">
                <a:solidFill>
                  <a:srgbClr val="000000"/>
                </a:solidFill>
                <a:latin typeface="Consolas" panose="020B0609020204030204" pitchFamily="49" charset="0"/>
              </a:rPr>
              <a:t>2040</a:t>
            </a:r>
            <a:r>
              <a:rPr lang="ja-JP" altLang="en-US" sz="2000" dirty="0">
                <a:solidFill>
                  <a:srgbClr val="000000"/>
                </a:solidFill>
                <a:latin typeface="Consolas" panose="020B0609020204030204" pitchFamily="49" charset="0"/>
              </a:rPr>
              <a:t>年には少子高齢化により現場人材が</a:t>
            </a:r>
            <a:r>
              <a:rPr lang="en-US" altLang="ja-JP" sz="2000" dirty="0">
                <a:solidFill>
                  <a:srgbClr val="000000"/>
                </a:solidFill>
                <a:latin typeface="Consolas" panose="020B0609020204030204" pitchFamily="49" charset="0"/>
              </a:rPr>
              <a:t>260</a:t>
            </a:r>
            <a:r>
              <a:rPr lang="ja-JP" altLang="en-US" sz="2000" dirty="0">
                <a:solidFill>
                  <a:srgbClr val="000000"/>
                </a:solidFill>
                <a:latin typeface="Consolas" panose="020B0609020204030204" pitchFamily="49" charset="0"/>
              </a:rPr>
              <a:t>万人ほど不足するとされているが、</a:t>
            </a:r>
            <a:r>
              <a:rPr lang="en-US" altLang="ja-JP" sz="2000" dirty="0">
                <a:solidFill>
                  <a:srgbClr val="000000"/>
                </a:solidFill>
                <a:latin typeface="Consolas" panose="020B0609020204030204" pitchFamily="49" charset="0"/>
              </a:rPr>
              <a:t>Physical AI</a:t>
            </a:r>
            <a:r>
              <a:rPr lang="ja-JP" altLang="en-US" sz="2000" dirty="0">
                <a:solidFill>
                  <a:srgbClr val="000000"/>
                </a:solidFill>
                <a:latin typeface="Consolas" panose="020B0609020204030204" pitchFamily="49" charset="0"/>
              </a:rPr>
              <a:t>によって移民に頼らずとも社会が維持できるといわれている。</a:t>
            </a:r>
            <a:endParaRPr lang="en-US" altLang="ja-JP" sz="2000" dirty="0">
              <a:solidFill>
                <a:srgbClr val="000000"/>
              </a:solidFill>
              <a:latin typeface="Consolas" panose="020B0609020204030204" pitchFamily="49" charset="0"/>
            </a:endParaRPr>
          </a:p>
          <a:p>
            <a:pPr marL="0" indent="0">
              <a:buNone/>
            </a:pPr>
            <a:r>
              <a:rPr lang="en-US" altLang="ja-JP" sz="2000" dirty="0">
                <a:solidFill>
                  <a:srgbClr val="000000"/>
                </a:solidFill>
                <a:latin typeface="Consolas" panose="020B0609020204030204" pitchFamily="49" charset="0"/>
              </a:rPr>
              <a:t>Physical AI</a:t>
            </a:r>
            <a:r>
              <a:rPr lang="ja-JP" altLang="en-US" sz="2000" dirty="0">
                <a:solidFill>
                  <a:srgbClr val="000000"/>
                </a:solidFill>
                <a:latin typeface="Consolas" panose="020B0609020204030204" pitchFamily="49" charset="0"/>
              </a:rPr>
              <a:t>の市場規模は推算</a:t>
            </a:r>
            <a:r>
              <a:rPr lang="en-US" altLang="ja-JP" sz="2000" dirty="0">
                <a:solidFill>
                  <a:srgbClr val="000000"/>
                </a:solidFill>
                <a:latin typeface="Consolas" panose="020B0609020204030204" pitchFamily="49" charset="0"/>
              </a:rPr>
              <a:t>19</a:t>
            </a:r>
            <a:r>
              <a:rPr lang="ja-JP" altLang="en-US" sz="2000" dirty="0">
                <a:solidFill>
                  <a:srgbClr val="000000"/>
                </a:solidFill>
                <a:latin typeface="Consolas" panose="020B0609020204030204" pitchFamily="49" charset="0"/>
              </a:rPr>
              <a:t>兆円ほどといわれている</a:t>
            </a:r>
            <a:endParaRPr lang="en-US" altLang="ja-JP" sz="2000"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7</a:t>
            </a:fld>
            <a:endParaRPr kumimoji="1" lang="ja-JP" altLang="en-US"/>
          </a:p>
        </p:txBody>
      </p:sp>
    </p:spTree>
    <p:extLst>
      <p:ext uri="{BB962C8B-B14F-4D97-AF65-F5344CB8AC3E}">
        <p14:creationId xmlns:p14="http://schemas.microsoft.com/office/powerpoint/2010/main" val="2284783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画像処理も画像認識も</a:t>
            </a:r>
            <a:r>
              <a:rPr kumimoji="1" lang="en-US" altLang="ja-JP" b="1" dirty="0"/>
              <a:t>AI</a:t>
            </a:r>
            <a:r>
              <a:rPr kumimoji="1" lang="ja-JP" altLang="en-US" b="1" dirty="0"/>
              <a:t>で</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199" y="1324304"/>
            <a:ext cx="10676467" cy="5168570"/>
          </a:xfrm>
        </p:spPr>
        <p:txBody>
          <a:bodyPr>
            <a:normAutofit/>
          </a:bodyPr>
          <a:lstStyle/>
          <a:p>
            <a:r>
              <a:rPr lang="ja-JP" altLang="en-US" dirty="0">
                <a:solidFill>
                  <a:srgbClr val="000000"/>
                </a:solidFill>
                <a:latin typeface="Consolas" panose="020B0609020204030204" pitchFamily="49" charset="0"/>
              </a:rPr>
              <a:t>急速な</a:t>
            </a:r>
            <a:r>
              <a:rPr lang="en-US" altLang="ja-JP" dirty="0">
                <a:solidFill>
                  <a:srgbClr val="000000"/>
                </a:solidFill>
                <a:latin typeface="Consolas" panose="020B0609020204030204" pitchFamily="49" charset="0"/>
              </a:rPr>
              <a:t>AI</a:t>
            </a:r>
            <a:r>
              <a:rPr lang="ja-JP" altLang="en-US" dirty="0">
                <a:solidFill>
                  <a:srgbClr val="000000"/>
                </a:solidFill>
                <a:latin typeface="Consolas" panose="020B0609020204030204" pitchFamily="49" charset="0"/>
              </a:rPr>
              <a:t>の発展に伴い、様々な業種に革命が起きている</a:t>
            </a:r>
            <a:endParaRPr lang="en-US" altLang="ja-JP" dirty="0">
              <a:solidFill>
                <a:srgbClr val="000000"/>
              </a:solidFill>
              <a:latin typeface="Consolas" panose="020B0609020204030204" pitchFamily="49" charset="0"/>
            </a:endParaRPr>
          </a:p>
          <a:p>
            <a:r>
              <a:rPr lang="ja-JP" altLang="en-US" dirty="0">
                <a:solidFill>
                  <a:srgbClr val="000000"/>
                </a:solidFill>
                <a:latin typeface="Consolas" panose="020B0609020204030204" pitchFamily="49" charset="0"/>
              </a:rPr>
              <a:t>食品の外観検査を</a:t>
            </a:r>
            <a:r>
              <a:rPr lang="en-US" altLang="ja-JP" dirty="0">
                <a:solidFill>
                  <a:srgbClr val="000000"/>
                </a:solidFill>
                <a:latin typeface="Consolas" panose="020B0609020204030204" pitchFamily="49" charset="0"/>
              </a:rPr>
              <a:t>AI</a:t>
            </a:r>
            <a:r>
              <a:rPr lang="ja-JP" altLang="en-US" dirty="0">
                <a:solidFill>
                  <a:srgbClr val="000000"/>
                </a:solidFill>
                <a:latin typeface="Consolas" panose="020B0609020204030204" pitchFamily="49" charset="0"/>
              </a:rPr>
              <a:t>にすべて任せたり等</a:t>
            </a:r>
            <a:r>
              <a:rPr lang="en-US" altLang="ja-JP" dirty="0">
                <a:solidFill>
                  <a:srgbClr val="000000"/>
                </a:solidFill>
                <a:latin typeface="Consolas" panose="020B0609020204030204" pitchFamily="49" charset="0"/>
              </a:rPr>
              <a:t>…</a:t>
            </a:r>
          </a:p>
          <a:p>
            <a:endParaRPr lang="en-US" altLang="ja-JP" dirty="0">
              <a:solidFill>
                <a:srgbClr val="000000"/>
              </a:solidFill>
              <a:latin typeface="Consolas" panose="020B0609020204030204" pitchFamily="49" charset="0"/>
            </a:endParaRPr>
          </a:p>
          <a:p>
            <a:endParaRPr lang="ja-JP" altLang="en-US"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8</a:t>
            </a:fld>
            <a:endParaRPr kumimoji="1" lang="ja-JP" altLang="en-US"/>
          </a:p>
        </p:txBody>
      </p:sp>
    </p:spTree>
    <p:extLst>
      <p:ext uri="{BB962C8B-B14F-4D97-AF65-F5344CB8AC3E}">
        <p14:creationId xmlns:p14="http://schemas.microsoft.com/office/powerpoint/2010/main" val="23522332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1266</Words>
  <Application>Microsoft Office PowerPoint</Application>
  <PresentationFormat>ワイド画面</PresentationFormat>
  <Paragraphs>70</Paragraphs>
  <Slides>8</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游ゴシック</vt:lpstr>
      <vt:lpstr>游ゴシック Light</vt:lpstr>
      <vt:lpstr>Arial</vt:lpstr>
      <vt:lpstr>Consolas</vt:lpstr>
      <vt:lpstr>Office テーマ</vt:lpstr>
      <vt:lpstr>画像処理と機械学習</vt:lpstr>
      <vt:lpstr>画像処理と機械学習の簡単な歴史①</vt:lpstr>
      <vt:lpstr>画像処理と機械学習の簡単な歴史②</vt:lpstr>
      <vt:lpstr>画像処理と機械学習の簡単な歴史③</vt:lpstr>
      <vt:lpstr>画像処理と機械学習のかんたんな歴史④</vt:lpstr>
      <vt:lpstr>画像処理と機械学習のかんたんな歴史⑤</vt:lpstr>
      <vt:lpstr>画像処理と機械学習のかんたんな歴史⑥</vt:lpstr>
      <vt:lpstr>画像処理も画像認識もAIで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sem00</dc:creator>
  <cp:lastModifiedBy>sem00</cp:lastModifiedBy>
  <cp:revision>3</cp:revision>
  <dcterms:created xsi:type="dcterms:W3CDTF">2026-06-26T01:52:06Z</dcterms:created>
  <dcterms:modified xsi:type="dcterms:W3CDTF">2026-06-26T04:14:58Z</dcterms:modified>
</cp:coreProperties>
</file>