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0" r:id="rId4"/>
    <p:sldId id="259" r:id="rId5"/>
    <p:sldId id="258" r:id="rId6"/>
    <p:sldId id="261" r:id="rId7"/>
    <p:sldId id="263" r:id="rId8"/>
    <p:sldId id="262" r:id="rId9"/>
    <p:sldId id="265" r:id="rId10"/>
    <p:sldId id="266" r:id="rId11"/>
    <p:sldId id="267" r:id="rId12"/>
    <p:sldId id="268" r:id="rId13"/>
    <p:sldId id="269" r:id="rId14"/>
    <p:sldId id="264" r:id="rId1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000" autoAdjust="0"/>
  </p:normalViewPr>
  <p:slideViewPr>
    <p:cSldViewPr snapToGrid="0">
      <p:cViewPr varScale="1">
        <p:scale>
          <a:sx n="84" d="100"/>
          <a:sy n="84" d="100"/>
        </p:scale>
        <p:origin x="159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DC7182-55AD-4054-9FCE-06E7F9F815D3}" type="datetimeFigureOut">
              <a:rPr kumimoji="1" lang="ja-JP" altLang="en-US" smtClean="0"/>
              <a:t>2026/6/18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AB675C-5F56-4069-92DB-A5B84660514C}" type="slidenum">
              <a:rPr kumimoji="1" lang="ja-JP" altLang="en-US" smtClean="0"/>
              <a:t>‹#›</a:t>
            </a:fld>
            <a:endParaRPr kumimoji="1" lang="ja-JP" altLang="en-US"/>
          </a:p>
        </p:txBody>
      </p:sp>
    </p:spTree>
    <p:extLst>
      <p:ext uri="{BB962C8B-B14F-4D97-AF65-F5344CB8AC3E}">
        <p14:creationId xmlns:p14="http://schemas.microsoft.com/office/powerpoint/2010/main" val="27290126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C</a:t>
            </a:r>
            <a:r>
              <a:rPr kumimoji="1" lang="ja-JP" altLang="en-US" dirty="0"/>
              <a:t>言語や</a:t>
            </a:r>
            <a:r>
              <a:rPr kumimoji="1" lang="en-US" altLang="ja-JP" dirty="0"/>
              <a:t>Java</a:t>
            </a:r>
            <a:r>
              <a:rPr kumimoji="1" lang="ja-JP" altLang="en-US" dirty="0"/>
              <a:t>など、ほかの言語でもできることを説明しておく。</a:t>
            </a:r>
            <a:endParaRPr kumimoji="1" lang="en-US" altLang="ja-JP" dirty="0"/>
          </a:p>
          <a:p>
            <a:r>
              <a:rPr kumimoji="1" lang="en-US" altLang="ja-JP" dirty="0"/>
              <a:t>Python</a:t>
            </a:r>
            <a:r>
              <a:rPr kumimoji="1" lang="ja-JP" altLang="en-US" dirty="0"/>
              <a:t>を使う理由は「ライブラリが豊富なうえ、言語の習得も比較的簡単だから」</a:t>
            </a:r>
            <a:endParaRPr kumimoji="1" lang="en-US" altLang="ja-JP" dirty="0"/>
          </a:p>
          <a:p>
            <a:endParaRPr kumimoji="1" lang="en-US" altLang="ja-JP" dirty="0"/>
          </a:p>
          <a:p>
            <a:r>
              <a:rPr kumimoji="1" lang="ja-JP" altLang="en-US" dirty="0"/>
              <a:t>次スライドから、そもそも画像処理とは何なのかを説明する</a:t>
            </a:r>
          </a:p>
        </p:txBody>
      </p:sp>
      <p:sp>
        <p:nvSpPr>
          <p:cNvPr id="4" name="スライド番号プレースホルダー 3"/>
          <p:cNvSpPr>
            <a:spLocks noGrp="1"/>
          </p:cNvSpPr>
          <p:nvPr>
            <p:ph type="sldNum" sz="quarter" idx="5"/>
          </p:nvPr>
        </p:nvSpPr>
        <p:spPr/>
        <p:txBody>
          <a:bodyPr/>
          <a:lstStyle/>
          <a:p>
            <a:fld id="{ACAB675C-5F56-4069-92DB-A5B84660514C}" type="slidenum">
              <a:rPr kumimoji="1" lang="ja-JP" altLang="en-US" smtClean="0"/>
              <a:t>10</a:t>
            </a:fld>
            <a:endParaRPr kumimoji="1" lang="ja-JP" altLang="en-US"/>
          </a:p>
        </p:txBody>
      </p:sp>
    </p:spTree>
    <p:extLst>
      <p:ext uri="{BB962C8B-B14F-4D97-AF65-F5344CB8AC3E}">
        <p14:creationId xmlns:p14="http://schemas.microsoft.com/office/powerpoint/2010/main" val="2799253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CAB675C-5F56-4069-92DB-A5B84660514C}" type="slidenum">
              <a:rPr kumimoji="1" lang="ja-JP" altLang="en-US" smtClean="0"/>
              <a:t>12</a:t>
            </a:fld>
            <a:endParaRPr kumimoji="1" lang="ja-JP" altLang="en-US"/>
          </a:p>
        </p:txBody>
      </p:sp>
    </p:spTree>
    <p:extLst>
      <p:ext uri="{BB962C8B-B14F-4D97-AF65-F5344CB8AC3E}">
        <p14:creationId xmlns:p14="http://schemas.microsoft.com/office/powerpoint/2010/main" val="1044255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具体的な要件を例に④の検知の紹介だけセミナーの最後に実施予定。</a:t>
            </a:r>
            <a:endParaRPr kumimoji="1" lang="en-US" altLang="ja-JP" dirty="0"/>
          </a:p>
          <a:p>
            <a:r>
              <a:rPr kumimoji="1" lang="ja-JP" altLang="en-US" dirty="0"/>
              <a:t>とはいえ④の検知については時間調整用だから、ここで言わなくてもいいかなぁ</a:t>
            </a:r>
          </a:p>
        </p:txBody>
      </p:sp>
      <p:sp>
        <p:nvSpPr>
          <p:cNvPr id="4" name="スライド番号プレースホルダー 3"/>
          <p:cNvSpPr>
            <a:spLocks noGrp="1"/>
          </p:cNvSpPr>
          <p:nvPr>
            <p:ph type="sldNum" sz="quarter" idx="5"/>
          </p:nvPr>
        </p:nvSpPr>
        <p:spPr/>
        <p:txBody>
          <a:bodyPr/>
          <a:lstStyle/>
          <a:p>
            <a:fld id="{ACAB675C-5F56-4069-92DB-A5B84660514C}" type="slidenum">
              <a:rPr kumimoji="1" lang="ja-JP" altLang="en-US" smtClean="0"/>
              <a:t>14</a:t>
            </a:fld>
            <a:endParaRPr kumimoji="1" lang="ja-JP" altLang="en-US"/>
          </a:p>
        </p:txBody>
      </p:sp>
    </p:spTree>
    <p:extLst>
      <p:ext uri="{BB962C8B-B14F-4D97-AF65-F5344CB8AC3E}">
        <p14:creationId xmlns:p14="http://schemas.microsoft.com/office/powerpoint/2010/main" val="1133066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CAFE6F38-49F7-4E5F-88EC-764F368DF874}" type="datetime1">
              <a:rPr kumimoji="1" lang="ja-JP" altLang="en-US" smtClean="0"/>
              <a:t>2026/6/18</a:t>
            </a:fld>
            <a:endParaRPr kumimoji="1" lang="ja-JP" altLang="en-US"/>
          </a:p>
        </p:txBody>
      </p:sp>
      <p:sp>
        <p:nvSpPr>
          <p:cNvPr id="5" name="フッター プレースホルダー 4"/>
          <p:cNvSpPr>
            <a:spLocks noGrp="1"/>
          </p:cNvSpPr>
          <p:nvPr>
            <p:ph type="ftr" sz="quarter" idx="11"/>
          </p:nvPr>
        </p:nvSpPr>
        <p:spPr/>
        <p:txBody>
          <a:bodyPr/>
          <a:lstStyle/>
          <a:p>
            <a:r>
              <a:rPr kumimoji="1" lang="ja-JP" altLang="en-US"/>
              <a:t>ポリテクセンター栃木</a:t>
            </a:r>
          </a:p>
        </p:txBody>
      </p:sp>
      <p:sp>
        <p:nvSpPr>
          <p:cNvPr id="6" name="スライド番号プレースホルダー 5"/>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2761739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239114B-E747-4C37-A9CE-9C68BD855015}" type="datetime1">
              <a:rPr kumimoji="1" lang="ja-JP" altLang="en-US" smtClean="0"/>
              <a:t>2026/6/18</a:t>
            </a:fld>
            <a:endParaRPr kumimoji="1" lang="ja-JP" altLang="en-US"/>
          </a:p>
        </p:txBody>
      </p:sp>
      <p:sp>
        <p:nvSpPr>
          <p:cNvPr id="5" name="フッター プレースホルダー 4"/>
          <p:cNvSpPr>
            <a:spLocks noGrp="1"/>
          </p:cNvSpPr>
          <p:nvPr>
            <p:ph type="ftr" sz="quarter" idx="11"/>
          </p:nvPr>
        </p:nvSpPr>
        <p:spPr/>
        <p:txBody>
          <a:bodyPr/>
          <a:lstStyle/>
          <a:p>
            <a:r>
              <a:rPr kumimoji="1" lang="ja-JP" altLang="en-US"/>
              <a:t>ポリテクセンター栃木</a:t>
            </a:r>
          </a:p>
        </p:txBody>
      </p:sp>
      <p:sp>
        <p:nvSpPr>
          <p:cNvPr id="6" name="スライド番号プレースホルダー 5"/>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1937658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E1883C9B-57A9-4E56-AC04-982C134782EA}" type="datetime1">
              <a:rPr kumimoji="1" lang="ja-JP" altLang="en-US" smtClean="0"/>
              <a:t>2026/6/18</a:t>
            </a:fld>
            <a:endParaRPr kumimoji="1" lang="ja-JP" altLang="en-US"/>
          </a:p>
        </p:txBody>
      </p:sp>
      <p:sp>
        <p:nvSpPr>
          <p:cNvPr id="5" name="フッター プレースホルダー 4"/>
          <p:cNvSpPr>
            <a:spLocks noGrp="1"/>
          </p:cNvSpPr>
          <p:nvPr>
            <p:ph type="ftr" sz="quarter" idx="11"/>
          </p:nvPr>
        </p:nvSpPr>
        <p:spPr/>
        <p:txBody>
          <a:bodyPr/>
          <a:lstStyle/>
          <a:p>
            <a:r>
              <a:rPr kumimoji="1" lang="ja-JP" altLang="en-US"/>
              <a:t>ポリテクセンター栃木</a:t>
            </a:r>
          </a:p>
        </p:txBody>
      </p:sp>
      <p:sp>
        <p:nvSpPr>
          <p:cNvPr id="6" name="スライド番号プレースホルダー 5"/>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2429403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F12E178E-C068-496A-B854-3B356FBD92DE}" type="datetime1">
              <a:rPr kumimoji="1" lang="ja-JP" altLang="en-US" smtClean="0"/>
              <a:t>2026/6/18</a:t>
            </a:fld>
            <a:endParaRPr kumimoji="1" lang="ja-JP" altLang="en-US"/>
          </a:p>
        </p:txBody>
      </p:sp>
      <p:sp>
        <p:nvSpPr>
          <p:cNvPr id="6" name="フッター プレースホルダー 5"/>
          <p:cNvSpPr>
            <a:spLocks noGrp="1"/>
          </p:cNvSpPr>
          <p:nvPr>
            <p:ph type="ftr" sz="quarter" idx="11"/>
          </p:nvPr>
        </p:nvSpPr>
        <p:spPr/>
        <p:txBody>
          <a:bodyPr/>
          <a:lstStyle/>
          <a:p>
            <a:r>
              <a:rPr kumimoji="1" lang="ja-JP" altLang="en-US"/>
              <a:t>ポリテクセンター栃木</a:t>
            </a:r>
          </a:p>
        </p:txBody>
      </p:sp>
      <p:sp>
        <p:nvSpPr>
          <p:cNvPr id="7" name="スライド番号プレースホルダー 6"/>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2107742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6E3BE086-4F67-45C4-8825-829457869F52}" type="datetime1">
              <a:rPr kumimoji="1" lang="ja-JP" altLang="en-US" smtClean="0"/>
              <a:t>2026/6/18</a:t>
            </a:fld>
            <a:endParaRPr kumimoji="1" lang="ja-JP" altLang="en-US"/>
          </a:p>
        </p:txBody>
      </p:sp>
      <p:sp>
        <p:nvSpPr>
          <p:cNvPr id="8" name="フッター プレースホルダー 7"/>
          <p:cNvSpPr>
            <a:spLocks noGrp="1"/>
          </p:cNvSpPr>
          <p:nvPr>
            <p:ph type="ftr" sz="quarter" idx="11"/>
          </p:nvPr>
        </p:nvSpPr>
        <p:spPr/>
        <p:txBody>
          <a:bodyPr/>
          <a:lstStyle/>
          <a:p>
            <a:r>
              <a:rPr kumimoji="1" lang="ja-JP" altLang="en-US"/>
              <a:t>ポリテクセンター栃木</a:t>
            </a:r>
          </a:p>
        </p:txBody>
      </p:sp>
      <p:sp>
        <p:nvSpPr>
          <p:cNvPr id="9" name="スライド番号プレースホルダー 8"/>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36041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F867AD36-DDA2-41E4-A034-86CB430BE82E}" type="datetime1">
              <a:rPr kumimoji="1" lang="ja-JP" altLang="en-US" smtClean="0"/>
              <a:t>2026/6/18</a:t>
            </a:fld>
            <a:endParaRPr kumimoji="1" lang="ja-JP" altLang="en-US"/>
          </a:p>
        </p:txBody>
      </p:sp>
      <p:sp>
        <p:nvSpPr>
          <p:cNvPr id="4" name="フッター プレースホルダー 3"/>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2693126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96AF5690-4FDE-43D2-B817-FCD1C3FF8649}" type="datetime1">
              <a:rPr kumimoji="1" lang="ja-JP" altLang="en-US" smtClean="0"/>
              <a:t>2026/6/18</a:t>
            </a:fld>
            <a:endParaRPr kumimoji="1" lang="ja-JP" altLang="en-US"/>
          </a:p>
        </p:txBody>
      </p:sp>
      <p:sp>
        <p:nvSpPr>
          <p:cNvPr id="3" name="フッター プレースホルダー 2"/>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2413916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679C3D6E-C23B-4ED9-85E4-A79E58BB37D2}" type="datetime1">
              <a:rPr kumimoji="1" lang="ja-JP" altLang="en-US" smtClean="0"/>
              <a:t>2026/6/18</a:t>
            </a:fld>
            <a:endParaRPr kumimoji="1" lang="ja-JP" altLang="en-US"/>
          </a:p>
        </p:txBody>
      </p:sp>
      <p:sp>
        <p:nvSpPr>
          <p:cNvPr id="6" name="フッター プレースホルダー 5"/>
          <p:cNvSpPr>
            <a:spLocks noGrp="1"/>
          </p:cNvSpPr>
          <p:nvPr>
            <p:ph type="ftr" sz="quarter" idx="11"/>
          </p:nvPr>
        </p:nvSpPr>
        <p:spPr/>
        <p:txBody>
          <a:bodyPr/>
          <a:lstStyle/>
          <a:p>
            <a:r>
              <a:rPr kumimoji="1" lang="ja-JP" altLang="en-US"/>
              <a:t>ポリテクセンター栃木</a:t>
            </a:r>
          </a:p>
        </p:txBody>
      </p:sp>
      <p:sp>
        <p:nvSpPr>
          <p:cNvPr id="7" name="スライド番号プレースホルダー 6"/>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621923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158D75BC-F7BF-4C52-9FA4-36DA3EDF8C32}" type="datetime1">
              <a:rPr kumimoji="1" lang="ja-JP" altLang="en-US" smtClean="0"/>
              <a:t>2026/6/18</a:t>
            </a:fld>
            <a:endParaRPr kumimoji="1" lang="ja-JP" altLang="en-US"/>
          </a:p>
        </p:txBody>
      </p:sp>
      <p:sp>
        <p:nvSpPr>
          <p:cNvPr id="6" name="フッター プレースホルダー 5"/>
          <p:cNvSpPr>
            <a:spLocks noGrp="1"/>
          </p:cNvSpPr>
          <p:nvPr>
            <p:ph type="ftr" sz="quarter" idx="11"/>
          </p:nvPr>
        </p:nvSpPr>
        <p:spPr/>
        <p:txBody>
          <a:bodyPr/>
          <a:lstStyle/>
          <a:p>
            <a:r>
              <a:rPr kumimoji="1" lang="ja-JP" altLang="en-US"/>
              <a:t>ポリテクセンター栃木</a:t>
            </a:r>
          </a:p>
        </p:txBody>
      </p:sp>
      <p:sp>
        <p:nvSpPr>
          <p:cNvPr id="7" name="スライド番号プレースホルダー 6"/>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3397140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1E00A92D-8444-473F-AE84-F8FB5692D49B}" type="datetime1">
              <a:rPr kumimoji="1" lang="ja-JP" altLang="en-US" smtClean="0"/>
              <a:t>2026/6/18</a:t>
            </a:fld>
            <a:endParaRPr kumimoji="1" lang="ja-JP" altLang="en-US"/>
          </a:p>
        </p:txBody>
      </p:sp>
      <p:sp>
        <p:nvSpPr>
          <p:cNvPr id="5" name="フッター プレースホルダー 4"/>
          <p:cNvSpPr>
            <a:spLocks noGrp="1"/>
          </p:cNvSpPr>
          <p:nvPr>
            <p:ph type="ftr" sz="quarter" idx="11"/>
          </p:nvPr>
        </p:nvSpPr>
        <p:spPr/>
        <p:txBody>
          <a:bodyPr/>
          <a:lstStyle/>
          <a:p>
            <a:r>
              <a:rPr kumimoji="1" lang="ja-JP" altLang="en-US"/>
              <a:t>ポリテクセンター栃木</a:t>
            </a:r>
          </a:p>
        </p:txBody>
      </p:sp>
      <p:sp>
        <p:nvSpPr>
          <p:cNvPr id="6" name="スライド番号プレースホルダー 5"/>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1463709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6759CC90-2764-41E9-8016-4CB1177420E0}" type="datetime1">
              <a:rPr kumimoji="1" lang="ja-JP" altLang="en-US" smtClean="0"/>
              <a:t>2026/6/18</a:t>
            </a:fld>
            <a:endParaRPr kumimoji="1" lang="ja-JP" altLang="en-US"/>
          </a:p>
        </p:txBody>
      </p:sp>
      <p:sp>
        <p:nvSpPr>
          <p:cNvPr id="5" name="フッター プレースホルダー 4"/>
          <p:cNvSpPr>
            <a:spLocks noGrp="1"/>
          </p:cNvSpPr>
          <p:nvPr>
            <p:ph type="ftr" sz="quarter" idx="11"/>
          </p:nvPr>
        </p:nvSpPr>
        <p:spPr/>
        <p:txBody>
          <a:bodyPr/>
          <a:lstStyle/>
          <a:p>
            <a:r>
              <a:rPr kumimoji="1" lang="ja-JP" altLang="en-US"/>
              <a:t>ポリテクセンター栃木</a:t>
            </a:r>
          </a:p>
        </p:txBody>
      </p:sp>
      <p:sp>
        <p:nvSpPr>
          <p:cNvPr id="6" name="スライド番号プレースホルダー 5"/>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2189541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079B81-3CF2-473E-AC2B-CE7307A44B61}" type="datetime1">
              <a:rPr kumimoji="1" lang="ja-JP" altLang="en-US" smtClean="0"/>
              <a:t>2026/6/18</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kumimoji="1" lang="ja-JP" altLang="en-US"/>
              <a:t>ポリテクセンター栃木</a:t>
            </a:r>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3889900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png"/><Relationship Id="rId2" Type="http://schemas.microsoft.com/office/2017/06/relationships/model3d" Target="../media/model3d1.glb"/><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microsoft.com/office/2017/06/relationships/model3d" Target="../media/model3d2.glb"/></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画像と画像処理について</a:t>
            </a:r>
          </a:p>
        </p:txBody>
      </p:sp>
      <p:sp>
        <p:nvSpPr>
          <p:cNvPr id="3" name="サブタイトル 2"/>
          <p:cNvSpPr>
            <a:spLocks noGrp="1"/>
          </p:cNvSpPr>
          <p:nvPr>
            <p:ph type="subTitle" idx="1"/>
          </p:nvPr>
        </p:nvSpPr>
        <p:spPr/>
        <p:txBody>
          <a:bodyPr/>
          <a:lstStyle/>
          <a:p>
            <a:endParaRPr kumimoji="1" lang="en-US" altLang="ja-JP" dirty="0"/>
          </a:p>
          <a:p>
            <a:r>
              <a:rPr kumimoji="1" lang="ja-JP" altLang="en-US" dirty="0"/>
              <a:t>ポリテクセンター栃木</a:t>
            </a:r>
          </a:p>
        </p:txBody>
      </p:sp>
      <p:sp>
        <p:nvSpPr>
          <p:cNvPr id="4" name="フッター プレースホルダー 3">
            <a:extLst>
              <a:ext uri="{FF2B5EF4-FFF2-40B4-BE49-F238E27FC236}">
                <a16:creationId xmlns:a16="http://schemas.microsoft.com/office/drawing/2014/main" id="{CD4D7059-C1D6-3559-F705-C22CC778D968}"/>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A8B394A6-DECB-D9AC-02BD-6B01074887D8}"/>
              </a:ext>
            </a:extLst>
          </p:cNvPr>
          <p:cNvSpPr>
            <a:spLocks noGrp="1"/>
          </p:cNvSpPr>
          <p:nvPr>
            <p:ph type="sldNum" sz="quarter" idx="12"/>
          </p:nvPr>
        </p:nvSpPr>
        <p:spPr/>
        <p:txBody>
          <a:bodyPr/>
          <a:lstStyle/>
          <a:p>
            <a:fld id="{15F8CBF0-873C-4A82-8701-EEE0E47109A0}" type="slidenum">
              <a:rPr kumimoji="1" lang="ja-JP" altLang="en-US" smtClean="0"/>
              <a:t>1</a:t>
            </a:fld>
            <a:endParaRPr kumimoji="1" lang="ja-JP" altLang="en-US"/>
          </a:p>
        </p:txBody>
      </p:sp>
    </p:spTree>
    <p:extLst>
      <p:ext uri="{BB962C8B-B14F-4D97-AF65-F5344CB8AC3E}">
        <p14:creationId xmlns:p14="http://schemas.microsoft.com/office/powerpoint/2010/main" val="1240304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画像とは？？？</a:t>
            </a:r>
          </a:p>
        </p:txBody>
      </p:sp>
      <p:pic>
        <p:nvPicPr>
          <p:cNvPr id="4" name="コンテンツ プレースホルダー 3"/>
          <p:cNvPicPr>
            <a:picLocks noGrp="1" noChangeAspect="1"/>
          </p:cNvPicPr>
          <p:nvPr>
            <p:ph idx="1"/>
          </p:nvPr>
        </p:nvPicPr>
        <p:blipFill>
          <a:blip r:embed="rId2"/>
          <a:stretch>
            <a:fillRect/>
          </a:stretch>
        </p:blipFill>
        <p:spPr>
          <a:xfrm>
            <a:off x="1078245" y="1690688"/>
            <a:ext cx="9980280" cy="2384923"/>
          </a:xfrm>
          <a:prstGeom prst="rect">
            <a:avLst/>
          </a:prstGeom>
        </p:spPr>
      </p:pic>
      <p:sp>
        <p:nvSpPr>
          <p:cNvPr id="5" name="テキスト ボックス 4"/>
          <p:cNvSpPr txBox="1"/>
          <p:nvPr/>
        </p:nvSpPr>
        <p:spPr>
          <a:xfrm>
            <a:off x="1078245" y="4258491"/>
            <a:ext cx="9980280" cy="2062103"/>
          </a:xfrm>
          <a:prstGeom prst="rect">
            <a:avLst/>
          </a:prstGeom>
          <a:noFill/>
        </p:spPr>
        <p:txBody>
          <a:bodyPr wrap="square" rtlCol="0">
            <a:spAutoFit/>
          </a:bodyPr>
          <a:lstStyle/>
          <a:p>
            <a:r>
              <a:rPr lang="ja-JP" altLang="en-US" sz="3200" dirty="0"/>
              <a:t>本セミナーでは、</a:t>
            </a:r>
            <a:endParaRPr lang="en-US" altLang="ja-JP" sz="3200" dirty="0"/>
          </a:p>
          <a:p>
            <a:r>
              <a:rPr lang="ja-JP" altLang="en-US" sz="3200" b="1" dirty="0"/>
              <a:t>画像＝</a:t>
            </a:r>
            <a:r>
              <a:rPr lang="en-US" altLang="ja-JP" sz="3200" b="1" dirty="0"/>
              <a:t>PC</a:t>
            </a:r>
            <a:r>
              <a:rPr lang="ja-JP" altLang="en-US" sz="3200" b="1" dirty="0"/>
              <a:t>やスマホのプログラムで処理することで静止画として表現可能なデータ</a:t>
            </a:r>
            <a:endParaRPr lang="en-US" altLang="ja-JP" sz="3200" b="1" dirty="0"/>
          </a:p>
          <a:p>
            <a:r>
              <a:rPr kumimoji="1" lang="ja-JP" altLang="en-US" sz="3200" dirty="0"/>
              <a:t>とします</a:t>
            </a:r>
            <a:endParaRPr kumimoji="1" lang="en-US" altLang="ja-JP" sz="3200" dirty="0"/>
          </a:p>
        </p:txBody>
      </p:sp>
      <p:sp>
        <p:nvSpPr>
          <p:cNvPr id="3" name="フッター プレースホルダー 2">
            <a:extLst>
              <a:ext uri="{FF2B5EF4-FFF2-40B4-BE49-F238E27FC236}">
                <a16:creationId xmlns:a16="http://schemas.microsoft.com/office/drawing/2014/main" id="{E1BC9CDC-2B25-7F3D-41AB-CE094BF1D205}"/>
              </a:ext>
            </a:extLst>
          </p:cNvPr>
          <p:cNvSpPr>
            <a:spLocks noGrp="1"/>
          </p:cNvSpPr>
          <p:nvPr>
            <p:ph type="ftr" sz="quarter" idx="11"/>
          </p:nvPr>
        </p:nvSpPr>
        <p:spPr/>
        <p:txBody>
          <a:bodyPr/>
          <a:lstStyle/>
          <a:p>
            <a:r>
              <a:rPr kumimoji="1" lang="ja-JP" altLang="en-US"/>
              <a:t>ポリテクセンター栃木</a:t>
            </a:r>
          </a:p>
        </p:txBody>
      </p:sp>
      <p:sp>
        <p:nvSpPr>
          <p:cNvPr id="6" name="スライド番号プレースホルダー 5">
            <a:extLst>
              <a:ext uri="{FF2B5EF4-FFF2-40B4-BE49-F238E27FC236}">
                <a16:creationId xmlns:a16="http://schemas.microsoft.com/office/drawing/2014/main" id="{B057A743-948F-1CDA-C464-74FAB51B6AE5}"/>
              </a:ext>
            </a:extLst>
          </p:cNvPr>
          <p:cNvSpPr>
            <a:spLocks noGrp="1"/>
          </p:cNvSpPr>
          <p:nvPr>
            <p:ph type="sldNum" sz="quarter" idx="12"/>
          </p:nvPr>
        </p:nvSpPr>
        <p:spPr/>
        <p:txBody>
          <a:bodyPr/>
          <a:lstStyle/>
          <a:p>
            <a:fld id="{15F8CBF0-873C-4A82-8701-EEE0E47109A0}" type="slidenum">
              <a:rPr kumimoji="1" lang="ja-JP" altLang="en-US" smtClean="0"/>
              <a:t>2</a:t>
            </a:fld>
            <a:endParaRPr kumimoji="1" lang="ja-JP" altLang="en-US"/>
          </a:p>
        </p:txBody>
      </p:sp>
    </p:spTree>
    <p:extLst>
      <p:ext uri="{BB962C8B-B14F-4D97-AF65-F5344CB8AC3E}">
        <p14:creationId xmlns:p14="http://schemas.microsoft.com/office/powerpoint/2010/main" val="2052485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デジタル</a:t>
            </a:r>
            <a:r>
              <a:rPr kumimoji="1" lang="ja-JP" altLang="en-US" dirty="0"/>
              <a:t>画像の表示の流れ</a:t>
            </a:r>
          </a:p>
        </p:txBody>
      </p:sp>
      <p:sp>
        <p:nvSpPr>
          <p:cNvPr id="3" name="テキスト ボックス 2"/>
          <p:cNvSpPr txBox="1"/>
          <p:nvPr/>
        </p:nvSpPr>
        <p:spPr>
          <a:xfrm>
            <a:off x="1230086" y="4721270"/>
            <a:ext cx="2427514" cy="646331"/>
          </a:xfrm>
          <a:prstGeom prst="rect">
            <a:avLst/>
          </a:prstGeom>
          <a:noFill/>
        </p:spPr>
        <p:txBody>
          <a:bodyPr wrap="square" rtlCol="0">
            <a:spAutoFit/>
          </a:bodyPr>
          <a:lstStyle/>
          <a:p>
            <a:pPr algn="ctr"/>
            <a:r>
              <a:rPr kumimoji="1" lang="ja-JP" altLang="en-US" dirty="0"/>
              <a:t>画像ファイル</a:t>
            </a:r>
            <a:endParaRPr kumimoji="1" lang="en-US" altLang="ja-JP" dirty="0"/>
          </a:p>
          <a:p>
            <a:pPr algn="ctr"/>
            <a:r>
              <a:rPr lang="ja-JP" altLang="en-US" dirty="0"/>
              <a:t>（テキストデータ）</a:t>
            </a:r>
            <a:endParaRPr kumimoji="1" lang="ja-JP" altLang="en-US" dirty="0"/>
          </a:p>
        </p:txBody>
      </p:sp>
      <p:pic>
        <p:nvPicPr>
          <p:cNvPr id="10" name="図 9"/>
          <p:cNvPicPr>
            <a:picLocks noChangeAspect="1"/>
          </p:cNvPicPr>
          <p:nvPr/>
        </p:nvPicPr>
        <p:blipFill>
          <a:blip r:embed="rId2"/>
          <a:stretch>
            <a:fillRect/>
          </a:stretch>
        </p:blipFill>
        <p:spPr>
          <a:xfrm>
            <a:off x="1435009" y="2225065"/>
            <a:ext cx="2017668" cy="2341491"/>
          </a:xfrm>
          <a:prstGeom prst="rect">
            <a:avLst/>
          </a:prstGeom>
        </p:spPr>
      </p:pic>
      <p:sp>
        <p:nvSpPr>
          <p:cNvPr id="11" name="右矢印 10"/>
          <p:cNvSpPr/>
          <p:nvPr/>
        </p:nvSpPr>
        <p:spPr>
          <a:xfrm>
            <a:off x="3958046" y="3317966"/>
            <a:ext cx="3108960" cy="5486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p:cNvSpPr txBox="1"/>
          <p:nvPr/>
        </p:nvSpPr>
        <p:spPr>
          <a:xfrm>
            <a:off x="4298769" y="3864700"/>
            <a:ext cx="2427514" cy="369332"/>
          </a:xfrm>
          <a:prstGeom prst="rect">
            <a:avLst/>
          </a:prstGeom>
          <a:noFill/>
        </p:spPr>
        <p:txBody>
          <a:bodyPr wrap="square" rtlCol="0">
            <a:spAutoFit/>
          </a:bodyPr>
          <a:lstStyle/>
          <a:p>
            <a:pPr algn="ctr"/>
            <a:r>
              <a:rPr kumimoji="1" lang="ja-JP" altLang="en-US" dirty="0"/>
              <a:t>ソフトウェアで処理</a:t>
            </a:r>
          </a:p>
        </p:txBody>
      </p:sp>
      <p:pic>
        <p:nvPicPr>
          <p:cNvPr id="13" name="図 12"/>
          <p:cNvPicPr>
            <a:picLocks noChangeAspect="1"/>
          </p:cNvPicPr>
          <p:nvPr/>
        </p:nvPicPr>
        <p:blipFill>
          <a:blip r:embed="rId3"/>
          <a:stretch>
            <a:fillRect/>
          </a:stretch>
        </p:blipFill>
        <p:spPr>
          <a:xfrm>
            <a:off x="7572375" y="1557601"/>
            <a:ext cx="3476625" cy="3810000"/>
          </a:xfrm>
          <a:prstGeom prst="rect">
            <a:avLst/>
          </a:prstGeom>
        </p:spPr>
      </p:pic>
      <p:sp>
        <p:nvSpPr>
          <p:cNvPr id="14" name="テキスト ボックス 13"/>
          <p:cNvSpPr txBox="1"/>
          <p:nvPr/>
        </p:nvSpPr>
        <p:spPr>
          <a:xfrm>
            <a:off x="8096930" y="5454677"/>
            <a:ext cx="2427514" cy="369332"/>
          </a:xfrm>
          <a:prstGeom prst="rect">
            <a:avLst/>
          </a:prstGeom>
          <a:noFill/>
        </p:spPr>
        <p:txBody>
          <a:bodyPr wrap="square" rtlCol="0">
            <a:spAutoFit/>
          </a:bodyPr>
          <a:lstStyle/>
          <a:p>
            <a:pPr algn="ctr"/>
            <a:r>
              <a:rPr kumimoji="1" lang="ja-JP" altLang="en-US" dirty="0"/>
              <a:t>画像を表示</a:t>
            </a:r>
          </a:p>
        </p:txBody>
      </p:sp>
      <p:sp>
        <p:nvSpPr>
          <p:cNvPr id="15" name="テキスト ボックス 14"/>
          <p:cNvSpPr txBox="1"/>
          <p:nvPr/>
        </p:nvSpPr>
        <p:spPr>
          <a:xfrm>
            <a:off x="2516777" y="5969655"/>
            <a:ext cx="7158445" cy="523220"/>
          </a:xfrm>
          <a:prstGeom prst="rect">
            <a:avLst/>
          </a:prstGeom>
          <a:noFill/>
        </p:spPr>
        <p:txBody>
          <a:bodyPr wrap="square" rtlCol="0">
            <a:spAutoFit/>
          </a:bodyPr>
          <a:lstStyle/>
          <a:p>
            <a:pPr algn="ctr"/>
            <a:r>
              <a:rPr lang="ja-JP" altLang="en-US" sz="2800" b="1" dirty="0"/>
              <a:t>画像の本体はただのテキストデータ！</a:t>
            </a:r>
            <a:endParaRPr kumimoji="1" lang="ja-JP" altLang="en-US" sz="2800" b="1" dirty="0"/>
          </a:p>
        </p:txBody>
      </p:sp>
      <p:sp>
        <p:nvSpPr>
          <p:cNvPr id="4" name="フッター プレースホルダー 3">
            <a:extLst>
              <a:ext uri="{FF2B5EF4-FFF2-40B4-BE49-F238E27FC236}">
                <a16:creationId xmlns:a16="http://schemas.microsoft.com/office/drawing/2014/main" id="{569C338E-EFB5-BC77-6073-C2BAD6B116F3}"/>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3D283F5E-C8C7-A402-BD77-C769395C924E}"/>
              </a:ext>
            </a:extLst>
          </p:cNvPr>
          <p:cNvSpPr>
            <a:spLocks noGrp="1"/>
          </p:cNvSpPr>
          <p:nvPr>
            <p:ph type="sldNum" sz="quarter" idx="12"/>
          </p:nvPr>
        </p:nvSpPr>
        <p:spPr/>
        <p:txBody>
          <a:bodyPr/>
          <a:lstStyle/>
          <a:p>
            <a:fld id="{15F8CBF0-873C-4A82-8701-EEE0E47109A0}" type="slidenum">
              <a:rPr kumimoji="1" lang="ja-JP" altLang="en-US" smtClean="0"/>
              <a:t>3</a:t>
            </a:fld>
            <a:endParaRPr kumimoji="1" lang="ja-JP" altLang="en-US"/>
          </a:p>
        </p:txBody>
      </p:sp>
    </p:spTree>
    <p:extLst>
      <p:ext uri="{BB962C8B-B14F-4D97-AF65-F5344CB8AC3E}">
        <p14:creationId xmlns:p14="http://schemas.microsoft.com/office/powerpoint/2010/main" val="739224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デジタル</a:t>
            </a:r>
            <a:r>
              <a:rPr kumimoji="1" lang="ja-JP" altLang="en-US" dirty="0"/>
              <a:t>画像の表示の流れ（具体的に）</a:t>
            </a:r>
          </a:p>
        </p:txBody>
      </p:sp>
      <p:sp>
        <p:nvSpPr>
          <p:cNvPr id="4" name="正方形/長方形 3"/>
          <p:cNvSpPr/>
          <p:nvPr/>
        </p:nvSpPr>
        <p:spPr>
          <a:xfrm>
            <a:off x="261983" y="1309914"/>
            <a:ext cx="5381897" cy="45328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altLang="ja-JP" sz="2000" dirty="0"/>
              <a:t>P2</a:t>
            </a:r>
          </a:p>
          <a:p>
            <a:r>
              <a:rPr lang="en-US" altLang="ja-JP" sz="2000" dirty="0"/>
              <a:t>11 11</a:t>
            </a:r>
          </a:p>
          <a:p>
            <a:r>
              <a:rPr lang="en-US" altLang="ja-JP" sz="2000" dirty="0"/>
              <a:t>255</a:t>
            </a:r>
          </a:p>
          <a:p>
            <a:r>
              <a:rPr lang="en-US" altLang="ja-JP" sz="2000" dirty="0"/>
              <a:t>255 255 255 255 255 0 255 255 255 255 255</a:t>
            </a:r>
          </a:p>
          <a:p>
            <a:r>
              <a:rPr lang="en-US" altLang="ja-JP" sz="2000" dirty="0"/>
              <a:t>255 255 255 255 0 0 0 255 255 255 255</a:t>
            </a:r>
          </a:p>
          <a:p>
            <a:r>
              <a:rPr lang="en-US" altLang="ja-JP" sz="2000" dirty="0"/>
              <a:t>255 255 255 0 0 0 0 0 255 255 255</a:t>
            </a:r>
          </a:p>
          <a:p>
            <a:r>
              <a:rPr lang="en-US" altLang="ja-JP" sz="2000" dirty="0"/>
              <a:t>255 255 0 0 0 0 0 0 0 255 255</a:t>
            </a:r>
          </a:p>
          <a:p>
            <a:r>
              <a:rPr lang="en-US" altLang="ja-JP" sz="2000" dirty="0"/>
              <a:t>255 255 0 0 255 0 255 0 0 255 255</a:t>
            </a:r>
          </a:p>
          <a:p>
            <a:r>
              <a:rPr lang="en-US" altLang="ja-JP" sz="2000" dirty="0"/>
              <a:t>255 255 0 0 0 0 0 0 0 255 255</a:t>
            </a:r>
          </a:p>
          <a:p>
            <a:r>
              <a:rPr lang="en-US" altLang="ja-JP" sz="2000" dirty="0"/>
              <a:t>255 255 0 0 255 0 255 0 0 255 255</a:t>
            </a:r>
          </a:p>
          <a:p>
            <a:r>
              <a:rPr lang="en-US" altLang="ja-JP" sz="2000" dirty="0"/>
              <a:t>255 255 0 0 255 255 255 0 0 255 255</a:t>
            </a:r>
          </a:p>
          <a:p>
            <a:r>
              <a:rPr lang="en-US" altLang="ja-JP" sz="2000" dirty="0"/>
              <a:t>255 0 0 0 0 0 0 0 0 0 255</a:t>
            </a:r>
          </a:p>
          <a:p>
            <a:r>
              <a:rPr lang="en-US" altLang="ja-JP" sz="2000" dirty="0"/>
              <a:t>0 0 0 0 0 0 0 0 0 0 0</a:t>
            </a:r>
          </a:p>
          <a:p>
            <a:r>
              <a:rPr lang="en-US" altLang="ja-JP" sz="2000" dirty="0"/>
              <a:t>255 255 255 0 255 255 255 0 255 255 255</a:t>
            </a:r>
            <a:endParaRPr kumimoji="1" lang="ja-JP" altLang="en-US" sz="2000" dirty="0"/>
          </a:p>
        </p:txBody>
      </p:sp>
      <p:sp>
        <p:nvSpPr>
          <p:cNvPr id="5" name="テキスト ボックス 4"/>
          <p:cNvSpPr txBox="1"/>
          <p:nvPr/>
        </p:nvSpPr>
        <p:spPr>
          <a:xfrm>
            <a:off x="261983" y="5842723"/>
            <a:ext cx="5181598" cy="369332"/>
          </a:xfrm>
          <a:prstGeom prst="rect">
            <a:avLst/>
          </a:prstGeom>
          <a:noFill/>
        </p:spPr>
        <p:txBody>
          <a:bodyPr wrap="square" rtlCol="0">
            <a:spAutoFit/>
          </a:bodyPr>
          <a:lstStyle/>
          <a:p>
            <a:pPr algn="ctr"/>
            <a:r>
              <a:rPr lang="en-US" altLang="ja-JP" dirty="0" err="1"/>
              <a:t>HalloTrainKun.pgm</a:t>
            </a:r>
            <a:r>
              <a:rPr lang="ja-JP" altLang="en-US" dirty="0"/>
              <a:t>　</a:t>
            </a:r>
            <a:r>
              <a:rPr kumimoji="1" lang="en-US" altLang="ja-JP" dirty="0"/>
              <a:t>(</a:t>
            </a:r>
            <a:r>
              <a:rPr kumimoji="1" lang="ja-JP" altLang="en-US" dirty="0"/>
              <a:t>画像ファイル</a:t>
            </a:r>
            <a:r>
              <a:rPr kumimoji="1" lang="en-US" altLang="ja-JP" dirty="0"/>
              <a:t>)</a:t>
            </a:r>
            <a:endParaRPr kumimoji="1" lang="ja-JP" altLang="en-US" dirty="0"/>
          </a:p>
        </p:txBody>
      </p:sp>
      <p:sp>
        <p:nvSpPr>
          <p:cNvPr id="6" name="右矢印 5"/>
          <p:cNvSpPr/>
          <p:nvPr/>
        </p:nvSpPr>
        <p:spPr>
          <a:xfrm>
            <a:off x="5994399" y="3513795"/>
            <a:ext cx="1293223" cy="3788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5691777" y="4061822"/>
            <a:ext cx="1898468" cy="646331"/>
          </a:xfrm>
          <a:prstGeom prst="rect">
            <a:avLst/>
          </a:prstGeom>
          <a:noFill/>
        </p:spPr>
        <p:txBody>
          <a:bodyPr wrap="square" rtlCol="0">
            <a:spAutoFit/>
          </a:bodyPr>
          <a:lstStyle/>
          <a:p>
            <a:r>
              <a:rPr lang="ja-JP" altLang="en-US" dirty="0"/>
              <a:t>ソフトウェアで</a:t>
            </a:r>
            <a:endParaRPr lang="en-US" altLang="ja-JP" dirty="0"/>
          </a:p>
          <a:p>
            <a:r>
              <a:rPr lang="ja-JP" altLang="en-US" dirty="0"/>
              <a:t>読み込み</a:t>
            </a:r>
            <a:endParaRPr kumimoji="1" lang="ja-JP" altLang="en-US" dirty="0"/>
          </a:p>
        </p:txBody>
      </p:sp>
      <p:pic>
        <p:nvPicPr>
          <p:cNvPr id="8" name="図 7"/>
          <p:cNvPicPr>
            <a:picLocks noChangeAspect="1"/>
          </p:cNvPicPr>
          <p:nvPr/>
        </p:nvPicPr>
        <p:blipFill>
          <a:blip r:embed="rId2"/>
          <a:stretch>
            <a:fillRect/>
          </a:stretch>
        </p:blipFill>
        <p:spPr>
          <a:xfrm>
            <a:off x="7590245" y="1891857"/>
            <a:ext cx="4375932" cy="3622698"/>
          </a:xfrm>
          <a:prstGeom prst="rect">
            <a:avLst/>
          </a:prstGeom>
        </p:spPr>
      </p:pic>
      <p:sp>
        <p:nvSpPr>
          <p:cNvPr id="9" name="テキスト ボックス 8"/>
          <p:cNvSpPr txBox="1"/>
          <p:nvPr/>
        </p:nvSpPr>
        <p:spPr>
          <a:xfrm>
            <a:off x="7590246" y="5519558"/>
            <a:ext cx="4375932" cy="646331"/>
          </a:xfrm>
          <a:prstGeom prst="rect">
            <a:avLst/>
          </a:prstGeom>
          <a:noFill/>
        </p:spPr>
        <p:txBody>
          <a:bodyPr wrap="square" rtlCol="0">
            <a:spAutoFit/>
          </a:bodyPr>
          <a:lstStyle/>
          <a:p>
            <a:pPr algn="ctr"/>
            <a:r>
              <a:rPr lang="en-US" altLang="ja-JP" dirty="0"/>
              <a:t>GIMP</a:t>
            </a:r>
            <a:r>
              <a:rPr lang="ja-JP" altLang="en-US" dirty="0"/>
              <a:t>などで表示！</a:t>
            </a:r>
            <a:endParaRPr lang="en-US" altLang="ja-JP" dirty="0"/>
          </a:p>
          <a:p>
            <a:pPr algn="ctr"/>
            <a:r>
              <a:rPr kumimoji="1" lang="ja-JP" altLang="en-US" dirty="0"/>
              <a:t>（</a:t>
            </a:r>
            <a:r>
              <a:rPr lang="ja-JP" altLang="en-US" dirty="0"/>
              <a:t>上画像は </a:t>
            </a:r>
            <a:r>
              <a:rPr kumimoji="1" lang="en-US" altLang="ja-JP" dirty="0"/>
              <a:t>Eye of MATE</a:t>
            </a:r>
            <a:r>
              <a:rPr kumimoji="1" lang="ja-JP" altLang="en-US" dirty="0"/>
              <a:t>）</a:t>
            </a:r>
          </a:p>
        </p:txBody>
      </p:sp>
      <p:sp>
        <p:nvSpPr>
          <p:cNvPr id="3" name="テキスト ボックス 2">
            <a:extLst>
              <a:ext uri="{FF2B5EF4-FFF2-40B4-BE49-F238E27FC236}">
                <a16:creationId xmlns:a16="http://schemas.microsoft.com/office/drawing/2014/main" id="{E556164D-8A38-7C65-3B3C-7F37EFB333B0}"/>
              </a:ext>
            </a:extLst>
          </p:cNvPr>
          <p:cNvSpPr txBox="1"/>
          <p:nvPr/>
        </p:nvSpPr>
        <p:spPr>
          <a:xfrm>
            <a:off x="7468199" y="6060333"/>
            <a:ext cx="4497978" cy="307777"/>
          </a:xfrm>
          <a:prstGeom prst="rect">
            <a:avLst/>
          </a:prstGeom>
          <a:noFill/>
        </p:spPr>
        <p:txBody>
          <a:bodyPr wrap="square" rtlCol="0">
            <a:spAutoFit/>
          </a:bodyPr>
          <a:lstStyle/>
          <a:p>
            <a:pPr algn="ctr"/>
            <a:r>
              <a:rPr lang="ja-JP" altLang="en-US" sz="1400" dirty="0"/>
              <a:t>配布フォルダの</a:t>
            </a:r>
            <a:r>
              <a:rPr lang="en-US" altLang="ja-JP" sz="1400" dirty="0"/>
              <a:t>SVG</a:t>
            </a:r>
            <a:r>
              <a:rPr lang="ja-JP" altLang="en-US" sz="1400" dirty="0"/>
              <a:t>形式も見てみましょう</a:t>
            </a:r>
            <a:endParaRPr kumimoji="1" lang="ja-JP" altLang="en-US" sz="1400" dirty="0"/>
          </a:p>
        </p:txBody>
      </p:sp>
      <p:sp>
        <p:nvSpPr>
          <p:cNvPr id="10" name="フッター プレースホルダー 9">
            <a:extLst>
              <a:ext uri="{FF2B5EF4-FFF2-40B4-BE49-F238E27FC236}">
                <a16:creationId xmlns:a16="http://schemas.microsoft.com/office/drawing/2014/main" id="{FAB179C7-3AC0-F18E-7BB9-C8A5EE77388E}"/>
              </a:ext>
            </a:extLst>
          </p:cNvPr>
          <p:cNvSpPr>
            <a:spLocks noGrp="1"/>
          </p:cNvSpPr>
          <p:nvPr>
            <p:ph type="ftr" sz="quarter" idx="11"/>
          </p:nvPr>
        </p:nvSpPr>
        <p:spPr/>
        <p:txBody>
          <a:bodyPr/>
          <a:lstStyle/>
          <a:p>
            <a:r>
              <a:rPr kumimoji="1" lang="ja-JP" altLang="en-US" dirty="0"/>
              <a:t>ポリテクセンター栃木</a:t>
            </a:r>
          </a:p>
        </p:txBody>
      </p:sp>
      <p:sp>
        <p:nvSpPr>
          <p:cNvPr id="11" name="スライド番号プレースホルダー 10">
            <a:extLst>
              <a:ext uri="{FF2B5EF4-FFF2-40B4-BE49-F238E27FC236}">
                <a16:creationId xmlns:a16="http://schemas.microsoft.com/office/drawing/2014/main" id="{947A2360-0B10-345F-03A4-B4F63BCAC8BA}"/>
              </a:ext>
            </a:extLst>
          </p:cNvPr>
          <p:cNvSpPr>
            <a:spLocks noGrp="1"/>
          </p:cNvSpPr>
          <p:nvPr>
            <p:ph type="sldNum" sz="quarter" idx="12"/>
          </p:nvPr>
        </p:nvSpPr>
        <p:spPr/>
        <p:txBody>
          <a:bodyPr/>
          <a:lstStyle/>
          <a:p>
            <a:fld id="{15F8CBF0-873C-4A82-8701-EEE0E47109A0}" type="slidenum">
              <a:rPr kumimoji="1" lang="ja-JP" altLang="en-US" smtClean="0"/>
              <a:t>4</a:t>
            </a:fld>
            <a:endParaRPr kumimoji="1" lang="ja-JP" altLang="en-US"/>
          </a:p>
        </p:txBody>
      </p:sp>
    </p:spTree>
    <p:extLst>
      <p:ext uri="{BB962C8B-B14F-4D97-AF65-F5344CB8AC3E}">
        <p14:creationId xmlns:p14="http://schemas.microsoft.com/office/powerpoint/2010/main" val="2210252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画像の種類　～データ形式で分類～</a:t>
            </a:r>
          </a:p>
        </p:txBody>
      </p:sp>
      <p:sp>
        <p:nvSpPr>
          <p:cNvPr id="3" name="コンテンツ プレースホルダー 2"/>
          <p:cNvSpPr>
            <a:spLocks noGrp="1"/>
          </p:cNvSpPr>
          <p:nvPr>
            <p:ph idx="1"/>
          </p:nvPr>
        </p:nvSpPr>
        <p:spPr>
          <a:xfrm>
            <a:off x="838200" y="1419225"/>
            <a:ext cx="10515600" cy="1887393"/>
          </a:xfrm>
        </p:spPr>
        <p:txBody>
          <a:bodyPr>
            <a:normAutofit/>
          </a:bodyPr>
          <a:lstStyle/>
          <a:p>
            <a:r>
              <a:rPr lang="ja-JP" altLang="en-US" sz="2000" b="1" dirty="0"/>
              <a:t>ラスタ</a:t>
            </a:r>
            <a:r>
              <a:rPr kumimoji="1" lang="ja-JP" altLang="en-US" sz="2000" b="1" dirty="0"/>
              <a:t>画像</a:t>
            </a:r>
            <a:r>
              <a:rPr kumimoji="1" lang="ja-JP" altLang="en-US" sz="2000" dirty="0"/>
              <a:t>（セミナーで利用する形式）</a:t>
            </a:r>
            <a:endParaRPr lang="en-US" altLang="ja-JP" sz="2000" dirty="0"/>
          </a:p>
          <a:p>
            <a:pPr marL="0" indent="0">
              <a:buNone/>
            </a:pPr>
            <a:r>
              <a:rPr lang="en-US" altLang="ja-JP" sz="2000" dirty="0"/>
              <a:t>1pixel</a:t>
            </a:r>
            <a:r>
              <a:rPr lang="ja-JP" altLang="en-US" sz="2000" dirty="0"/>
              <a:t>ごとに色情報を持たせて画像を表現するデータ形式。画像処理はふつうこっち。</a:t>
            </a:r>
            <a:endParaRPr kumimoji="1" lang="en-US" altLang="ja-JP" sz="2000" dirty="0"/>
          </a:p>
          <a:p>
            <a:r>
              <a:rPr lang="ja-JP" altLang="en-US" sz="2000" b="1" dirty="0"/>
              <a:t>ベクタ画像</a:t>
            </a:r>
            <a:endParaRPr lang="en-US" altLang="ja-JP" sz="2000" b="1" dirty="0"/>
          </a:p>
          <a:p>
            <a:pPr marL="0" indent="0">
              <a:buNone/>
            </a:pPr>
            <a:r>
              <a:rPr kumimoji="1" lang="ja-JP" altLang="en-US" sz="2000" dirty="0"/>
              <a:t>点と点を結ぶルールが記述されたデータ形式。拡大してもぼやけないというメリットがあるが画像処理には不向き</a:t>
            </a:r>
          </a:p>
        </p:txBody>
      </p:sp>
      <p:pic>
        <p:nvPicPr>
          <p:cNvPr id="5" name="図 4">
            <a:extLst>
              <a:ext uri="{FF2B5EF4-FFF2-40B4-BE49-F238E27FC236}">
                <a16:creationId xmlns:a16="http://schemas.microsoft.com/office/drawing/2014/main" id="{833C382C-249D-B65A-7E43-1D81E3C28069}"/>
              </a:ext>
            </a:extLst>
          </p:cNvPr>
          <p:cNvPicPr>
            <a:picLocks noChangeAspect="1"/>
          </p:cNvPicPr>
          <p:nvPr/>
        </p:nvPicPr>
        <p:blipFill>
          <a:blip r:embed="rId2"/>
          <a:stretch>
            <a:fillRect/>
          </a:stretch>
        </p:blipFill>
        <p:spPr>
          <a:xfrm>
            <a:off x="1916000" y="3429000"/>
            <a:ext cx="8360000" cy="2950099"/>
          </a:xfrm>
          <a:prstGeom prst="rect">
            <a:avLst/>
          </a:prstGeom>
        </p:spPr>
      </p:pic>
      <p:sp>
        <p:nvSpPr>
          <p:cNvPr id="6" name="正方形/長方形 5">
            <a:extLst>
              <a:ext uri="{FF2B5EF4-FFF2-40B4-BE49-F238E27FC236}">
                <a16:creationId xmlns:a16="http://schemas.microsoft.com/office/drawing/2014/main" id="{53D5DF2E-62A2-DF91-2844-D6EED2788F9F}"/>
              </a:ext>
            </a:extLst>
          </p:cNvPr>
          <p:cNvSpPr/>
          <p:nvPr/>
        </p:nvSpPr>
        <p:spPr>
          <a:xfrm>
            <a:off x="3121891" y="3429000"/>
            <a:ext cx="1699490" cy="4987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ラスタ形式</a:t>
            </a:r>
          </a:p>
        </p:txBody>
      </p:sp>
      <p:sp>
        <p:nvSpPr>
          <p:cNvPr id="7" name="正方形/長方形 6">
            <a:extLst>
              <a:ext uri="{FF2B5EF4-FFF2-40B4-BE49-F238E27FC236}">
                <a16:creationId xmlns:a16="http://schemas.microsoft.com/office/drawing/2014/main" id="{5B692900-9226-AFB9-84B4-FE630D8EC544}"/>
              </a:ext>
            </a:extLst>
          </p:cNvPr>
          <p:cNvSpPr/>
          <p:nvPr/>
        </p:nvSpPr>
        <p:spPr>
          <a:xfrm>
            <a:off x="7370621" y="3429000"/>
            <a:ext cx="1699490" cy="4987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ベクタ形式</a:t>
            </a:r>
          </a:p>
        </p:txBody>
      </p:sp>
      <p:sp>
        <p:nvSpPr>
          <p:cNvPr id="8" name="吹き出し: 角を丸めた四角形 7">
            <a:extLst>
              <a:ext uri="{FF2B5EF4-FFF2-40B4-BE49-F238E27FC236}">
                <a16:creationId xmlns:a16="http://schemas.microsoft.com/office/drawing/2014/main" id="{19117528-62AE-DCF0-469C-B22EEBED644A}"/>
              </a:ext>
            </a:extLst>
          </p:cNvPr>
          <p:cNvSpPr/>
          <p:nvPr/>
        </p:nvSpPr>
        <p:spPr>
          <a:xfrm>
            <a:off x="249382" y="3537526"/>
            <a:ext cx="2872509" cy="1071419"/>
          </a:xfrm>
          <a:prstGeom prst="wedgeRoundRectCallout">
            <a:avLst>
              <a:gd name="adj1" fmla="val 67857"/>
              <a:gd name="adj2" fmla="val 5014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一マス（</a:t>
            </a:r>
            <a:r>
              <a:rPr kumimoji="1" lang="en-US" altLang="ja-JP" dirty="0"/>
              <a:t>1pixel</a:t>
            </a:r>
            <a:r>
              <a:rPr kumimoji="1" lang="ja-JP" altLang="en-US" dirty="0"/>
              <a:t>）ごとに色のデータがある</a:t>
            </a:r>
          </a:p>
        </p:txBody>
      </p:sp>
      <p:sp>
        <p:nvSpPr>
          <p:cNvPr id="10" name="テキスト ボックス 9">
            <a:extLst>
              <a:ext uri="{FF2B5EF4-FFF2-40B4-BE49-F238E27FC236}">
                <a16:creationId xmlns:a16="http://schemas.microsoft.com/office/drawing/2014/main" id="{A1E1909C-276C-F0EF-8621-C4E0632A6E0A}"/>
              </a:ext>
            </a:extLst>
          </p:cNvPr>
          <p:cNvSpPr txBox="1"/>
          <p:nvPr/>
        </p:nvSpPr>
        <p:spPr>
          <a:xfrm>
            <a:off x="115455" y="6356350"/>
            <a:ext cx="3694545" cy="338554"/>
          </a:xfrm>
          <a:prstGeom prst="rect">
            <a:avLst/>
          </a:prstGeom>
          <a:noFill/>
        </p:spPr>
        <p:txBody>
          <a:bodyPr wrap="square">
            <a:spAutoFit/>
          </a:bodyPr>
          <a:lstStyle/>
          <a:p>
            <a:r>
              <a:rPr lang="ja-JP" altLang="en-US" sz="1600" dirty="0"/>
              <a:t>https://blog.ekaki-j.com/imagetype</a:t>
            </a:r>
          </a:p>
        </p:txBody>
      </p:sp>
      <p:sp>
        <p:nvSpPr>
          <p:cNvPr id="11" name="フッター プレースホルダー 10">
            <a:extLst>
              <a:ext uri="{FF2B5EF4-FFF2-40B4-BE49-F238E27FC236}">
                <a16:creationId xmlns:a16="http://schemas.microsoft.com/office/drawing/2014/main" id="{6F8AF2E8-712A-0158-1477-2E0B4FD40A90}"/>
              </a:ext>
            </a:extLst>
          </p:cNvPr>
          <p:cNvSpPr>
            <a:spLocks noGrp="1"/>
          </p:cNvSpPr>
          <p:nvPr>
            <p:ph type="ftr" sz="quarter" idx="11"/>
          </p:nvPr>
        </p:nvSpPr>
        <p:spPr/>
        <p:txBody>
          <a:bodyPr/>
          <a:lstStyle/>
          <a:p>
            <a:r>
              <a:rPr kumimoji="1" lang="ja-JP" altLang="en-US"/>
              <a:t>ポリテクセンター栃木</a:t>
            </a:r>
          </a:p>
        </p:txBody>
      </p:sp>
      <p:sp>
        <p:nvSpPr>
          <p:cNvPr id="12" name="スライド番号プレースホルダー 11">
            <a:extLst>
              <a:ext uri="{FF2B5EF4-FFF2-40B4-BE49-F238E27FC236}">
                <a16:creationId xmlns:a16="http://schemas.microsoft.com/office/drawing/2014/main" id="{AB9B8467-0A8C-5055-447C-ED6DB911AE4E}"/>
              </a:ext>
            </a:extLst>
          </p:cNvPr>
          <p:cNvSpPr>
            <a:spLocks noGrp="1"/>
          </p:cNvSpPr>
          <p:nvPr>
            <p:ph type="sldNum" sz="quarter" idx="12"/>
          </p:nvPr>
        </p:nvSpPr>
        <p:spPr/>
        <p:txBody>
          <a:bodyPr/>
          <a:lstStyle/>
          <a:p>
            <a:fld id="{15F8CBF0-873C-4A82-8701-EEE0E47109A0}" type="slidenum">
              <a:rPr kumimoji="1" lang="ja-JP" altLang="en-US" smtClean="0"/>
              <a:t>5</a:t>
            </a:fld>
            <a:endParaRPr kumimoji="1" lang="ja-JP" altLang="en-US"/>
          </a:p>
        </p:txBody>
      </p:sp>
    </p:spTree>
    <p:extLst>
      <p:ext uri="{BB962C8B-B14F-4D97-AF65-F5344CB8AC3E}">
        <p14:creationId xmlns:p14="http://schemas.microsoft.com/office/powerpoint/2010/main" val="2877518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076C7E-8BA8-5DDA-E5B7-117606207985}"/>
              </a:ext>
            </a:extLst>
          </p:cNvPr>
          <p:cNvSpPr>
            <a:spLocks noGrp="1"/>
          </p:cNvSpPr>
          <p:nvPr>
            <p:ph type="title"/>
          </p:nvPr>
        </p:nvSpPr>
        <p:spPr/>
        <p:txBody>
          <a:bodyPr>
            <a:normAutofit/>
          </a:bodyPr>
          <a:lstStyle/>
          <a:p>
            <a:r>
              <a:rPr kumimoji="1" lang="ja-JP" altLang="en-US" sz="4000" dirty="0"/>
              <a:t>画像の種類　～フォーマット形式 </a:t>
            </a:r>
            <a:r>
              <a:rPr kumimoji="1" lang="en-US" altLang="ja-JP" sz="4000" dirty="0"/>
              <a:t>JPG</a:t>
            </a:r>
            <a:r>
              <a:rPr kumimoji="1" lang="ja-JP" altLang="en-US" sz="4000" dirty="0"/>
              <a:t>～</a:t>
            </a:r>
          </a:p>
        </p:txBody>
      </p:sp>
      <p:sp>
        <p:nvSpPr>
          <p:cNvPr id="3" name="コンテンツ プレースホルダー 2">
            <a:extLst>
              <a:ext uri="{FF2B5EF4-FFF2-40B4-BE49-F238E27FC236}">
                <a16:creationId xmlns:a16="http://schemas.microsoft.com/office/drawing/2014/main" id="{0883B574-F5E7-7C36-35D4-8E634C00E444}"/>
              </a:ext>
            </a:extLst>
          </p:cNvPr>
          <p:cNvSpPr>
            <a:spLocks noGrp="1"/>
          </p:cNvSpPr>
          <p:nvPr>
            <p:ph idx="1"/>
          </p:nvPr>
        </p:nvSpPr>
        <p:spPr>
          <a:xfrm>
            <a:off x="838200" y="1502352"/>
            <a:ext cx="10515600" cy="4351338"/>
          </a:xfrm>
        </p:spPr>
        <p:txBody>
          <a:bodyPr>
            <a:normAutofit/>
          </a:bodyPr>
          <a:lstStyle/>
          <a:p>
            <a:r>
              <a:rPr kumimoji="1" lang="en-US" altLang="ja-JP" dirty="0"/>
              <a:t>24bit</a:t>
            </a:r>
            <a:r>
              <a:rPr kumimoji="1" lang="ja-JP" altLang="en-US" dirty="0"/>
              <a:t>フルカラー（</a:t>
            </a:r>
            <a:r>
              <a:rPr kumimoji="1" lang="en-US" altLang="ja-JP" dirty="0"/>
              <a:t>1pixel</a:t>
            </a:r>
            <a:r>
              <a:rPr kumimoji="1" lang="ja-JP" altLang="en-US" dirty="0"/>
              <a:t>あたり</a:t>
            </a:r>
            <a:r>
              <a:rPr kumimoji="1" lang="en-US" altLang="ja-JP" dirty="0"/>
              <a:t>3</a:t>
            </a:r>
            <a:r>
              <a:rPr kumimoji="1" lang="ja-JP" altLang="en-US" dirty="0"/>
              <a:t>原色</a:t>
            </a:r>
            <a:r>
              <a:rPr kumimoji="1" lang="en-US" altLang="ja-JP" dirty="0"/>
              <a:t>×8bit</a:t>
            </a:r>
            <a:r>
              <a:rPr kumimoji="1" lang="ja-JP" altLang="en-US" dirty="0"/>
              <a:t>≒</a:t>
            </a:r>
            <a:r>
              <a:rPr kumimoji="1" lang="en-US" altLang="ja-JP" dirty="0"/>
              <a:t>1677</a:t>
            </a:r>
            <a:r>
              <a:rPr kumimoji="1" lang="ja-JP" altLang="en-US" dirty="0"/>
              <a:t>万色）を扱うことができる</a:t>
            </a:r>
            <a:endParaRPr kumimoji="1" lang="en-US" altLang="ja-JP" dirty="0"/>
          </a:p>
          <a:p>
            <a:r>
              <a:rPr kumimoji="1" lang="ja-JP" altLang="en-US" b="1" dirty="0"/>
              <a:t>非可逆圧縮方式</a:t>
            </a:r>
            <a:r>
              <a:rPr kumimoji="1" lang="ja-JP" altLang="en-US" dirty="0"/>
              <a:t>を採用しており、データサイズが小さい</a:t>
            </a:r>
            <a:endParaRPr kumimoji="1" lang="en-US" altLang="ja-JP" dirty="0"/>
          </a:p>
          <a:p>
            <a:r>
              <a:rPr kumimoji="1" lang="ja-JP" altLang="en-US" dirty="0"/>
              <a:t>反面、非可逆圧縮なため上書き保存を繰り返すと</a:t>
            </a:r>
            <a:r>
              <a:rPr kumimoji="1" lang="ja-JP" altLang="en-US" b="1" dirty="0"/>
              <a:t>ブロックノイズ</a:t>
            </a:r>
            <a:r>
              <a:rPr kumimoji="1" lang="ja-JP" altLang="en-US" dirty="0"/>
              <a:t>や</a:t>
            </a:r>
            <a:r>
              <a:rPr kumimoji="1" lang="ja-JP" altLang="en-US" b="1" dirty="0"/>
              <a:t>モスキートノイズ</a:t>
            </a:r>
            <a:r>
              <a:rPr kumimoji="1" lang="ja-JP" altLang="en-US" dirty="0"/>
              <a:t>が発生しやすい</a:t>
            </a:r>
          </a:p>
        </p:txBody>
      </p:sp>
      <p:sp>
        <p:nvSpPr>
          <p:cNvPr id="4" name="フッター プレースホルダー 3">
            <a:extLst>
              <a:ext uri="{FF2B5EF4-FFF2-40B4-BE49-F238E27FC236}">
                <a16:creationId xmlns:a16="http://schemas.microsoft.com/office/drawing/2014/main" id="{028C90D0-46BF-1F3E-8B14-E2070F927791}"/>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8FEB62AF-E39E-2BEB-E48C-AA943EF3A2E3}"/>
              </a:ext>
            </a:extLst>
          </p:cNvPr>
          <p:cNvSpPr>
            <a:spLocks noGrp="1"/>
          </p:cNvSpPr>
          <p:nvPr>
            <p:ph type="sldNum" sz="quarter" idx="12"/>
          </p:nvPr>
        </p:nvSpPr>
        <p:spPr/>
        <p:txBody>
          <a:bodyPr/>
          <a:lstStyle/>
          <a:p>
            <a:fld id="{15F8CBF0-873C-4A82-8701-EEE0E47109A0}" type="slidenum">
              <a:rPr kumimoji="1" lang="ja-JP" altLang="en-US" smtClean="0"/>
              <a:t>6</a:t>
            </a:fld>
            <a:endParaRPr kumimoji="1" lang="ja-JP" altLang="en-US"/>
          </a:p>
        </p:txBody>
      </p:sp>
    </p:spTree>
    <p:extLst>
      <p:ext uri="{BB962C8B-B14F-4D97-AF65-F5344CB8AC3E}">
        <p14:creationId xmlns:p14="http://schemas.microsoft.com/office/powerpoint/2010/main" val="3607883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022D3C-93CC-78EB-D49A-2097C5E744D4}"/>
              </a:ext>
            </a:extLst>
          </p:cNvPr>
          <p:cNvSpPr>
            <a:spLocks noGrp="1"/>
          </p:cNvSpPr>
          <p:nvPr>
            <p:ph type="title"/>
          </p:nvPr>
        </p:nvSpPr>
        <p:spPr/>
        <p:txBody>
          <a:bodyPr>
            <a:normAutofit/>
          </a:bodyPr>
          <a:lstStyle/>
          <a:p>
            <a:r>
              <a:rPr kumimoji="1" lang="ja-JP" altLang="en-US" sz="4000" dirty="0"/>
              <a:t>参考：ブロックノイズ、モスキートノイズ</a:t>
            </a:r>
          </a:p>
        </p:txBody>
      </p:sp>
      <p:sp>
        <p:nvSpPr>
          <p:cNvPr id="4" name="フッター プレースホルダー 3">
            <a:extLst>
              <a:ext uri="{FF2B5EF4-FFF2-40B4-BE49-F238E27FC236}">
                <a16:creationId xmlns:a16="http://schemas.microsoft.com/office/drawing/2014/main" id="{75261C61-E60A-A949-5F35-F49CE26A72A5}"/>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DFBE5CE4-6C8C-9A23-BDA6-725F2689087C}"/>
              </a:ext>
            </a:extLst>
          </p:cNvPr>
          <p:cNvSpPr>
            <a:spLocks noGrp="1"/>
          </p:cNvSpPr>
          <p:nvPr>
            <p:ph type="sldNum" sz="quarter" idx="12"/>
          </p:nvPr>
        </p:nvSpPr>
        <p:spPr/>
        <p:txBody>
          <a:bodyPr/>
          <a:lstStyle/>
          <a:p>
            <a:fld id="{15F8CBF0-873C-4A82-8701-EEE0E47109A0}" type="slidenum">
              <a:rPr kumimoji="1" lang="ja-JP" altLang="en-US" smtClean="0"/>
              <a:t>7</a:t>
            </a:fld>
            <a:endParaRPr kumimoji="1" lang="ja-JP" altLang="en-US" dirty="0"/>
          </a:p>
        </p:txBody>
      </p:sp>
      <p:pic>
        <p:nvPicPr>
          <p:cNvPr id="4098" name="Picture 2">
            <a:extLst>
              <a:ext uri="{FF2B5EF4-FFF2-40B4-BE49-F238E27FC236}">
                <a16:creationId xmlns:a16="http://schemas.microsoft.com/office/drawing/2014/main" id="{3BB70582-BAE2-AAB3-30C3-9A8B396408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5145" t="35075" r="10571" b="21152"/>
          <a:stretch/>
        </p:blipFill>
        <p:spPr bwMode="auto">
          <a:xfrm>
            <a:off x="7556647" y="1902605"/>
            <a:ext cx="2982192" cy="285567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A343ACB0-3A50-5FB4-366A-F6E29267A9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712" y="2017455"/>
            <a:ext cx="2381250" cy="253365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6CBB032A-C30E-A2DD-9DAB-7036869DF3F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1678"/>
          <a:stretch/>
        </p:blipFill>
        <p:spPr bwMode="auto">
          <a:xfrm>
            <a:off x="3385631" y="2012548"/>
            <a:ext cx="2471593" cy="2619548"/>
          </a:xfrm>
          <a:prstGeom prst="rect">
            <a:avLst/>
          </a:prstGeom>
          <a:noFill/>
          <a:extLst>
            <a:ext uri="{909E8E84-426E-40DD-AFC4-6F175D3DCCD1}">
              <a14:hiddenFill xmlns:a14="http://schemas.microsoft.com/office/drawing/2010/main">
                <a:solidFill>
                  <a:srgbClr val="FFFFFF"/>
                </a:solidFill>
              </a14:hiddenFill>
            </a:ext>
          </a:extLst>
        </p:spPr>
      </p:pic>
      <p:sp>
        <p:nvSpPr>
          <p:cNvPr id="6" name="吹き出し: 角を丸めた四角形 5">
            <a:extLst>
              <a:ext uri="{FF2B5EF4-FFF2-40B4-BE49-F238E27FC236}">
                <a16:creationId xmlns:a16="http://schemas.microsoft.com/office/drawing/2014/main" id="{02769C4C-B944-A050-CB8F-69B8FEDCFF34}"/>
              </a:ext>
            </a:extLst>
          </p:cNvPr>
          <p:cNvSpPr/>
          <p:nvPr/>
        </p:nvSpPr>
        <p:spPr>
          <a:xfrm>
            <a:off x="1127629" y="4962079"/>
            <a:ext cx="3988665" cy="700925"/>
          </a:xfrm>
          <a:prstGeom prst="wedgeRoundRectCallout">
            <a:avLst>
              <a:gd name="adj1" fmla="val 40894"/>
              <a:gd name="adj2" fmla="val -9833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圧縮によりモザイク状になる。</a:t>
            </a:r>
            <a:endParaRPr kumimoji="1" lang="en-US" altLang="ja-JP" dirty="0"/>
          </a:p>
          <a:p>
            <a:pPr algn="ctr"/>
            <a:r>
              <a:rPr kumimoji="1" lang="ja-JP" altLang="en-US" dirty="0"/>
              <a:t>グラデーションのある部分で目立つ</a:t>
            </a:r>
          </a:p>
        </p:txBody>
      </p:sp>
      <p:sp>
        <p:nvSpPr>
          <p:cNvPr id="7" name="正方形/長方形 6">
            <a:extLst>
              <a:ext uri="{FF2B5EF4-FFF2-40B4-BE49-F238E27FC236}">
                <a16:creationId xmlns:a16="http://schemas.microsoft.com/office/drawing/2014/main" id="{66356683-D795-CCCC-E8BE-501780D134BD}"/>
              </a:ext>
            </a:extLst>
          </p:cNvPr>
          <p:cNvSpPr/>
          <p:nvPr/>
        </p:nvSpPr>
        <p:spPr>
          <a:xfrm>
            <a:off x="2303531" y="1463290"/>
            <a:ext cx="1975860" cy="4987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ブロックノイズ</a:t>
            </a:r>
          </a:p>
        </p:txBody>
      </p:sp>
      <p:sp>
        <p:nvSpPr>
          <p:cNvPr id="8" name="正方形/長方形 7">
            <a:extLst>
              <a:ext uri="{FF2B5EF4-FFF2-40B4-BE49-F238E27FC236}">
                <a16:creationId xmlns:a16="http://schemas.microsoft.com/office/drawing/2014/main" id="{6BEAC1C4-1778-6EB1-E74F-3B2F41AED587}"/>
              </a:ext>
            </a:extLst>
          </p:cNvPr>
          <p:cNvSpPr/>
          <p:nvPr/>
        </p:nvSpPr>
        <p:spPr>
          <a:xfrm>
            <a:off x="7512918" y="1380691"/>
            <a:ext cx="2982192" cy="4987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モスキートノイズ</a:t>
            </a:r>
          </a:p>
        </p:txBody>
      </p:sp>
      <p:sp>
        <p:nvSpPr>
          <p:cNvPr id="9" name="吹き出し: 角を丸めた四角形 8">
            <a:extLst>
              <a:ext uri="{FF2B5EF4-FFF2-40B4-BE49-F238E27FC236}">
                <a16:creationId xmlns:a16="http://schemas.microsoft.com/office/drawing/2014/main" id="{E4209182-46F6-AB2D-BF42-737320A4EFCA}"/>
              </a:ext>
            </a:extLst>
          </p:cNvPr>
          <p:cNvSpPr/>
          <p:nvPr/>
        </p:nvSpPr>
        <p:spPr>
          <a:xfrm>
            <a:off x="6636327" y="4970202"/>
            <a:ext cx="3708400" cy="768265"/>
          </a:xfrm>
          <a:prstGeom prst="wedgeRoundRectCallout">
            <a:avLst>
              <a:gd name="adj1" fmla="val -15050"/>
              <a:gd name="adj2" fmla="val -7223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圧縮により輪郭</a:t>
            </a:r>
            <a:r>
              <a:rPr lang="en-US" altLang="ja-JP" dirty="0"/>
              <a:t>(</a:t>
            </a:r>
            <a:r>
              <a:rPr lang="ja-JP" altLang="en-US" dirty="0"/>
              <a:t>エッジ</a:t>
            </a:r>
            <a:r>
              <a:rPr lang="en-US" altLang="ja-JP" dirty="0"/>
              <a:t>)</a:t>
            </a:r>
            <a:r>
              <a:rPr lang="ja-JP" altLang="en-US" dirty="0"/>
              <a:t>部分に</a:t>
            </a:r>
            <a:endParaRPr lang="en-US" altLang="ja-JP" dirty="0"/>
          </a:p>
          <a:p>
            <a:pPr algn="ctr"/>
            <a:r>
              <a:rPr lang="ja-JP" altLang="en-US" dirty="0"/>
              <a:t>蚊の大群が現れたかのようになる</a:t>
            </a:r>
            <a:endParaRPr kumimoji="1" lang="ja-JP" altLang="en-US" dirty="0"/>
          </a:p>
        </p:txBody>
      </p:sp>
      <p:sp>
        <p:nvSpPr>
          <p:cNvPr id="11" name="テキスト ボックス 10">
            <a:extLst>
              <a:ext uri="{FF2B5EF4-FFF2-40B4-BE49-F238E27FC236}">
                <a16:creationId xmlns:a16="http://schemas.microsoft.com/office/drawing/2014/main" id="{ABACCEB0-ABE1-FBE0-786D-AA7CCFF656CF}"/>
              </a:ext>
            </a:extLst>
          </p:cNvPr>
          <p:cNvSpPr txBox="1"/>
          <p:nvPr/>
        </p:nvSpPr>
        <p:spPr>
          <a:xfrm>
            <a:off x="7315923" y="5770409"/>
            <a:ext cx="3708401" cy="276999"/>
          </a:xfrm>
          <a:prstGeom prst="rect">
            <a:avLst/>
          </a:prstGeom>
          <a:noFill/>
        </p:spPr>
        <p:txBody>
          <a:bodyPr wrap="square">
            <a:spAutoFit/>
          </a:bodyPr>
          <a:lstStyle/>
          <a:p>
            <a:r>
              <a:rPr lang="ja-JP" altLang="en-US" sz="1200" dirty="0"/>
              <a:t>https://ja.wikipedia.org/wiki/モスキートノイズ</a:t>
            </a:r>
          </a:p>
        </p:txBody>
      </p:sp>
      <p:sp>
        <p:nvSpPr>
          <p:cNvPr id="13" name="テキスト ボックス 12">
            <a:extLst>
              <a:ext uri="{FF2B5EF4-FFF2-40B4-BE49-F238E27FC236}">
                <a16:creationId xmlns:a16="http://schemas.microsoft.com/office/drawing/2014/main" id="{D67BE914-EB7F-D379-48FC-403F08507DBE}"/>
              </a:ext>
            </a:extLst>
          </p:cNvPr>
          <p:cNvSpPr txBox="1"/>
          <p:nvPr/>
        </p:nvSpPr>
        <p:spPr>
          <a:xfrm>
            <a:off x="1407170" y="5731377"/>
            <a:ext cx="4180179" cy="261610"/>
          </a:xfrm>
          <a:prstGeom prst="rect">
            <a:avLst/>
          </a:prstGeom>
          <a:noFill/>
        </p:spPr>
        <p:txBody>
          <a:bodyPr wrap="square">
            <a:spAutoFit/>
          </a:bodyPr>
          <a:lstStyle/>
          <a:p>
            <a:r>
              <a:rPr lang="ja-JP" altLang="en-US" sz="1100" dirty="0"/>
              <a:t>https://ja.wikipedia.org/</a:t>
            </a:r>
            <a:r>
              <a:rPr lang="ja-JP" altLang="en-US" sz="1100"/>
              <a:t>wiki/</a:t>
            </a:r>
            <a:r>
              <a:rPr lang="ja-JP" altLang="en-US" sz="1100" dirty="0"/>
              <a:t>ブロックノイズ</a:t>
            </a:r>
          </a:p>
        </p:txBody>
      </p:sp>
    </p:spTree>
    <p:extLst>
      <p:ext uri="{BB962C8B-B14F-4D97-AF65-F5344CB8AC3E}">
        <p14:creationId xmlns:p14="http://schemas.microsoft.com/office/powerpoint/2010/main" val="470406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076C7E-8BA8-5DDA-E5B7-117606207985}"/>
              </a:ext>
            </a:extLst>
          </p:cNvPr>
          <p:cNvSpPr>
            <a:spLocks noGrp="1"/>
          </p:cNvSpPr>
          <p:nvPr>
            <p:ph type="title"/>
          </p:nvPr>
        </p:nvSpPr>
        <p:spPr/>
        <p:txBody>
          <a:bodyPr>
            <a:normAutofit/>
          </a:bodyPr>
          <a:lstStyle/>
          <a:p>
            <a:r>
              <a:rPr kumimoji="1" lang="ja-JP" altLang="en-US" sz="4000" dirty="0"/>
              <a:t>画像の種類　～フォーマット形式 </a:t>
            </a:r>
            <a:r>
              <a:rPr kumimoji="1" lang="en-US" altLang="ja-JP" sz="4000" dirty="0"/>
              <a:t>PNG</a:t>
            </a:r>
            <a:r>
              <a:rPr kumimoji="1" lang="ja-JP" altLang="en-US" sz="4000" dirty="0"/>
              <a:t>～</a:t>
            </a:r>
          </a:p>
        </p:txBody>
      </p:sp>
      <p:sp>
        <p:nvSpPr>
          <p:cNvPr id="3" name="コンテンツ プレースホルダー 2">
            <a:extLst>
              <a:ext uri="{FF2B5EF4-FFF2-40B4-BE49-F238E27FC236}">
                <a16:creationId xmlns:a16="http://schemas.microsoft.com/office/drawing/2014/main" id="{0883B574-F5E7-7C36-35D4-8E634C00E444}"/>
              </a:ext>
            </a:extLst>
          </p:cNvPr>
          <p:cNvSpPr>
            <a:spLocks noGrp="1"/>
          </p:cNvSpPr>
          <p:nvPr>
            <p:ph idx="1"/>
          </p:nvPr>
        </p:nvSpPr>
        <p:spPr/>
        <p:txBody>
          <a:bodyPr/>
          <a:lstStyle/>
          <a:p>
            <a:r>
              <a:rPr kumimoji="1" lang="en-US" altLang="ja-JP" dirty="0"/>
              <a:t>24bit</a:t>
            </a:r>
            <a:r>
              <a:rPr kumimoji="1" lang="ja-JP" altLang="en-US" dirty="0"/>
              <a:t>フルカラー（</a:t>
            </a:r>
            <a:r>
              <a:rPr kumimoji="1" lang="en-US" altLang="ja-JP" dirty="0"/>
              <a:t>1pixel</a:t>
            </a:r>
            <a:r>
              <a:rPr kumimoji="1" lang="ja-JP" altLang="en-US" dirty="0"/>
              <a:t>あたり</a:t>
            </a:r>
            <a:r>
              <a:rPr kumimoji="1" lang="en-US" altLang="ja-JP" dirty="0"/>
              <a:t>3</a:t>
            </a:r>
            <a:r>
              <a:rPr kumimoji="1" lang="ja-JP" altLang="en-US" dirty="0"/>
              <a:t>原色</a:t>
            </a:r>
            <a:r>
              <a:rPr kumimoji="1" lang="en-US" altLang="ja-JP" dirty="0"/>
              <a:t>×8bit</a:t>
            </a:r>
            <a:r>
              <a:rPr kumimoji="1" lang="ja-JP" altLang="en-US" dirty="0"/>
              <a:t>≒</a:t>
            </a:r>
            <a:r>
              <a:rPr kumimoji="1" lang="en-US" altLang="ja-JP" dirty="0"/>
              <a:t>1677</a:t>
            </a:r>
            <a:r>
              <a:rPr kumimoji="1" lang="ja-JP" altLang="en-US" dirty="0"/>
              <a:t>万色）を扱うことができ、最大値では</a:t>
            </a:r>
            <a:r>
              <a:rPr kumimoji="1" lang="en-US" altLang="ja-JP" dirty="0"/>
              <a:t>48bit</a:t>
            </a:r>
            <a:r>
              <a:rPr kumimoji="1" lang="ja-JP" altLang="en-US" dirty="0"/>
              <a:t>（</a:t>
            </a:r>
            <a:r>
              <a:rPr lang="ja-JP" altLang="en-US" dirty="0"/>
              <a:t>約</a:t>
            </a:r>
            <a:r>
              <a:rPr lang="en-US" altLang="ja-JP" dirty="0"/>
              <a:t>280</a:t>
            </a:r>
            <a:r>
              <a:rPr lang="ja-JP" altLang="en-US" dirty="0"/>
              <a:t>兆色</a:t>
            </a:r>
            <a:r>
              <a:rPr kumimoji="1" lang="ja-JP" altLang="en-US" dirty="0"/>
              <a:t>）まで対応可能</a:t>
            </a:r>
            <a:endParaRPr kumimoji="1" lang="en-US" altLang="ja-JP" dirty="0"/>
          </a:p>
          <a:p>
            <a:r>
              <a:rPr lang="ja-JP" altLang="en-US" dirty="0"/>
              <a:t>アルファチャンネルを利用して、各</a:t>
            </a:r>
            <a:r>
              <a:rPr lang="en-US" altLang="ja-JP" dirty="0"/>
              <a:t>pixel</a:t>
            </a:r>
            <a:r>
              <a:rPr lang="ja-JP" altLang="en-US" dirty="0"/>
              <a:t>の透明度を</a:t>
            </a:r>
            <a:r>
              <a:rPr lang="en-US" altLang="ja-JP" dirty="0"/>
              <a:t>8bit</a:t>
            </a:r>
            <a:r>
              <a:rPr lang="ja-JP" altLang="en-US" dirty="0"/>
              <a:t>で指定可能</a:t>
            </a:r>
            <a:endParaRPr kumimoji="1" lang="en-US" altLang="ja-JP" dirty="0"/>
          </a:p>
          <a:p>
            <a:r>
              <a:rPr kumimoji="1" lang="ja-JP" altLang="en-US" dirty="0"/>
              <a:t>可逆圧縮方式を採用しており、データサイズが大きい</a:t>
            </a:r>
            <a:endParaRPr kumimoji="1" lang="en-US" altLang="ja-JP" dirty="0"/>
          </a:p>
          <a:p>
            <a:r>
              <a:rPr kumimoji="1" lang="ja-JP" altLang="en-US" dirty="0"/>
              <a:t>可逆圧縮なので画像をいくら上書き保存してもデータの損失がない（ノイズが現れない）</a:t>
            </a:r>
            <a:endParaRPr kumimoji="1" lang="en-US" altLang="ja-JP" dirty="0"/>
          </a:p>
          <a:p>
            <a:pPr marL="0" indent="0">
              <a:buNone/>
            </a:pPr>
            <a:r>
              <a:rPr lang="ja-JP" altLang="en-US" dirty="0"/>
              <a:t>　</a:t>
            </a:r>
            <a:r>
              <a:rPr kumimoji="1" lang="ja-JP" altLang="en-US" b="1" dirty="0"/>
              <a:t>→ 画像処理に向いている！</a:t>
            </a:r>
          </a:p>
        </p:txBody>
      </p:sp>
      <p:sp>
        <p:nvSpPr>
          <p:cNvPr id="4" name="フッター プレースホルダー 3">
            <a:extLst>
              <a:ext uri="{FF2B5EF4-FFF2-40B4-BE49-F238E27FC236}">
                <a16:creationId xmlns:a16="http://schemas.microsoft.com/office/drawing/2014/main" id="{19504855-96DC-F574-92DB-10477AB09535}"/>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A6F9A314-CF51-AFCE-38F8-4B75C8A2CD45}"/>
              </a:ext>
            </a:extLst>
          </p:cNvPr>
          <p:cNvSpPr>
            <a:spLocks noGrp="1"/>
          </p:cNvSpPr>
          <p:nvPr>
            <p:ph type="sldNum" sz="quarter" idx="12"/>
          </p:nvPr>
        </p:nvSpPr>
        <p:spPr/>
        <p:txBody>
          <a:bodyPr/>
          <a:lstStyle/>
          <a:p>
            <a:fld id="{15F8CBF0-873C-4A82-8701-EEE0E47109A0}" type="slidenum">
              <a:rPr kumimoji="1" lang="ja-JP" altLang="en-US" smtClean="0"/>
              <a:t>8</a:t>
            </a:fld>
            <a:endParaRPr kumimoji="1" lang="ja-JP" altLang="en-US"/>
          </a:p>
        </p:txBody>
      </p:sp>
      <p:sp>
        <p:nvSpPr>
          <p:cNvPr id="6" name="テキスト ボックス 5">
            <a:extLst>
              <a:ext uri="{FF2B5EF4-FFF2-40B4-BE49-F238E27FC236}">
                <a16:creationId xmlns:a16="http://schemas.microsoft.com/office/drawing/2014/main" id="{87E3E096-7D26-54E1-7139-058B749CBB08}"/>
              </a:ext>
            </a:extLst>
          </p:cNvPr>
          <p:cNvSpPr txBox="1"/>
          <p:nvPr/>
        </p:nvSpPr>
        <p:spPr>
          <a:xfrm>
            <a:off x="5042954" y="5812672"/>
            <a:ext cx="6986276" cy="369332"/>
          </a:xfrm>
          <a:prstGeom prst="rect">
            <a:avLst/>
          </a:prstGeom>
          <a:noFill/>
        </p:spPr>
        <p:txBody>
          <a:bodyPr wrap="square" rtlCol="0">
            <a:spAutoFit/>
          </a:bodyPr>
          <a:lstStyle/>
          <a:p>
            <a:pPr algn="ctr"/>
            <a:r>
              <a:rPr lang="ja-JP" altLang="en-US" b="1" dirty="0"/>
              <a:t>以上は既存の画像データの話。カメラで撮影中の動画とかは？</a:t>
            </a:r>
            <a:endParaRPr kumimoji="1" lang="ja-JP" altLang="en-US" b="1" dirty="0"/>
          </a:p>
        </p:txBody>
      </p:sp>
    </p:spTree>
    <p:extLst>
      <p:ext uri="{BB962C8B-B14F-4D97-AF65-F5344CB8AC3E}">
        <p14:creationId xmlns:p14="http://schemas.microsoft.com/office/powerpoint/2010/main" val="1455561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F1921C-7A5E-7A2E-1D10-EE7278069B63}"/>
              </a:ext>
            </a:extLst>
          </p:cNvPr>
          <p:cNvSpPr>
            <a:spLocks noGrp="1"/>
          </p:cNvSpPr>
          <p:nvPr>
            <p:ph type="title"/>
          </p:nvPr>
        </p:nvSpPr>
        <p:spPr/>
        <p:txBody>
          <a:bodyPr/>
          <a:lstStyle/>
          <a:p>
            <a:r>
              <a:rPr lang="ja-JP" altLang="en-US" dirty="0"/>
              <a:t>撮像について</a:t>
            </a:r>
            <a:endParaRPr kumimoji="1" lang="ja-JP" altLang="en-US" dirty="0"/>
          </a:p>
        </p:txBody>
      </p:sp>
      <p:sp>
        <p:nvSpPr>
          <p:cNvPr id="4" name="フッター プレースホルダー 3">
            <a:extLst>
              <a:ext uri="{FF2B5EF4-FFF2-40B4-BE49-F238E27FC236}">
                <a16:creationId xmlns:a16="http://schemas.microsoft.com/office/drawing/2014/main" id="{EF293E2E-33FC-7535-24D3-EE538E02B966}"/>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88F8EC37-A733-7073-0DF9-8E9AA10788CD}"/>
              </a:ext>
            </a:extLst>
          </p:cNvPr>
          <p:cNvSpPr>
            <a:spLocks noGrp="1"/>
          </p:cNvSpPr>
          <p:nvPr>
            <p:ph type="sldNum" sz="quarter" idx="12"/>
          </p:nvPr>
        </p:nvSpPr>
        <p:spPr/>
        <p:txBody>
          <a:bodyPr/>
          <a:lstStyle/>
          <a:p>
            <a:fld id="{15F8CBF0-873C-4A82-8701-EEE0E47109A0}" type="slidenum">
              <a:rPr kumimoji="1" lang="ja-JP" altLang="en-US" smtClean="0"/>
              <a:t>9</a:t>
            </a:fld>
            <a:endParaRPr kumimoji="1" lang="ja-JP" altLang="en-US"/>
          </a:p>
        </p:txBody>
      </p:sp>
      <p:pic>
        <p:nvPicPr>
          <p:cNvPr id="5122" name="Picture 2" descr="カメラのイラスト">
            <a:extLst>
              <a:ext uri="{FF2B5EF4-FFF2-40B4-BE49-F238E27FC236}">
                <a16:creationId xmlns:a16="http://schemas.microsoft.com/office/drawing/2014/main" id="{F1246586-7D6C-9485-2DF9-9D5A017FAE5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38601" y="2827840"/>
            <a:ext cx="1951182" cy="195118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ボールで遊ぶ猫のイラスト">
            <a:extLst>
              <a:ext uri="{FF2B5EF4-FFF2-40B4-BE49-F238E27FC236}">
                <a16:creationId xmlns:a16="http://schemas.microsoft.com/office/drawing/2014/main" id="{61E783BF-2F89-9FEB-EBC3-816A90D989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418" y="1348254"/>
            <a:ext cx="2692400" cy="2692400"/>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a:extLst>
              <a:ext uri="{FF2B5EF4-FFF2-40B4-BE49-F238E27FC236}">
                <a16:creationId xmlns:a16="http://schemas.microsoft.com/office/drawing/2014/main" id="{B4D02FBE-F506-4909-A3B3-0A5C545875A4}"/>
              </a:ext>
            </a:extLst>
          </p:cNvPr>
          <p:cNvSpPr txBox="1"/>
          <p:nvPr/>
        </p:nvSpPr>
        <p:spPr>
          <a:xfrm>
            <a:off x="1747982" y="3350848"/>
            <a:ext cx="1339273" cy="369332"/>
          </a:xfrm>
          <a:prstGeom prst="rect">
            <a:avLst/>
          </a:prstGeom>
          <a:noFill/>
        </p:spPr>
        <p:txBody>
          <a:bodyPr wrap="square" rtlCol="0">
            <a:spAutoFit/>
          </a:bodyPr>
          <a:lstStyle/>
          <a:p>
            <a:pPr algn="ctr"/>
            <a:r>
              <a:rPr kumimoji="1" lang="ja-JP" altLang="en-US" b="1" dirty="0"/>
              <a:t>被写体</a:t>
            </a:r>
          </a:p>
        </p:txBody>
      </p:sp>
      <p:sp>
        <p:nvSpPr>
          <p:cNvPr id="9" name="テキスト ボックス 8">
            <a:extLst>
              <a:ext uri="{FF2B5EF4-FFF2-40B4-BE49-F238E27FC236}">
                <a16:creationId xmlns:a16="http://schemas.microsoft.com/office/drawing/2014/main" id="{57127827-1625-5B85-C8BB-174A8897A0C6}"/>
              </a:ext>
            </a:extLst>
          </p:cNvPr>
          <p:cNvSpPr txBox="1"/>
          <p:nvPr/>
        </p:nvSpPr>
        <p:spPr>
          <a:xfrm>
            <a:off x="4038601" y="2694454"/>
            <a:ext cx="1951182" cy="646331"/>
          </a:xfrm>
          <a:prstGeom prst="rect">
            <a:avLst/>
          </a:prstGeom>
          <a:noFill/>
        </p:spPr>
        <p:txBody>
          <a:bodyPr wrap="square" rtlCol="0">
            <a:spAutoFit/>
          </a:bodyPr>
          <a:lstStyle/>
          <a:p>
            <a:pPr algn="ctr"/>
            <a:r>
              <a:rPr kumimoji="1" lang="ja-JP" altLang="en-US" b="1" dirty="0"/>
              <a:t>デジタルカメラ</a:t>
            </a:r>
            <a:endParaRPr kumimoji="1" lang="en-US" altLang="ja-JP" b="1" dirty="0"/>
          </a:p>
          <a:p>
            <a:pPr algn="ctr"/>
            <a:r>
              <a:rPr lang="en-US" altLang="ja-JP" b="1" dirty="0"/>
              <a:t>WEB</a:t>
            </a:r>
            <a:r>
              <a:rPr lang="ja-JP" altLang="en-US" b="1" dirty="0"/>
              <a:t>カメラなど</a:t>
            </a:r>
            <a:endParaRPr kumimoji="1" lang="ja-JP" altLang="en-US" b="1" dirty="0"/>
          </a:p>
        </p:txBody>
      </p:sp>
      <p:sp>
        <p:nvSpPr>
          <p:cNvPr id="10" name="正方形/長方形 9">
            <a:extLst>
              <a:ext uri="{FF2B5EF4-FFF2-40B4-BE49-F238E27FC236}">
                <a16:creationId xmlns:a16="http://schemas.microsoft.com/office/drawing/2014/main" id="{55AF0DD7-9703-54B6-54D0-2A8E7C1B70B6}"/>
              </a:ext>
            </a:extLst>
          </p:cNvPr>
          <p:cNvSpPr/>
          <p:nvPr/>
        </p:nvSpPr>
        <p:spPr>
          <a:xfrm>
            <a:off x="7027621" y="2399937"/>
            <a:ext cx="2296489" cy="176579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altLang="ja-JP" sz="800" dirty="0"/>
              <a:t>P2</a:t>
            </a:r>
          </a:p>
          <a:p>
            <a:r>
              <a:rPr lang="en-US" altLang="ja-JP" sz="800" dirty="0"/>
              <a:t>11 11</a:t>
            </a:r>
          </a:p>
          <a:p>
            <a:r>
              <a:rPr lang="en-US" altLang="ja-JP" sz="800" dirty="0"/>
              <a:t>255</a:t>
            </a:r>
          </a:p>
          <a:p>
            <a:r>
              <a:rPr lang="en-US" altLang="ja-JP" sz="800" dirty="0"/>
              <a:t>255 255 255 255 255 0 255 255 255 255 255</a:t>
            </a:r>
          </a:p>
          <a:p>
            <a:r>
              <a:rPr lang="en-US" altLang="ja-JP" sz="800" dirty="0"/>
              <a:t>255 255 255 255 0 0 0 255 255 255 255</a:t>
            </a:r>
          </a:p>
          <a:p>
            <a:r>
              <a:rPr lang="en-US" altLang="ja-JP" sz="800" dirty="0"/>
              <a:t>255 255 255 0 0 0 0 0 255 255 255</a:t>
            </a:r>
          </a:p>
          <a:p>
            <a:r>
              <a:rPr lang="en-US" altLang="ja-JP" sz="800" dirty="0"/>
              <a:t>255 255 0 0 0 0 0 0 0 255 255</a:t>
            </a:r>
          </a:p>
          <a:p>
            <a:r>
              <a:rPr lang="en-US" altLang="ja-JP" sz="800" dirty="0"/>
              <a:t>255 255 0 0 255 0 255 0 0 255 255</a:t>
            </a:r>
          </a:p>
          <a:p>
            <a:r>
              <a:rPr lang="en-US" altLang="ja-JP" sz="800" dirty="0"/>
              <a:t>255 255 0 0 0 0 0 0 0 255 255</a:t>
            </a:r>
          </a:p>
          <a:p>
            <a:r>
              <a:rPr lang="en-US" altLang="ja-JP" sz="800" dirty="0"/>
              <a:t>255 255 0 0 255 0 255 0 0 255 255</a:t>
            </a:r>
          </a:p>
          <a:p>
            <a:r>
              <a:rPr lang="en-US" altLang="ja-JP" sz="800" dirty="0"/>
              <a:t>255 255 0 0 255 255 255 0 0 255 255</a:t>
            </a:r>
          </a:p>
          <a:p>
            <a:r>
              <a:rPr lang="en-US" altLang="ja-JP" sz="800" dirty="0"/>
              <a:t>255 0 0 0 0 0 0 0 0 0 255</a:t>
            </a:r>
          </a:p>
          <a:p>
            <a:r>
              <a:rPr lang="en-US" altLang="ja-JP" sz="800" dirty="0"/>
              <a:t>0 0 0 0 0 0 0 0 0 0 0</a:t>
            </a:r>
          </a:p>
          <a:p>
            <a:r>
              <a:rPr lang="en-US" altLang="ja-JP" sz="800" dirty="0"/>
              <a:t>255 255 255 0 255 255 255 0 255 255 255</a:t>
            </a:r>
            <a:endParaRPr kumimoji="1" lang="ja-JP" altLang="en-US" sz="800" dirty="0"/>
          </a:p>
        </p:txBody>
      </p:sp>
      <p:sp>
        <p:nvSpPr>
          <p:cNvPr id="11" name="矢印: 右 10">
            <a:extLst>
              <a:ext uri="{FF2B5EF4-FFF2-40B4-BE49-F238E27FC236}">
                <a16:creationId xmlns:a16="http://schemas.microsoft.com/office/drawing/2014/main" id="{3026DF52-6507-9C12-7AFD-519E55C28B1F}"/>
              </a:ext>
            </a:extLst>
          </p:cNvPr>
          <p:cNvSpPr/>
          <p:nvPr/>
        </p:nvSpPr>
        <p:spPr>
          <a:xfrm rot="11806477">
            <a:off x="3504170" y="3105727"/>
            <a:ext cx="450723" cy="6465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4C30D086-1FAC-6038-5DFE-881AC981D3EB}"/>
              </a:ext>
            </a:extLst>
          </p:cNvPr>
          <p:cNvSpPr txBox="1"/>
          <p:nvPr/>
        </p:nvSpPr>
        <p:spPr>
          <a:xfrm>
            <a:off x="3240177" y="3761745"/>
            <a:ext cx="978707" cy="369332"/>
          </a:xfrm>
          <a:prstGeom prst="rect">
            <a:avLst/>
          </a:prstGeom>
          <a:noFill/>
        </p:spPr>
        <p:txBody>
          <a:bodyPr wrap="square" rtlCol="0">
            <a:spAutoFit/>
          </a:bodyPr>
          <a:lstStyle/>
          <a:p>
            <a:pPr algn="ctr"/>
            <a:r>
              <a:rPr kumimoji="1" lang="ja-JP" altLang="en-US" b="1" dirty="0"/>
              <a:t>撮影！</a:t>
            </a:r>
          </a:p>
        </p:txBody>
      </p:sp>
      <p:sp>
        <p:nvSpPr>
          <p:cNvPr id="13" name="矢印: 右 12">
            <a:extLst>
              <a:ext uri="{FF2B5EF4-FFF2-40B4-BE49-F238E27FC236}">
                <a16:creationId xmlns:a16="http://schemas.microsoft.com/office/drawing/2014/main" id="{D5353554-FC79-5AA5-B266-FAFAEE0D2D83}"/>
              </a:ext>
            </a:extLst>
          </p:cNvPr>
          <p:cNvSpPr/>
          <p:nvPr/>
        </p:nvSpPr>
        <p:spPr>
          <a:xfrm rot="20522205">
            <a:off x="6119819" y="3208940"/>
            <a:ext cx="691836" cy="6465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A8954CE4-357E-E464-6EBC-89B2503B9908}"/>
              </a:ext>
            </a:extLst>
          </p:cNvPr>
          <p:cNvSpPr txBox="1"/>
          <p:nvPr/>
        </p:nvSpPr>
        <p:spPr>
          <a:xfrm>
            <a:off x="5394557" y="4185730"/>
            <a:ext cx="3216043" cy="646331"/>
          </a:xfrm>
          <a:prstGeom prst="rect">
            <a:avLst/>
          </a:prstGeom>
          <a:noFill/>
        </p:spPr>
        <p:txBody>
          <a:bodyPr wrap="square" rtlCol="0">
            <a:spAutoFit/>
          </a:bodyPr>
          <a:lstStyle/>
          <a:p>
            <a:pPr algn="ctr"/>
            <a:r>
              <a:rPr kumimoji="1" lang="ja-JP" altLang="en-US" b="1" dirty="0"/>
              <a:t>カメラ側で決められた</a:t>
            </a:r>
            <a:endParaRPr kumimoji="1" lang="en-US" altLang="ja-JP" b="1" dirty="0"/>
          </a:p>
          <a:p>
            <a:pPr algn="ctr"/>
            <a:r>
              <a:rPr kumimoji="1" lang="ja-JP" altLang="en-US" b="1" dirty="0"/>
              <a:t>フォーマットでデータを出力</a:t>
            </a:r>
          </a:p>
        </p:txBody>
      </p:sp>
      <p:sp>
        <p:nvSpPr>
          <p:cNvPr id="15" name="楕円 14">
            <a:extLst>
              <a:ext uri="{FF2B5EF4-FFF2-40B4-BE49-F238E27FC236}">
                <a16:creationId xmlns:a16="http://schemas.microsoft.com/office/drawing/2014/main" id="{77B4D3AC-0F8A-9E1F-87CC-557C270C52B4}"/>
              </a:ext>
            </a:extLst>
          </p:cNvPr>
          <p:cNvSpPr/>
          <p:nvPr/>
        </p:nvSpPr>
        <p:spPr>
          <a:xfrm>
            <a:off x="510309" y="1533236"/>
            <a:ext cx="9933709" cy="3611419"/>
          </a:xfrm>
          <a:prstGeom prst="ellipse">
            <a:avLst/>
          </a:prstGeom>
          <a:noFill/>
          <a:ln w="38100">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5A05546E-9FD0-8519-821C-2F5152C1A9C3}"/>
              </a:ext>
            </a:extLst>
          </p:cNvPr>
          <p:cNvSpPr txBox="1"/>
          <p:nvPr/>
        </p:nvSpPr>
        <p:spPr>
          <a:xfrm>
            <a:off x="3811578" y="1423467"/>
            <a:ext cx="3216043" cy="369332"/>
          </a:xfrm>
          <a:prstGeom prst="rect">
            <a:avLst/>
          </a:prstGeom>
          <a:ln w="28575"/>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kumimoji="1" lang="ja-JP" altLang="en-US" b="1" dirty="0"/>
              <a:t>この一連の流れを</a:t>
            </a:r>
            <a:r>
              <a:rPr kumimoji="1" lang="ja-JP" altLang="en-US" b="1" dirty="0">
                <a:solidFill>
                  <a:srgbClr val="FF0000"/>
                </a:solidFill>
              </a:rPr>
              <a:t>撮像</a:t>
            </a:r>
            <a:r>
              <a:rPr kumimoji="1" lang="ja-JP" altLang="en-US" b="1" dirty="0"/>
              <a:t>という</a:t>
            </a:r>
          </a:p>
        </p:txBody>
      </p:sp>
      <p:pic>
        <p:nvPicPr>
          <p:cNvPr id="5126" name="Picture 6" descr="ノートパソコンのイラスト">
            <a:extLst>
              <a:ext uri="{FF2B5EF4-FFF2-40B4-BE49-F238E27FC236}">
                <a16:creationId xmlns:a16="http://schemas.microsoft.com/office/drawing/2014/main" id="{BBFA9FD1-6E13-A678-441D-EBD77EE089C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86677" y="4159305"/>
            <a:ext cx="2153461" cy="2153461"/>
          </a:xfrm>
          <a:prstGeom prst="rect">
            <a:avLst/>
          </a:prstGeom>
          <a:noFill/>
          <a:extLst>
            <a:ext uri="{909E8E84-426E-40DD-AFC4-6F175D3DCCD1}">
              <a14:hiddenFill xmlns:a14="http://schemas.microsoft.com/office/drawing/2010/main">
                <a:solidFill>
                  <a:srgbClr val="FFFFFF"/>
                </a:solidFill>
              </a14:hiddenFill>
            </a:ext>
          </a:extLst>
        </p:spPr>
      </p:pic>
      <p:sp>
        <p:nvSpPr>
          <p:cNvPr id="19" name="矢印: 右 18">
            <a:extLst>
              <a:ext uri="{FF2B5EF4-FFF2-40B4-BE49-F238E27FC236}">
                <a16:creationId xmlns:a16="http://schemas.microsoft.com/office/drawing/2014/main" id="{53347E01-7CAB-1870-BCCB-D48C482121D8}"/>
              </a:ext>
            </a:extLst>
          </p:cNvPr>
          <p:cNvSpPr/>
          <p:nvPr/>
        </p:nvSpPr>
        <p:spPr>
          <a:xfrm rot="1870753">
            <a:off x="9337341" y="4650796"/>
            <a:ext cx="691836" cy="2441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7E62205D-5740-3430-48E5-1E92F5AA9985}"/>
              </a:ext>
            </a:extLst>
          </p:cNvPr>
          <p:cNvSpPr txBox="1"/>
          <p:nvPr/>
        </p:nvSpPr>
        <p:spPr>
          <a:xfrm>
            <a:off x="8175865" y="5098933"/>
            <a:ext cx="1710003" cy="369332"/>
          </a:xfrm>
          <a:prstGeom prst="rect">
            <a:avLst/>
          </a:prstGeom>
          <a:noFill/>
        </p:spPr>
        <p:txBody>
          <a:bodyPr wrap="square" rtlCol="0">
            <a:spAutoFit/>
          </a:bodyPr>
          <a:lstStyle/>
          <a:p>
            <a:pPr algn="ctr"/>
            <a:r>
              <a:rPr kumimoji="1" lang="en-US" altLang="ja-JP" b="1" dirty="0"/>
              <a:t>PC</a:t>
            </a:r>
            <a:r>
              <a:rPr kumimoji="1" lang="ja-JP" altLang="en-US" b="1" dirty="0"/>
              <a:t>に取り込み</a:t>
            </a:r>
          </a:p>
        </p:txBody>
      </p:sp>
      <p:sp>
        <p:nvSpPr>
          <p:cNvPr id="21" name="テキスト ボックス 20">
            <a:extLst>
              <a:ext uri="{FF2B5EF4-FFF2-40B4-BE49-F238E27FC236}">
                <a16:creationId xmlns:a16="http://schemas.microsoft.com/office/drawing/2014/main" id="{A352070F-4C51-8640-9A3C-2BC0F6A4B098}"/>
              </a:ext>
            </a:extLst>
          </p:cNvPr>
          <p:cNvSpPr txBox="1"/>
          <p:nvPr/>
        </p:nvSpPr>
        <p:spPr>
          <a:xfrm>
            <a:off x="851954" y="5181203"/>
            <a:ext cx="6986276" cy="369332"/>
          </a:xfrm>
          <a:prstGeom prst="rect">
            <a:avLst/>
          </a:prstGeom>
          <a:noFill/>
        </p:spPr>
        <p:txBody>
          <a:bodyPr wrap="square" rtlCol="0">
            <a:spAutoFit/>
          </a:bodyPr>
          <a:lstStyle/>
          <a:p>
            <a:pPr algn="ctr"/>
            <a:r>
              <a:rPr kumimoji="1" lang="ja-JP" altLang="en-US" b="1" dirty="0"/>
              <a:t>データがどんなフォーマットで出力されるかはカメラに依存する</a:t>
            </a:r>
          </a:p>
        </p:txBody>
      </p:sp>
    </p:spTree>
    <p:extLst>
      <p:ext uri="{BB962C8B-B14F-4D97-AF65-F5344CB8AC3E}">
        <p14:creationId xmlns:p14="http://schemas.microsoft.com/office/powerpoint/2010/main" val="604415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6" descr="ノートパソコンのイラスト">
            <a:extLst>
              <a:ext uri="{FF2B5EF4-FFF2-40B4-BE49-F238E27FC236}">
                <a16:creationId xmlns:a16="http://schemas.microsoft.com/office/drawing/2014/main" id="{459ED696-FA97-533B-DC96-04A0E59738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140" t="21723" r="9897" b="19870"/>
          <a:stretch/>
        </p:blipFill>
        <p:spPr bwMode="auto">
          <a:xfrm>
            <a:off x="3581402" y="990331"/>
            <a:ext cx="8724898" cy="5502544"/>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312CCF95-D644-42EF-FB29-6993B1EB8D83}"/>
              </a:ext>
            </a:extLst>
          </p:cNvPr>
          <p:cNvSpPr>
            <a:spLocks noGrp="1"/>
          </p:cNvSpPr>
          <p:nvPr>
            <p:ph type="title"/>
          </p:nvPr>
        </p:nvSpPr>
        <p:spPr/>
        <p:txBody>
          <a:bodyPr>
            <a:normAutofit/>
          </a:bodyPr>
          <a:lstStyle/>
          <a:p>
            <a:r>
              <a:rPr kumimoji="1" lang="ja-JP" altLang="en-US" sz="3600" dirty="0"/>
              <a:t>撮像と</a:t>
            </a:r>
            <a:r>
              <a:rPr kumimoji="1" lang="en-US" altLang="ja-JP" sz="3600" dirty="0"/>
              <a:t>OpenCV</a:t>
            </a:r>
            <a:endParaRPr kumimoji="1" lang="ja-JP" altLang="en-US" sz="3600" dirty="0"/>
          </a:p>
        </p:txBody>
      </p:sp>
      <p:sp>
        <p:nvSpPr>
          <p:cNvPr id="4" name="フッター プレースホルダー 3">
            <a:extLst>
              <a:ext uri="{FF2B5EF4-FFF2-40B4-BE49-F238E27FC236}">
                <a16:creationId xmlns:a16="http://schemas.microsoft.com/office/drawing/2014/main" id="{088AB042-C853-A8A2-272D-F96E49B85A52}"/>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AB707857-FA0C-0C2C-F740-A2203E42D240}"/>
              </a:ext>
            </a:extLst>
          </p:cNvPr>
          <p:cNvSpPr>
            <a:spLocks noGrp="1"/>
          </p:cNvSpPr>
          <p:nvPr>
            <p:ph type="sldNum" sz="quarter" idx="12"/>
          </p:nvPr>
        </p:nvSpPr>
        <p:spPr/>
        <p:txBody>
          <a:bodyPr/>
          <a:lstStyle/>
          <a:p>
            <a:fld id="{15F8CBF0-873C-4A82-8701-EEE0E47109A0}" type="slidenum">
              <a:rPr kumimoji="1" lang="ja-JP" altLang="en-US" smtClean="0"/>
              <a:t>10</a:t>
            </a:fld>
            <a:endParaRPr kumimoji="1" lang="ja-JP" altLang="en-US"/>
          </a:p>
        </p:txBody>
      </p:sp>
      <p:pic>
        <p:nvPicPr>
          <p:cNvPr id="6" name="図 5">
            <a:extLst>
              <a:ext uri="{FF2B5EF4-FFF2-40B4-BE49-F238E27FC236}">
                <a16:creationId xmlns:a16="http://schemas.microsoft.com/office/drawing/2014/main" id="{7DC678BB-CFDA-5343-E862-16CDCE1D365A}"/>
              </a:ext>
            </a:extLst>
          </p:cNvPr>
          <p:cNvPicPr>
            <a:picLocks noChangeAspect="1"/>
          </p:cNvPicPr>
          <p:nvPr/>
        </p:nvPicPr>
        <p:blipFill>
          <a:blip r:embed="rId4"/>
          <a:stretch>
            <a:fillRect/>
          </a:stretch>
        </p:blipFill>
        <p:spPr>
          <a:xfrm>
            <a:off x="594852" y="1465369"/>
            <a:ext cx="3844068" cy="1471796"/>
          </a:xfrm>
          <a:prstGeom prst="rect">
            <a:avLst/>
          </a:prstGeom>
        </p:spPr>
      </p:pic>
      <p:sp>
        <p:nvSpPr>
          <p:cNvPr id="7" name="矢印: 右 6">
            <a:extLst>
              <a:ext uri="{FF2B5EF4-FFF2-40B4-BE49-F238E27FC236}">
                <a16:creationId xmlns:a16="http://schemas.microsoft.com/office/drawing/2014/main" id="{DE64612C-6097-DB99-30A2-AA6F4617B2F0}"/>
              </a:ext>
            </a:extLst>
          </p:cNvPr>
          <p:cNvSpPr/>
          <p:nvPr/>
        </p:nvSpPr>
        <p:spPr>
          <a:xfrm>
            <a:off x="4220478" y="2168283"/>
            <a:ext cx="1018272" cy="2441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3FC9E69D-398F-46C9-45E7-1C1B21BB6FDA}"/>
              </a:ext>
            </a:extLst>
          </p:cNvPr>
          <p:cNvSpPr txBox="1"/>
          <p:nvPr/>
        </p:nvSpPr>
        <p:spPr>
          <a:xfrm>
            <a:off x="2844530" y="2645536"/>
            <a:ext cx="1885084" cy="369332"/>
          </a:xfrm>
          <a:prstGeom prst="rect">
            <a:avLst/>
          </a:prstGeom>
          <a:noFill/>
        </p:spPr>
        <p:txBody>
          <a:bodyPr wrap="square" rtlCol="0">
            <a:spAutoFit/>
          </a:bodyPr>
          <a:lstStyle/>
          <a:p>
            <a:pPr algn="ctr"/>
            <a:r>
              <a:rPr kumimoji="1" lang="en-US" altLang="ja-JP" b="1" dirty="0"/>
              <a:t>PC</a:t>
            </a:r>
            <a:r>
              <a:rPr kumimoji="1" lang="ja-JP" altLang="en-US" b="1" dirty="0"/>
              <a:t>に取り込み</a:t>
            </a:r>
          </a:p>
        </p:txBody>
      </p:sp>
      <p:sp>
        <p:nvSpPr>
          <p:cNvPr id="10" name="正方形/長方形 9">
            <a:extLst>
              <a:ext uri="{FF2B5EF4-FFF2-40B4-BE49-F238E27FC236}">
                <a16:creationId xmlns:a16="http://schemas.microsoft.com/office/drawing/2014/main" id="{B235F45B-0395-5F4A-BE17-614A3371550A}"/>
              </a:ext>
            </a:extLst>
          </p:cNvPr>
          <p:cNvSpPr/>
          <p:nvPr/>
        </p:nvSpPr>
        <p:spPr>
          <a:xfrm>
            <a:off x="5247361" y="1613189"/>
            <a:ext cx="667664" cy="2854035"/>
          </a:xfrm>
          <a:prstGeom prst="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b="1" dirty="0"/>
              <a:t>OS</a:t>
            </a:r>
            <a:endParaRPr kumimoji="1" lang="ja-JP" altLang="en-US" b="1" dirty="0"/>
          </a:p>
        </p:txBody>
      </p:sp>
      <p:sp>
        <p:nvSpPr>
          <p:cNvPr id="11" name="正方形/長方形 10">
            <a:extLst>
              <a:ext uri="{FF2B5EF4-FFF2-40B4-BE49-F238E27FC236}">
                <a16:creationId xmlns:a16="http://schemas.microsoft.com/office/drawing/2014/main" id="{76CDD2F0-9533-F1A3-C254-4E2BBE1B7C1F}"/>
              </a:ext>
            </a:extLst>
          </p:cNvPr>
          <p:cNvSpPr/>
          <p:nvPr/>
        </p:nvSpPr>
        <p:spPr>
          <a:xfrm>
            <a:off x="7432706" y="2005450"/>
            <a:ext cx="1201706" cy="2168616"/>
          </a:xfrm>
          <a:prstGeom prst="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b="1" dirty="0"/>
              <a:t>OpenCV</a:t>
            </a:r>
            <a:endParaRPr kumimoji="1" lang="ja-JP" altLang="en-US" b="1" dirty="0"/>
          </a:p>
        </p:txBody>
      </p:sp>
      <p:sp>
        <p:nvSpPr>
          <p:cNvPr id="12" name="矢印: 右 11">
            <a:extLst>
              <a:ext uri="{FF2B5EF4-FFF2-40B4-BE49-F238E27FC236}">
                <a16:creationId xmlns:a16="http://schemas.microsoft.com/office/drawing/2014/main" id="{20B8341E-3EE4-F75C-4985-EE39A7A1B4E1}"/>
              </a:ext>
            </a:extLst>
          </p:cNvPr>
          <p:cNvSpPr/>
          <p:nvPr/>
        </p:nvSpPr>
        <p:spPr>
          <a:xfrm>
            <a:off x="5979277" y="2201267"/>
            <a:ext cx="1288298" cy="2441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8A8E66D4-3FF7-84DA-3738-6617E90B7D96}"/>
              </a:ext>
            </a:extLst>
          </p:cNvPr>
          <p:cNvSpPr/>
          <p:nvPr/>
        </p:nvSpPr>
        <p:spPr>
          <a:xfrm>
            <a:off x="9021484" y="2005450"/>
            <a:ext cx="1201706" cy="2168616"/>
          </a:xfrm>
          <a:prstGeom prst="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b="1" dirty="0"/>
              <a:t>配列を使って</a:t>
            </a:r>
            <a:endParaRPr kumimoji="1" lang="en-US" altLang="ja-JP" b="1" dirty="0"/>
          </a:p>
          <a:p>
            <a:pPr algn="ctr"/>
            <a:r>
              <a:rPr kumimoji="1" lang="ja-JP" altLang="en-US" b="1" dirty="0"/>
              <a:t>画像処理</a:t>
            </a:r>
          </a:p>
        </p:txBody>
      </p:sp>
      <p:sp>
        <p:nvSpPr>
          <p:cNvPr id="14" name="テキスト ボックス 13">
            <a:extLst>
              <a:ext uri="{FF2B5EF4-FFF2-40B4-BE49-F238E27FC236}">
                <a16:creationId xmlns:a16="http://schemas.microsoft.com/office/drawing/2014/main" id="{0A691A93-726E-36E3-567D-09C2F3010815}"/>
              </a:ext>
            </a:extLst>
          </p:cNvPr>
          <p:cNvSpPr txBox="1"/>
          <p:nvPr/>
        </p:nvSpPr>
        <p:spPr>
          <a:xfrm>
            <a:off x="5890426" y="2460870"/>
            <a:ext cx="1464113" cy="738664"/>
          </a:xfrm>
          <a:prstGeom prst="rect">
            <a:avLst/>
          </a:prstGeom>
          <a:noFill/>
        </p:spPr>
        <p:txBody>
          <a:bodyPr wrap="square" rtlCol="0">
            <a:spAutoFit/>
          </a:bodyPr>
          <a:lstStyle/>
          <a:p>
            <a:pPr algn="ctr"/>
            <a:r>
              <a:rPr kumimoji="1" lang="en-US" altLang="ja-JP" sz="1400" b="1" dirty="0"/>
              <a:t>Python</a:t>
            </a:r>
            <a:r>
              <a:rPr kumimoji="1" lang="ja-JP" altLang="en-US" sz="1400" b="1" dirty="0"/>
              <a:t>の</a:t>
            </a:r>
            <a:endParaRPr kumimoji="1" lang="en-US" altLang="ja-JP" sz="1400" b="1" dirty="0"/>
          </a:p>
          <a:p>
            <a:pPr algn="ctr"/>
            <a:r>
              <a:rPr kumimoji="1" lang="en-US" altLang="ja-JP" sz="1400" b="1" dirty="0" err="1"/>
              <a:t>numpy</a:t>
            </a:r>
            <a:r>
              <a:rPr kumimoji="1" lang="ja-JP" altLang="en-US" sz="1400" b="1" dirty="0"/>
              <a:t>配列に</a:t>
            </a:r>
            <a:endParaRPr kumimoji="1" lang="en-US" altLang="ja-JP" sz="1400" b="1" dirty="0"/>
          </a:p>
          <a:p>
            <a:pPr algn="ctr"/>
            <a:r>
              <a:rPr kumimoji="1" lang="ja-JP" altLang="en-US" sz="1400" b="1" dirty="0"/>
              <a:t>デコード</a:t>
            </a:r>
          </a:p>
        </p:txBody>
      </p:sp>
      <p:sp>
        <p:nvSpPr>
          <p:cNvPr id="15" name="テキスト ボックス 14">
            <a:extLst>
              <a:ext uri="{FF2B5EF4-FFF2-40B4-BE49-F238E27FC236}">
                <a16:creationId xmlns:a16="http://schemas.microsoft.com/office/drawing/2014/main" id="{A95C3C89-F3E2-F9A1-5A72-B03C46B5A53D}"/>
              </a:ext>
            </a:extLst>
          </p:cNvPr>
          <p:cNvSpPr txBox="1"/>
          <p:nvPr/>
        </p:nvSpPr>
        <p:spPr>
          <a:xfrm>
            <a:off x="5845161" y="1962106"/>
            <a:ext cx="1613472" cy="307777"/>
          </a:xfrm>
          <a:prstGeom prst="rect">
            <a:avLst/>
          </a:prstGeom>
          <a:noFill/>
        </p:spPr>
        <p:txBody>
          <a:bodyPr wrap="square" rtlCol="0">
            <a:spAutoFit/>
          </a:bodyPr>
          <a:lstStyle/>
          <a:p>
            <a:pPr algn="ctr"/>
            <a:r>
              <a:rPr kumimoji="1" lang="en-US" altLang="ja-JP" sz="1400" b="1" dirty="0"/>
              <a:t>cv2.imread()</a:t>
            </a:r>
            <a:r>
              <a:rPr kumimoji="1" lang="ja-JP" altLang="en-US" sz="1400" b="1" dirty="0"/>
              <a:t>等</a:t>
            </a:r>
          </a:p>
        </p:txBody>
      </p:sp>
      <p:sp>
        <p:nvSpPr>
          <p:cNvPr id="16" name="正方形/長方形 15">
            <a:extLst>
              <a:ext uri="{FF2B5EF4-FFF2-40B4-BE49-F238E27FC236}">
                <a16:creationId xmlns:a16="http://schemas.microsoft.com/office/drawing/2014/main" id="{4FF79E71-EE87-9551-71A5-1E17BFD6D427}"/>
              </a:ext>
            </a:extLst>
          </p:cNvPr>
          <p:cNvSpPr/>
          <p:nvPr/>
        </p:nvSpPr>
        <p:spPr>
          <a:xfrm>
            <a:off x="7314774" y="1899882"/>
            <a:ext cx="3130409" cy="2641790"/>
          </a:xfrm>
          <a:prstGeom prst="rect">
            <a:avLst/>
          </a:prstGeom>
          <a:noFill/>
          <a:ln w="28575">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b="1" dirty="0"/>
          </a:p>
        </p:txBody>
      </p:sp>
      <p:sp>
        <p:nvSpPr>
          <p:cNvPr id="17" name="テキスト ボックス 16">
            <a:extLst>
              <a:ext uri="{FF2B5EF4-FFF2-40B4-BE49-F238E27FC236}">
                <a16:creationId xmlns:a16="http://schemas.microsoft.com/office/drawing/2014/main" id="{FF957B42-9316-CFF2-3A4B-F2A54B643172}"/>
              </a:ext>
            </a:extLst>
          </p:cNvPr>
          <p:cNvSpPr txBox="1"/>
          <p:nvPr/>
        </p:nvSpPr>
        <p:spPr>
          <a:xfrm>
            <a:off x="7943851" y="1566440"/>
            <a:ext cx="1695450" cy="307777"/>
          </a:xfrm>
          <a:prstGeom prst="rect">
            <a:avLst/>
          </a:prstGeom>
          <a:noFill/>
        </p:spPr>
        <p:txBody>
          <a:bodyPr wrap="square" rtlCol="0">
            <a:spAutoFit/>
          </a:bodyPr>
          <a:lstStyle/>
          <a:p>
            <a:pPr algn="ctr"/>
            <a:r>
              <a:rPr kumimoji="1" lang="en-US" altLang="ja-JP" sz="1400" b="1" dirty="0"/>
              <a:t>Python</a:t>
            </a:r>
            <a:r>
              <a:rPr kumimoji="1" lang="ja-JP" altLang="en-US" sz="1400" b="1" dirty="0"/>
              <a:t>プログラム</a:t>
            </a:r>
          </a:p>
        </p:txBody>
      </p:sp>
      <p:sp>
        <p:nvSpPr>
          <p:cNvPr id="18" name="矢印: 右 17">
            <a:extLst>
              <a:ext uri="{FF2B5EF4-FFF2-40B4-BE49-F238E27FC236}">
                <a16:creationId xmlns:a16="http://schemas.microsoft.com/office/drawing/2014/main" id="{CA694475-439E-1F98-0BD9-B1D416CBB5B0}"/>
              </a:ext>
            </a:extLst>
          </p:cNvPr>
          <p:cNvSpPr/>
          <p:nvPr/>
        </p:nvSpPr>
        <p:spPr>
          <a:xfrm>
            <a:off x="8693902" y="2253761"/>
            <a:ext cx="327582" cy="2441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矢印: 右 18">
            <a:extLst>
              <a:ext uri="{FF2B5EF4-FFF2-40B4-BE49-F238E27FC236}">
                <a16:creationId xmlns:a16="http://schemas.microsoft.com/office/drawing/2014/main" id="{6D24979F-85B9-FF76-3EB9-A1B791A68426}"/>
              </a:ext>
            </a:extLst>
          </p:cNvPr>
          <p:cNvSpPr/>
          <p:nvPr/>
        </p:nvSpPr>
        <p:spPr>
          <a:xfrm rot="10800000">
            <a:off x="7103784" y="4232968"/>
            <a:ext cx="327582" cy="2441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Picture 4" descr="ボールで遊ぶ猫のイラスト">
            <a:extLst>
              <a:ext uri="{FF2B5EF4-FFF2-40B4-BE49-F238E27FC236}">
                <a16:creationId xmlns:a16="http://schemas.microsoft.com/office/drawing/2014/main" id="{FCD88AE8-520A-B75A-2783-B745DC69B340}"/>
              </a:ext>
            </a:extLst>
          </p:cNvPr>
          <p:cNvPicPr>
            <a:picLocks noChangeAspect="1" noChangeArrowheads="1"/>
          </p:cNvPicPr>
          <p:nvPr/>
        </p:nvPicPr>
        <p:blipFill rotWithShape="1">
          <a:blip r:embed="rId5" cstate="print">
            <a:duotone>
              <a:schemeClr val="accent2">
                <a:shade val="45000"/>
                <a:satMod val="135000"/>
              </a:schemeClr>
              <a:prstClr val="white"/>
            </a:duotone>
            <a:extLst>
              <a:ext uri="{28A0092B-C50C-407E-A947-70E740481C1C}">
                <a14:useLocalDpi xmlns:a14="http://schemas.microsoft.com/office/drawing/2010/main" val="0"/>
              </a:ext>
            </a:extLst>
          </a:blip>
          <a:srcRect l="8220" t="32802" r="9351" b="25314"/>
          <a:stretch/>
        </p:blipFill>
        <p:spPr bwMode="auto">
          <a:xfrm>
            <a:off x="6016005" y="3597202"/>
            <a:ext cx="1193273" cy="606315"/>
          </a:xfrm>
          <a:prstGeom prst="rect">
            <a:avLst/>
          </a:prstGeom>
          <a:noFill/>
          <a:extLst>
            <a:ext uri="{909E8E84-426E-40DD-AFC4-6F175D3DCCD1}">
              <a14:hiddenFill xmlns:a14="http://schemas.microsoft.com/office/drawing/2010/main">
                <a:solidFill>
                  <a:srgbClr val="FFFFFF"/>
                </a:solidFill>
              </a14:hiddenFill>
            </a:ext>
          </a:extLst>
        </p:spPr>
      </p:pic>
      <p:sp>
        <p:nvSpPr>
          <p:cNvPr id="21" name="テキスト ボックス 20">
            <a:extLst>
              <a:ext uri="{FF2B5EF4-FFF2-40B4-BE49-F238E27FC236}">
                <a16:creationId xmlns:a16="http://schemas.microsoft.com/office/drawing/2014/main" id="{0C7BBA25-2069-B97A-0778-0ABDEB5597D8}"/>
              </a:ext>
            </a:extLst>
          </p:cNvPr>
          <p:cNvSpPr txBox="1"/>
          <p:nvPr/>
        </p:nvSpPr>
        <p:spPr>
          <a:xfrm>
            <a:off x="6096000" y="4268827"/>
            <a:ext cx="1009649" cy="307777"/>
          </a:xfrm>
          <a:prstGeom prst="rect">
            <a:avLst/>
          </a:prstGeom>
          <a:noFill/>
        </p:spPr>
        <p:txBody>
          <a:bodyPr wrap="square" rtlCol="0">
            <a:spAutoFit/>
          </a:bodyPr>
          <a:lstStyle/>
          <a:p>
            <a:pPr algn="ctr"/>
            <a:r>
              <a:rPr kumimoji="1" lang="ja-JP" altLang="en-US" sz="1400" b="1" dirty="0"/>
              <a:t>結果出力</a:t>
            </a:r>
          </a:p>
        </p:txBody>
      </p:sp>
      <p:sp>
        <p:nvSpPr>
          <p:cNvPr id="22" name="テキスト ボックス 21">
            <a:extLst>
              <a:ext uri="{FF2B5EF4-FFF2-40B4-BE49-F238E27FC236}">
                <a16:creationId xmlns:a16="http://schemas.microsoft.com/office/drawing/2014/main" id="{F47A531F-8EFF-DCE8-E5DC-888C2C395B65}"/>
              </a:ext>
            </a:extLst>
          </p:cNvPr>
          <p:cNvSpPr txBox="1"/>
          <p:nvPr/>
        </p:nvSpPr>
        <p:spPr>
          <a:xfrm>
            <a:off x="535702" y="3247977"/>
            <a:ext cx="3878680" cy="2031325"/>
          </a:xfrm>
          <a:prstGeom prst="rect">
            <a:avLst/>
          </a:prstGeom>
          <a:noFill/>
        </p:spPr>
        <p:txBody>
          <a:bodyPr wrap="square" rtlCol="0">
            <a:spAutoFit/>
          </a:bodyPr>
          <a:lstStyle/>
          <a:p>
            <a:r>
              <a:rPr kumimoji="1" lang="en-US" altLang="ja-JP" b="1" dirty="0"/>
              <a:t>OpenCV</a:t>
            </a:r>
            <a:r>
              <a:rPr kumimoji="1" lang="ja-JP" altLang="en-US" b="1" dirty="0"/>
              <a:t>を使うことで、</a:t>
            </a:r>
            <a:endParaRPr lang="en-US" altLang="ja-JP" b="1" dirty="0"/>
          </a:p>
          <a:p>
            <a:r>
              <a:rPr kumimoji="1" lang="ja-JP" altLang="en-US" b="1" dirty="0"/>
              <a:t>データのデコード</a:t>
            </a:r>
            <a:endParaRPr kumimoji="1" lang="en-US" altLang="ja-JP" b="1" dirty="0"/>
          </a:p>
          <a:p>
            <a:r>
              <a:rPr kumimoji="1" lang="ja-JP" altLang="en-US" b="1" dirty="0"/>
              <a:t>（これ自体は</a:t>
            </a:r>
            <a:r>
              <a:rPr kumimoji="1" lang="en-US" altLang="ja-JP" b="1" dirty="0"/>
              <a:t>OS</a:t>
            </a:r>
            <a:r>
              <a:rPr kumimoji="1" lang="ja-JP" altLang="en-US" b="1" dirty="0"/>
              <a:t>の機能。</a:t>
            </a:r>
            <a:r>
              <a:rPr kumimoji="1" lang="en-US" altLang="ja-JP" b="1" dirty="0"/>
              <a:t>OpenCV</a:t>
            </a:r>
            <a:r>
              <a:rPr kumimoji="1" lang="ja-JP" altLang="en-US" b="1" dirty="0"/>
              <a:t>は</a:t>
            </a:r>
            <a:r>
              <a:rPr kumimoji="1" lang="en-US" altLang="ja-JP" b="1" dirty="0"/>
              <a:t>OS</a:t>
            </a:r>
            <a:r>
              <a:rPr kumimoji="1" lang="ja-JP" altLang="en-US" b="1" dirty="0"/>
              <a:t>の機能をラップしている）</a:t>
            </a:r>
            <a:endParaRPr kumimoji="1" lang="en-US" altLang="ja-JP" b="1" dirty="0"/>
          </a:p>
          <a:p>
            <a:r>
              <a:rPr kumimoji="1" lang="ja-JP" altLang="en-US" b="1" dirty="0"/>
              <a:t>を行うことができ、リアルタイムのカメラからのデータも</a:t>
            </a:r>
            <a:endParaRPr kumimoji="1" lang="en-US" altLang="ja-JP" b="1" dirty="0"/>
          </a:p>
          <a:p>
            <a:r>
              <a:rPr lang="ja-JP" altLang="en-US" b="1" dirty="0"/>
              <a:t>画像処理で扱うことができる</a:t>
            </a:r>
            <a:endParaRPr kumimoji="1" lang="ja-JP" altLang="en-US" b="1" dirty="0"/>
          </a:p>
        </p:txBody>
      </p:sp>
      <p:sp>
        <p:nvSpPr>
          <p:cNvPr id="23" name="テキスト ボックス 22">
            <a:extLst>
              <a:ext uri="{FF2B5EF4-FFF2-40B4-BE49-F238E27FC236}">
                <a16:creationId xmlns:a16="http://schemas.microsoft.com/office/drawing/2014/main" id="{960A142E-FCB8-B727-A077-1D599B7E979B}"/>
              </a:ext>
            </a:extLst>
          </p:cNvPr>
          <p:cNvSpPr txBox="1"/>
          <p:nvPr/>
        </p:nvSpPr>
        <p:spPr>
          <a:xfrm>
            <a:off x="119212" y="5392631"/>
            <a:ext cx="3878680" cy="646331"/>
          </a:xfrm>
          <a:prstGeom prst="rect">
            <a:avLst/>
          </a:prstGeom>
          <a:noFill/>
        </p:spPr>
        <p:txBody>
          <a:bodyPr wrap="square" rtlCol="0">
            <a:spAutoFit/>
          </a:bodyPr>
          <a:lstStyle/>
          <a:p>
            <a:pPr algn="ctr"/>
            <a:r>
              <a:rPr kumimoji="1" lang="ja-JP" altLang="en-US" b="1" dirty="0"/>
              <a:t>画像処理の対象が動画の場合には、</a:t>
            </a:r>
            <a:r>
              <a:rPr kumimoji="1" lang="ja-JP" altLang="en-US" b="1" dirty="0">
                <a:solidFill>
                  <a:srgbClr val="FF0000"/>
                </a:solidFill>
              </a:rPr>
              <a:t>動画像処理</a:t>
            </a:r>
            <a:r>
              <a:rPr kumimoji="1" lang="ja-JP" altLang="en-US" b="1" dirty="0"/>
              <a:t>という言い方をする</a:t>
            </a:r>
          </a:p>
        </p:txBody>
      </p:sp>
    </p:spTree>
    <p:extLst>
      <p:ext uri="{BB962C8B-B14F-4D97-AF65-F5344CB8AC3E}">
        <p14:creationId xmlns:p14="http://schemas.microsoft.com/office/powerpoint/2010/main" val="130769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4E49B3-4D61-6D33-5118-7D6AC330C644}"/>
              </a:ext>
            </a:extLst>
          </p:cNvPr>
          <p:cNvSpPr>
            <a:spLocks noGrp="1"/>
          </p:cNvSpPr>
          <p:nvPr>
            <p:ph type="title"/>
          </p:nvPr>
        </p:nvSpPr>
        <p:spPr/>
        <p:txBody>
          <a:bodyPr/>
          <a:lstStyle/>
          <a:p>
            <a:r>
              <a:rPr kumimoji="1" lang="ja-JP" altLang="en-US" dirty="0"/>
              <a:t>画像処理とは</a:t>
            </a:r>
          </a:p>
        </p:txBody>
      </p:sp>
      <p:sp>
        <p:nvSpPr>
          <p:cNvPr id="3" name="コンテンツ プレースホルダー 2">
            <a:extLst>
              <a:ext uri="{FF2B5EF4-FFF2-40B4-BE49-F238E27FC236}">
                <a16:creationId xmlns:a16="http://schemas.microsoft.com/office/drawing/2014/main" id="{DAEE5860-B932-4A04-1479-A01113CBD34D}"/>
              </a:ext>
            </a:extLst>
          </p:cNvPr>
          <p:cNvSpPr>
            <a:spLocks noGrp="1"/>
          </p:cNvSpPr>
          <p:nvPr>
            <p:ph idx="1"/>
          </p:nvPr>
        </p:nvSpPr>
        <p:spPr/>
        <p:txBody>
          <a:bodyPr/>
          <a:lstStyle/>
          <a:p>
            <a:r>
              <a:rPr kumimoji="1" lang="ja-JP" altLang="en-US" b="1" dirty="0"/>
              <a:t>画像処理（広義）（</a:t>
            </a:r>
            <a:r>
              <a:rPr kumimoji="1" lang="en-US" altLang="ja-JP" b="1" dirty="0"/>
              <a:t>Image</a:t>
            </a:r>
            <a:r>
              <a:rPr kumimoji="1" lang="ja-JP" altLang="en-US" b="1" dirty="0"/>
              <a:t> </a:t>
            </a:r>
            <a:r>
              <a:rPr kumimoji="1" lang="en-US" altLang="ja-JP" b="1" dirty="0"/>
              <a:t>Processing</a:t>
            </a:r>
            <a:r>
              <a:rPr kumimoji="1" lang="ja-JP" altLang="en-US" b="1" dirty="0"/>
              <a:t>）</a:t>
            </a:r>
            <a:endParaRPr kumimoji="1" lang="en-US" altLang="ja-JP" b="1" dirty="0"/>
          </a:p>
          <a:p>
            <a:pPr lvl="1"/>
            <a:r>
              <a:rPr kumimoji="1" lang="ja-JP" altLang="en-US" dirty="0"/>
              <a:t>得られた画像をもとにある処理を行い、より見やすい画像にする</a:t>
            </a:r>
            <a:endParaRPr kumimoji="1" lang="en-US" altLang="ja-JP" dirty="0"/>
          </a:p>
          <a:p>
            <a:pPr lvl="1"/>
            <a:r>
              <a:rPr lang="ja-JP" altLang="en-US" dirty="0"/>
              <a:t>画像から何らかの情報を取り出すために行われる処理全般</a:t>
            </a:r>
            <a:endParaRPr lang="en-US" altLang="ja-JP" dirty="0"/>
          </a:p>
          <a:p>
            <a:pPr lvl="1"/>
            <a:r>
              <a:rPr lang="ja-JP" altLang="en-US" dirty="0"/>
              <a:t>広義の画像処理は、</a:t>
            </a:r>
            <a:r>
              <a:rPr lang="ja-JP" altLang="en-US" b="1" dirty="0"/>
              <a:t>狭義の画像処理</a:t>
            </a:r>
            <a:r>
              <a:rPr lang="ja-JP" altLang="en-US" dirty="0"/>
              <a:t>と</a:t>
            </a:r>
            <a:r>
              <a:rPr lang="ja-JP" altLang="en-US" b="1" dirty="0"/>
              <a:t>画像認識</a:t>
            </a:r>
            <a:r>
              <a:rPr lang="ja-JP" altLang="en-US" dirty="0"/>
              <a:t>を併せた意味合いで使用される</a:t>
            </a:r>
            <a:endParaRPr lang="en-US" altLang="ja-JP" dirty="0"/>
          </a:p>
          <a:p>
            <a:pPr marL="0" indent="0">
              <a:buNone/>
            </a:pPr>
            <a:endParaRPr kumimoji="1" lang="ja-JP" altLang="en-US" dirty="0"/>
          </a:p>
        </p:txBody>
      </p:sp>
      <p:sp>
        <p:nvSpPr>
          <p:cNvPr id="4" name="フッター プレースホルダー 3">
            <a:extLst>
              <a:ext uri="{FF2B5EF4-FFF2-40B4-BE49-F238E27FC236}">
                <a16:creationId xmlns:a16="http://schemas.microsoft.com/office/drawing/2014/main" id="{04D4AAF3-1985-9B1A-2571-61CC981865E1}"/>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E2429B76-0193-D99F-B3F4-DD2AC945CE59}"/>
              </a:ext>
            </a:extLst>
          </p:cNvPr>
          <p:cNvSpPr>
            <a:spLocks noGrp="1"/>
          </p:cNvSpPr>
          <p:nvPr>
            <p:ph type="sldNum" sz="quarter" idx="12"/>
          </p:nvPr>
        </p:nvSpPr>
        <p:spPr/>
        <p:txBody>
          <a:bodyPr/>
          <a:lstStyle/>
          <a:p>
            <a:fld id="{15F8CBF0-873C-4A82-8701-EEE0E47109A0}" type="slidenum">
              <a:rPr kumimoji="1" lang="ja-JP" altLang="en-US" smtClean="0"/>
              <a:t>11</a:t>
            </a:fld>
            <a:endParaRPr kumimoji="1" lang="ja-JP" altLang="en-US"/>
          </a:p>
        </p:txBody>
      </p:sp>
    </p:spTree>
    <p:extLst>
      <p:ext uri="{BB962C8B-B14F-4D97-AF65-F5344CB8AC3E}">
        <p14:creationId xmlns:p14="http://schemas.microsoft.com/office/powerpoint/2010/main" val="1131263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DD73FF-EC69-260E-F0CE-A4DE1A7F2F67}"/>
              </a:ext>
            </a:extLst>
          </p:cNvPr>
          <p:cNvSpPr>
            <a:spLocks noGrp="1"/>
          </p:cNvSpPr>
          <p:nvPr>
            <p:ph type="title"/>
          </p:nvPr>
        </p:nvSpPr>
        <p:spPr/>
        <p:txBody>
          <a:bodyPr/>
          <a:lstStyle/>
          <a:p>
            <a:r>
              <a:rPr lang="ja-JP" altLang="en-US" dirty="0"/>
              <a:t>狭義の画像処理</a:t>
            </a:r>
            <a:endParaRPr kumimoji="1" lang="ja-JP" altLang="en-US" dirty="0"/>
          </a:p>
        </p:txBody>
      </p:sp>
      <p:sp>
        <p:nvSpPr>
          <p:cNvPr id="3" name="コンテンツ プレースホルダー 2">
            <a:extLst>
              <a:ext uri="{FF2B5EF4-FFF2-40B4-BE49-F238E27FC236}">
                <a16:creationId xmlns:a16="http://schemas.microsoft.com/office/drawing/2014/main" id="{5E7F5486-68CA-F587-8981-C6294605A5BC}"/>
              </a:ext>
            </a:extLst>
          </p:cNvPr>
          <p:cNvSpPr>
            <a:spLocks noGrp="1"/>
          </p:cNvSpPr>
          <p:nvPr>
            <p:ph idx="1"/>
          </p:nvPr>
        </p:nvSpPr>
        <p:spPr>
          <a:xfrm>
            <a:off x="838200" y="1508998"/>
            <a:ext cx="10515600" cy="4351338"/>
          </a:xfrm>
        </p:spPr>
        <p:txBody>
          <a:bodyPr/>
          <a:lstStyle/>
          <a:p>
            <a:r>
              <a:rPr lang="ja-JP" altLang="en-US" b="1" dirty="0"/>
              <a:t>画像処理（狭義） （</a:t>
            </a:r>
            <a:r>
              <a:rPr lang="en-US" altLang="ja-JP" b="1" dirty="0"/>
              <a:t>Image</a:t>
            </a:r>
            <a:r>
              <a:rPr lang="ja-JP" altLang="en-US" b="1" dirty="0"/>
              <a:t> </a:t>
            </a:r>
            <a:r>
              <a:rPr lang="en-US" altLang="ja-JP" b="1" dirty="0"/>
              <a:t>Processing</a:t>
            </a:r>
            <a:r>
              <a:rPr lang="ja-JP" altLang="en-US" b="1" dirty="0"/>
              <a:t>）</a:t>
            </a:r>
            <a:endParaRPr lang="en-US" altLang="ja-JP" b="1" dirty="0"/>
          </a:p>
          <a:p>
            <a:pPr lvl="1"/>
            <a:r>
              <a:rPr kumimoji="1" lang="ja-JP" altLang="en-US" dirty="0"/>
              <a:t>画像に対する各種</a:t>
            </a:r>
            <a:r>
              <a:rPr kumimoji="1" lang="ja-JP" altLang="en-US" b="1" dirty="0"/>
              <a:t>変換処理</a:t>
            </a:r>
            <a:r>
              <a:rPr kumimoji="1" lang="ja-JP" altLang="en-US" dirty="0"/>
              <a:t>（</a:t>
            </a:r>
            <a:r>
              <a:rPr kumimoji="1" lang="ja-JP" altLang="en-US" b="1" dirty="0"/>
              <a:t>ディジタル画像処理</a:t>
            </a:r>
            <a:r>
              <a:rPr kumimoji="1" lang="ja-JP" altLang="en-US" dirty="0"/>
              <a:t>）</a:t>
            </a:r>
            <a:endParaRPr kumimoji="1" lang="en-US" altLang="ja-JP" dirty="0"/>
          </a:p>
          <a:p>
            <a:pPr lvl="2"/>
            <a:r>
              <a:rPr kumimoji="1" lang="ja-JP" altLang="en-US" dirty="0"/>
              <a:t>濃度変換、各種フィルタ、</a:t>
            </a:r>
            <a:r>
              <a:rPr kumimoji="1" lang="en-US" altLang="ja-JP" dirty="0"/>
              <a:t>2</a:t>
            </a:r>
            <a:r>
              <a:rPr kumimoji="1" lang="ja-JP" altLang="en-US" dirty="0"/>
              <a:t>値化、線図形化 等</a:t>
            </a:r>
            <a:endParaRPr kumimoji="1" lang="en-US" altLang="ja-JP" dirty="0"/>
          </a:p>
          <a:p>
            <a:pPr lvl="1"/>
            <a:r>
              <a:rPr kumimoji="1" lang="ja-JP" altLang="en-US" dirty="0"/>
              <a:t>入力は画像、出力も画像</a:t>
            </a:r>
            <a:endParaRPr kumimoji="1" lang="en-US" altLang="ja-JP" dirty="0"/>
          </a:p>
          <a:p>
            <a:pPr lvl="1"/>
            <a:r>
              <a:rPr lang="ja-JP" altLang="en-US" dirty="0"/>
              <a:t>画像認識の前処理となる場合が多い</a:t>
            </a:r>
            <a:endParaRPr lang="en-US" altLang="ja-JP" dirty="0"/>
          </a:p>
          <a:p>
            <a:pPr marL="0" indent="0">
              <a:buNone/>
            </a:pPr>
            <a:endParaRPr kumimoji="1" lang="ja-JP" altLang="en-US" dirty="0"/>
          </a:p>
        </p:txBody>
      </p:sp>
      <p:sp>
        <p:nvSpPr>
          <p:cNvPr id="4" name="フッター プレースホルダー 3">
            <a:extLst>
              <a:ext uri="{FF2B5EF4-FFF2-40B4-BE49-F238E27FC236}">
                <a16:creationId xmlns:a16="http://schemas.microsoft.com/office/drawing/2014/main" id="{A3CEA726-62AF-CE8A-6912-D03D7648B260}"/>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C141503C-984F-9555-AA37-C1054A432C4F}"/>
              </a:ext>
            </a:extLst>
          </p:cNvPr>
          <p:cNvSpPr>
            <a:spLocks noGrp="1"/>
          </p:cNvSpPr>
          <p:nvPr>
            <p:ph type="sldNum" sz="quarter" idx="12"/>
          </p:nvPr>
        </p:nvSpPr>
        <p:spPr/>
        <p:txBody>
          <a:bodyPr/>
          <a:lstStyle/>
          <a:p>
            <a:fld id="{15F8CBF0-873C-4A82-8701-EEE0E47109A0}" type="slidenum">
              <a:rPr kumimoji="1" lang="ja-JP" altLang="en-US" smtClean="0"/>
              <a:t>12</a:t>
            </a:fld>
            <a:endParaRPr kumimoji="1" lang="ja-JP" altLang="en-US"/>
          </a:p>
        </p:txBody>
      </p:sp>
      <p:pic>
        <p:nvPicPr>
          <p:cNvPr id="6" name="図 5" descr="アイコン&#10;&#10;自動的に生成された説明">
            <a:extLst>
              <a:ext uri="{FF2B5EF4-FFF2-40B4-BE49-F238E27FC236}">
                <a16:creationId xmlns:a16="http://schemas.microsoft.com/office/drawing/2014/main" id="{212E1765-46C8-929D-1E04-18D3A386F6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4657" y="3575012"/>
            <a:ext cx="1663642" cy="2135007"/>
          </a:xfrm>
          <a:prstGeom prst="rect">
            <a:avLst/>
          </a:prstGeom>
          <a:ln>
            <a:solidFill>
              <a:schemeClr val="tx1"/>
            </a:solidFill>
          </a:ln>
        </p:spPr>
      </p:pic>
      <p:pic>
        <p:nvPicPr>
          <p:cNvPr id="7" name="図 6" descr="アイコン&#10;&#10;自動的に生成された説明">
            <a:extLst>
              <a:ext uri="{FF2B5EF4-FFF2-40B4-BE49-F238E27FC236}">
                <a16:creationId xmlns:a16="http://schemas.microsoft.com/office/drawing/2014/main" id="{24050521-0987-9A3F-3F47-1B7856CE10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33369" y="3575012"/>
            <a:ext cx="1663642" cy="2135007"/>
          </a:xfrm>
          <a:prstGeom prst="rect">
            <a:avLst/>
          </a:prstGeom>
          <a:ln>
            <a:solidFill>
              <a:schemeClr val="tx1"/>
            </a:solidFill>
          </a:ln>
        </p:spPr>
      </p:pic>
      <p:pic>
        <p:nvPicPr>
          <p:cNvPr id="8" name="図 7" descr="図形&#10;&#10;中程度の精度で自動的に生成された説明">
            <a:extLst>
              <a:ext uri="{FF2B5EF4-FFF2-40B4-BE49-F238E27FC236}">
                <a16:creationId xmlns:a16="http://schemas.microsoft.com/office/drawing/2014/main" id="{FCD84598-DBD1-DFAA-E931-84AC5B58D2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72080" y="3562421"/>
            <a:ext cx="1663642" cy="2135007"/>
          </a:xfrm>
          <a:prstGeom prst="rect">
            <a:avLst/>
          </a:prstGeom>
          <a:ln>
            <a:solidFill>
              <a:schemeClr val="tx1"/>
            </a:solidFill>
          </a:ln>
        </p:spPr>
      </p:pic>
      <p:pic>
        <p:nvPicPr>
          <p:cNvPr id="9" name="図 8" descr="アイコン&#10;&#10;自動的に生成された説明">
            <a:extLst>
              <a:ext uri="{FF2B5EF4-FFF2-40B4-BE49-F238E27FC236}">
                <a16:creationId xmlns:a16="http://schemas.microsoft.com/office/drawing/2014/main" id="{C4B442E4-45E2-F72C-9372-6F844FD8DDE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55945" y="3575012"/>
            <a:ext cx="1663642" cy="2135007"/>
          </a:xfrm>
          <a:prstGeom prst="rect">
            <a:avLst/>
          </a:prstGeom>
          <a:ln>
            <a:solidFill>
              <a:schemeClr val="tx1"/>
            </a:solidFill>
          </a:ln>
        </p:spPr>
      </p:pic>
      <p:pic>
        <p:nvPicPr>
          <p:cNvPr id="10" name="図 9" descr="アイコン&#10;&#10;自動的に生成された説明">
            <a:extLst>
              <a:ext uri="{FF2B5EF4-FFF2-40B4-BE49-F238E27FC236}">
                <a16:creationId xmlns:a16="http://schemas.microsoft.com/office/drawing/2014/main" id="{44E58541-FF23-9688-72B7-5334AB7128E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1347" y="3575012"/>
            <a:ext cx="1663642" cy="2135007"/>
          </a:xfrm>
          <a:prstGeom prst="rect">
            <a:avLst/>
          </a:prstGeom>
          <a:ln>
            <a:solidFill>
              <a:schemeClr val="tx1"/>
            </a:solidFill>
          </a:ln>
        </p:spPr>
      </p:pic>
      <p:sp>
        <p:nvSpPr>
          <p:cNvPr id="11" name="テキスト ボックス 10">
            <a:extLst>
              <a:ext uri="{FF2B5EF4-FFF2-40B4-BE49-F238E27FC236}">
                <a16:creationId xmlns:a16="http://schemas.microsoft.com/office/drawing/2014/main" id="{9FF05837-80BE-D250-EFB2-AE272B98F713}"/>
              </a:ext>
            </a:extLst>
          </p:cNvPr>
          <p:cNvSpPr txBox="1"/>
          <p:nvPr/>
        </p:nvSpPr>
        <p:spPr>
          <a:xfrm>
            <a:off x="1124586" y="5770268"/>
            <a:ext cx="877163" cy="369332"/>
          </a:xfrm>
          <a:prstGeom prst="rect">
            <a:avLst/>
          </a:prstGeom>
          <a:noFill/>
        </p:spPr>
        <p:txBody>
          <a:bodyPr wrap="none" rtlCol="0">
            <a:spAutoFit/>
          </a:bodyPr>
          <a:lstStyle/>
          <a:p>
            <a:pPr algn="ctr"/>
            <a:r>
              <a:rPr kumimoji="1" lang="ja-JP" altLang="en-US" dirty="0"/>
              <a:t>原画像</a:t>
            </a:r>
            <a:endParaRPr kumimoji="1" lang="en-US" altLang="ja-JP" dirty="0"/>
          </a:p>
        </p:txBody>
      </p:sp>
      <p:sp>
        <p:nvSpPr>
          <p:cNvPr id="12" name="テキスト ボックス 11">
            <a:extLst>
              <a:ext uri="{FF2B5EF4-FFF2-40B4-BE49-F238E27FC236}">
                <a16:creationId xmlns:a16="http://schemas.microsoft.com/office/drawing/2014/main" id="{03C868E7-33A6-66C6-3FBD-BD12234ACB58}"/>
              </a:ext>
            </a:extLst>
          </p:cNvPr>
          <p:cNvSpPr txBox="1"/>
          <p:nvPr/>
        </p:nvSpPr>
        <p:spPr>
          <a:xfrm>
            <a:off x="4387519" y="5770268"/>
            <a:ext cx="1800493" cy="369332"/>
          </a:xfrm>
          <a:prstGeom prst="rect">
            <a:avLst/>
          </a:prstGeom>
          <a:noFill/>
        </p:spPr>
        <p:txBody>
          <a:bodyPr wrap="none" rtlCol="0">
            <a:spAutoFit/>
          </a:bodyPr>
          <a:lstStyle/>
          <a:p>
            <a:pPr algn="ctr"/>
            <a:r>
              <a:rPr kumimoji="1" lang="ja-JP" altLang="en-US" dirty="0"/>
              <a:t>グレースケール</a:t>
            </a:r>
          </a:p>
        </p:txBody>
      </p:sp>
      <p:sp>
        <p:nvSpPr>
          <p:cNvPr id="13" name="テキスト ボックス 12">
            <a:extLst>
              <a:ext uri="{FF2B5EF4-FFF2-40B4-BE49-F238E27FC236}">
                <a16:creationId xmlns:a16="http://schemas.microsoft.com/office/drawing/2014/main" id="{9F33050D-2B1E-5EDD-B071-35702B12A933}"/>
              </a:ext>
            </a:extLst>
          </p:cNvPr>
          <p:cNvSpPr txBox="1"/>
          <p:nvPr/>
        </p:nvSpPr>
        <p:spPr>
          <a:xfrm>
            <a:off x="6739192" y="5770268"/>
            <a:ext cx="774571" cy="369332"/>
          </a:xfrm>
          <a:prstGeom prst="rect">
            <a:avLst/>
          </a:prstGeom>
          <a:noFill/>
        </p:spPr>
        <p:txBody>
          <a:bodyPr wrap="none" rtlCol="0">
            <a:spAutoFit/>
          </a:bodyPr>
          <a:lstStyle/>
          <a:p>
            <a:pPr algn="ctr"/>
            <a:r>
              <a:rPr kumimoji="1" lang="en-US" altLang="ja-JP" dirty="0"/>
              <a:t>2</a:t>
            </a:r>
            <a:r>
              <a:rPr kumimoji="1" lang="ja-JP" altLang="en-US" dirty="0"/>
              <a:t>値化</a:t>
            </a:r>
            <a:endParaRPr kumimoji="1" lang="en-US" altLang="ja-JP" dirty="0"/>
          </a:p>
        </p:txBody>
      </p:sp>
      <p:sp>
        <p:nvSpPr>
          <p:cNvPr id="14" name="テキスト ボックス 13">
            <a:extLst>
              <a:ext uri="{FF2B5EF4-FFF2-40B4-BE49-F238E27FC236}">
                <a16:creationId xmlns:a16="http://schemas.microsoft.com/office/drawing/2014/main" id="{14336700-E065-6136-E4BF-CABB4F94423C}"/>
              </a:ext>
            </a:extLst>
          </p:cNvPr>
          <p:cNvSpPr txBox="1"/>
          <p:nvPr/>
        </p:nvSpPr>
        <p:spPr>
          <a:xfrm>
            <a:off x="8526608" y="5770268"/>
            <a:ext cx="877163" cy="646331"/>
          </a:xfrm>
          <a:prstGeom prst="rect">
            <a:avLst/>
          </a:prstGeom>
          <a:noFill/>
        </p:spPr>
        <p:txBody>
          <a:bodyPr wrap="none" rtlCol="0">
            <a:spAutoFit/>
          </a:bodyPr>
          <a:lstStyle/>
          <a:p>
            <a:pPr algn="ctr"/>
            <a:r>
              <a:rPr kumimoji="1" lang="ja-JP" altLang="en-US" dirty="0"/>
              <a:t>平滑化</a:t>
            </a:r>
            <a:endParaRPr kumimoji="1" lang="en-US" altLang="ja-JP" dirty="0"/>
          </a:p>
          <a:p>
            <a:pPr algn="ctr"/>
            <a:r>
              <a:rPr kumimoji="1" lang="ja-JP" altLang="en-US" dirty="0"/>
              <a:t>ぼかし</a:t>
            </a:r>
          </a:p>
        </p:txBody>
      </p:sp>
      <p:sp>
        <p:nvSpPr>
          <p:cNvPr id="15" name="テキスト ボックス 14">
            <a:extLst>
              <a:ext uri="{FF2B5EF4-FFF2-40B4-BE49-F238E27FC236}">
                <a16:creationId xmlns:a16="http://schemas.microsoft.com/office/drawing/2014/main" id="{EFAB60F1-466B-E794-A516-B717C95E5BE2}"/>
              </a:ext>
            </a:extLst>
          </p:cNvPr>
          <p:cNvSpPr txBox="1"/>
          <p:nvPr/>
        </p:nvSpPr>
        <p:spPr>
          <a:xfrm>
            <a:off x="10134487" y="5770268"/>
            <a:ext cx="1338828" cy="646331"/>
          </a:xfrm>
          <a:prstGeom prst="rect">
            <a:avLst/>
          </a:prstGeom>
          <a:noFill/>
        </p:spPr>
        <p:txBody>
          <a:bodyPr wrap="none" rtlCol="0">
            <a:spAutoFit/>
          </a:bodyPr>
          <a:lstStyle/>
          <a:p>
            <a:pPr algn="ctr"/>
            <a:r>
              <a:rPr kumimoji="1" lang="ja-JP" altLang="en-US" dirty="0"/>
              <a:t>エッジ検出</a:t>
            </a:r>
            <a:endParaRPr kumimoji="1" lang="en-US" altLang="ja-JP" dirty="0"/>
          </a:p>
          <a:p>
            <a:pPr algn="ctr"/>
            <a:r>
              <a:rPr kumimoji="1" lang="ja-JP" altLang="en-US" dirty="0"/>
              <a:t>端強調</a:t>
            </a:r>
          </a:p>
        </p:txBody>
      </p:sp>
      <p:sp>
        <p:nvSpPr>
          <p:cNvPr id="16" name="矢印: 右 15">
            <a:extLst>
              <a:ext uri="{FF2B5EF4-FFF2-40B4-BE49-F238E27FC236}">
                <a16:creationId xmlns:a16="http://schemas.microsoft.com/office/drawing/2014/main" id="{B933D4D8-E3C0-A1ED-1B97-2E3EBAA53AF7}"/>
              </a:ext>
            </a:extLst>
          </p:cNvPr>
          <p:cNvSpPr/>
          <p:nvPr/>
        </p:nvSpPr>
        <p:spPr>
          <a:xfrm>
            <a:off x="2753820" y="4477077"/>
            <a:ext cx="1343293" cy="3056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BE8CC795-7BDB-A1A5-612F-31AAA52378BF}"/>
              </a:ext>
            </a:extLst>
          </p:cNvPr>
          <p:cNvSpPr txBox="1"/>
          <p:nvPr/>
        </p:nvSpPr>
        <p:spPr>
          <a:xfrm>
            <a:off x="2640636" y="3952907"/>
            <a:ext cx="1569660" cy="646331"/>
          </a:xfrm>
          <a:prstGeom prst="rect">
            <a:avLst/>
          </a:prstGeom>
          <a:noFill/>
        </p:spPr>
        <p:txBody>
          <a:bodyPr wrap="none" rtlCol="0">
            <a:spAutoFit/>
          </a:bodyPr>
          <a:lstStyle/>
          <a:p>
            <a:pPr algn="ctr"/>
            <a:r>
              <a:rPr kumimoji="1" lang="ja-JP" altLang="en-US" dirty="0"/>
              <a:t>各種の変換！</a:t>
            </a:r>
            <a:endParaRPr kumimoji="1" lang="en-US" altLang="ja-JP" dirty="0"/>
          </a:p>
          <a:p>
            <a:pPr algn="ctr"/>
            <a:r>
              <a:rPr lang="ja-JP" altLang="en-US" dirty="0"/>
              <a:t>（画像処理）</a:t>
            </a:r>
            <a:endParaRPr kumimoji="1" lang="en-US" altLang="ja-JP" dirty="0"/>
          </a:p>
        </p:txBody>
      </p:sp>
    </p:spTree>
    <p:extLst>
      <p:ext uri="{BB962C8B-B14F-4D97-AF65-F5344CB8AC3E}">
        <p14:creationId xmlns:p14="http://schemas.microsoft.com/office/powerpoint/2010/main" val="1467256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3569CD-677D-9670-DEF5-65F82F413903}"/>
              </a:ext>
            </a:extLst>
          </p:cNvPr>
          <p:cNvSpPr>
            <a:spLocks noGrp="1"/>
          </p:cNvSpPr>
          <p:nvPr>
            <p:ph type="title"/>
          </p:nvPr>
        </p:nvSpPr>
        <p:spPr/>
        <p:txBody>
          <a:bodyPr/>
          <a:lstStyle/>
          <a:p>
            <a:r>
              <a:rPr kumimoji="1" lang="ja-JP" altLang="en-US" dirty="0"/>
              <a:t>画像認識</a:t>
            </a:r>
          </a:p>
        </p:txBody>
      </p:sp>
      <p:sp>
        <p:nvSpPr>
          <p:cNvPr id="3" name="コンテンツ プレースホルダー 2">
            <a:extLst>
              <a:ext uri="{FF2B5EF4-FFF2-40B4-BE49-F238E27FC236}">
                <a16:creationId xmlns:a16="http://schemas.microsoft.com/office/drawing/2014/main" id="{A4A607A2-FADF-12D7-DF57-718D347BD51D}"/>
              </a:ext>
            </a:extLst>
          </p:cNvPr>
          <p:cNvSpPr>
            <a:spLocks noGrp="1"/>
          </p:cNvSpPr>
          <p:nvPr>
            <p:ph idx="1"/>
          </p:nvPr>
        </p:nvSpPr>
        <p:spPr>
          <a:xfrm>
            <a:off x="838200" y="1459865"/>
            <a:ext cx="10515600" cy="4351338"/>
          </a:xfrm>
        </p:spPr>
        <p:txBody>
          <a:bodyPr/>
          <a:lstStyle/>
          <a:p>
            <a:r>
              <a:rPr lang="ja-JP" altLang="en-US" b="1" dirty="0"/>
              <a:t>画像認識（</a:t>
            </a:r>
            <a:r>
              <a:rPr lang="en-US" altLang="ja-JP" b="1" dirty="0"/>
              <a:t>Image</a:t>
            </a:r>
            <a:r>
              <a:rPr lang="ja-JP" altLang="en-US" b="1" dirty="0"/>
              <a:t> </a:t>
            </a:r>
            <a:r>
              <a:rPr lang="en-US" altLang="ja-JP" b="1" dirty="0"/>
              <a:t>Recognition</a:t>
            </a:r>
            <a:r>
              <a:rPr lang="ja-JP" altLang="en-US" b="1" dirty="0"/>
              <a:t>）</a:t>
            </a:r>
            <a:endParaRPr lang="en-US" altLang="ja-JP" b="1" dirty="0"/>
          </a:p>
          <a:p>
            <a:pPr lvl="1"/>
            <a:r>
              <a:rPr kumimoji="1" lang="ja-JP" altLang="en-US" dirty="0"/>
              <a:t>画像を分析して対象物を認識することで、対象に関するデータを得ること</a:t>
            </a:r>
            <a:endParaRPr kumimoji="1" lang="en-US" altLang="ja-JP" dirty="0"/>
          </a:p>
          <a:p>
            <a:pPr lvl="2"/>
            <a:r>
              <a:rPr lang="ja-JP" altLang="en-US" dirty="0"/>
              <a:t>画像計測、画像解析、画像理解と呼ばれる場合がある</a:t>
            </a:r>
            <a:endParaRPr kumimoji="1" lang="en-US" altLang="ja-JP" dirty="0"/>
          </a:p>
          <a:p>
            <a:pPr lvl="1"/>
            <a:r>
              <a:rPr kumimoji="1" lang="ja-JP" altLang="en-US" dirty="0"/>
              <a:t>入力は画像、出力はデータ（位置、良否など）</a:t>
            </a:r>
            <a:endParaRPr kumimoji="1" lang="en-US" altLang="ja-JP" dirty="0"/>
          </a:p>
          <a:p>
            <a:pPr marL="0" indent="0">
              <a:buNone/>
            </a:pPr>
            <a:endParaRPr kumimoji="1" lang="ja-JP" altLang="en-US" dirty="0"/>
          </a:p>
        </p:txBody>
      </p:sp>
      <p:sp>
        <p:nvSpPr>
          <p:cNvPr id="4" name="フッター プレースホルダー 3">
            <a:extLst>
              <a:ext uri="{FF2B5EF4-FFF2-40B4-BE49-F238E27FC236}">
                <a16:creationId xmlns:a16="http://schemas.microsoft.com/office/drawing/2014/main" id="{91F41031-9464-BA9A-6998-E3B7CF2D6CA1}"/>
              </a:ext>
            </a:extLst>
          </p:cNvPr>
          <p:cNvSpPr>
            <a:spLocks noGrp="1"/>
          </p:cNvSpPr>
          <p:nvPr>
            <p:ph type="ftr" sz="quarter" idx="11"/>
          </p:nvPr>
        </p:nvSpPr>
        <p:spPr/>
        <p:txBody>
          <a:bodyPr/>
          <a:lstStyle/>
          <a:p>
            <a:r>
              <a:rPr kumimoji="1" lang="ja-JP" altLang="en-US" dirty="0"/>
              <a:t>ポリテクセンター栃木</a:t>
            </a:r>
          </a:p>
        </p:txBody>
      </p:sp>
      <p:sp>
        <p:nvSpPr>
          <p:cNvPr id="5" name="スライド番号プレースホルダー 4">
            <a:extLst>
              <a:ext uri="{FF2B5EF4-FFF2-40B4-BE49-F238E27FC236}">
                <a16:creationId xmlns:a16="http://schemas.microsoft.com/office/drawing/2014/main" id="{0626F9EE-DAC3-1AD9-47ED-47E2520AF637}"/>
              </a:ext>
            </a:extLst>
          </p:cNvPr>
          <p:cNvSpPr>
            <a:spLocks noGrp="1"/>
          </p:cNvSpPr>
          <p:nvPr>
            <p:ph type="sldNum" sz="quarter" idx="12"/>
          </p:nvPr>
        </p:nvSpPr>
        <p:spPr/>
        <p:txBody>
          <a:bodyPr/>
          <a:lstStyle/>
          <a:p>
            <a:fld id="{15F8CBF0-873C-4A82-8701-EEE0E47109A0}" type="slidenum">
              <a:rPr kumimoji="1" lang="ja-JP" altLang="en-US" smtClean="0"/>
              <a:t>13</a:t>
            </a:fld>
            <a:endParaRPr kumimoji="1" lang="ja-JP" altLang="en-US"/>
          </a:p>
        </p:txBody>
      </p:sp>
      <p:sp>
        <p:nvSpPr>
          <p:cNvPr id="6" name="正方形/長方形 5">
            <a:extLst>
              <a:ext uri="{FF2B5EF4-FFF2-40B4-BE49-F238E27FC236}">
                <a16:creationId xmlns:a16="http://schemas.microsoft.com/office/drawing/2014/main" id="{F3339C97-BE58-A771-1954-0512CDFA1364}"/>
              </a:ext>
            </a:extLst>
          </p:cNvPr>
          <p:cNvSpPr>
            <a:spLocks/>
          </p:cNvSpPr>
          <p:nvPr/>
        </p:nvSpPr>
        <p:spPr>
          <a:xfrm>
            <a:off x="10115940" y="4633207"/>
            <a:ext cx="1568304" cy="7801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dirty="0">
                <a:solidFill>
                  <a:sysClr val="windowText" lastClr="000000"/>
                </a:solidFill>
              </a:rPr>
              <a:t>大きさ：</a:t>
            </a:r>
            <a:r>
              <a:rPr kumimoji="1" lang="en-US" altLang="ja-JP" dirty="0">
                <a:solidFill>
                  <a:sysClr val="windowText" lastClr="000000"/>
                </a:solidFill>
              </a:rPr>
              <a:t>8cm</a:t>
            </a:r>
          </a:p>
          <a:p>
            <a:pPr algn="ctr"/>
            <a:r>
              <a:rPr kumimoji="1" lang="ja-JP" altLang="en-US" dirty="0">
                <a:solidFill>
                  <a:sysClr val="windowText" lastClr="000000"/>
                </a:solidFill>
              </a:rPr>
              <a:t>キズ：無し</a:t>
            </a:r>
            <a:endParaRPr kumimoji="1" lang="en-US" altLang="ja-JP" dirty="0">
              <a:solidFill>
                <a:sysClr val="windowText" lastClr="000000"/>
              </a:solidFill>
            </a:endParaRPr>
          </a:p>
        </p:txBody>
      </p:sp>
      <mc:AlternateContent xmlns:mc="http://schemas.openxmlformats.org/markup-compatibility/2006">
        <mc:Choice xmlns:am3d="http://schemas.microsoft.com/office/drawing/2017/model3d" Requires="am3d">
          <p:graphicFrame>
            <p:nvGraphicFramePr>
              <p:cNvPr id="7" name="3D モデル 6" descr="カメラ">
                <a:extLst>
                  <a:ext uri="{FF2B5EF4-FFF2-40B4-BE49-F238E27FC236}">
                    <a16:creationId xmlns:a16="http://schemas.microsoft.com/office/drawing/2014/main" id="{8B781CE2-E314-2DE3-5A6B-49AC9B7406AE}"/>
                  </a:ext>
                </a:extLst>
              </p:cNvPr>
              <p:cNvGraphicFramePr>
                <a:graphicFrameLocks noChangeAspect="1"/>
              </p:cNvGraphicFramePr>
              <p:nvPr>
                <p:extLst>
                  <p:ext uri="{D42A27DB-BD31-4B8C-83A1-F6EECF244321}">
                    <p14:modId xmlns:p14="http://schemas.microsoft.com/office/powerpoint/2010/main" val="2255494545"/>
                  </p:ext>
                </p:extLst>
              </p:nvPr>
            </p:nvGraphicFramePr>
            <p:xfrm>
              <a:off x="356721" y="4323567"/>
              <a:ext cx="1757236" cy="1437738"/>
            </p:xfrm>
            <a:graphic>
              <a:graphicData uri="http://schemas.microsoft.com/office/drawing/2017/model3d">
                <am3d:model3d r:embed="rId2">
                  <am3d:spPr>
                    <a:xfrm>
                      <a:off x="0" y="0"/>
                      <a:ext cx="1757236" cy="1437738"/>
                    </a:xfrm>
                    <a:prstGeom prst="rect">
                      <a:avLst/>
                    </a:prstGeom>
                  </am3d:spPr>
                  <am3d:camera>
                    <am3d:pos x="0" y="0" z="61078722"/>
                    <am3d:up dx="0" dy="36000000" dz="0"/>
                    <am3d:lookAt x="0" y="0" z="0"/>
                    <am3d:perspective fov="2700000"/>
                  </am3d:camera>
                  <am3d:trans>
                    <am3d:meterPerModelUnit n="5696654" d="1000000"/>
                    <am3d:preTrans dx="0" dy="-10239108" dz="0"/>
                    <am3d:scale>
                      <am3d:sx n="1000000" d="1000000"/>
                      <am3d:sy n="1000000" d="1000000"/>
                      <am3d:sz n="1000000" d="1000000"/>
                    </am3d:scale>
                    <am3d:rot ax="4009851" ay="2098990" az="3195632"/>
                    <am3d:postTrans dx="0" dy="0" dz="0"/>
                  </am3d:trans>
                  <am3d:raster rName="Office3DRenderer" rVer="16.0.8326">
                    <am3d:blip r:embed="rId3"/>
                  </am3d:raster>
                  <am3d:objViewport viewportSz="207673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モデル 6" descr="カメラ">
                <a:extLst>
                  <a:ext uri="{FF2B5EF4-FFF2-40B4-BE49-F238E27FC236}">
                    <a16:creationId xmlns:a16="http://schemas.microsoft.com/office/drawing/2014/main" id="{8B781CE2-E314-2DE3-5A6B-49AC9B7406AE}"/>
                  </a:ext>
                </a:extLst>
              </p:cNvPr>
              <p:cNvPicPr>
                <a:picLocks noGrp="1" noRot="1" noChangeAspect="1" noMove="1" noResize="1" noEditPoints="1" noAdjustHandles="1" noChangeArrowheads="1" noChangeShapeType="1" noCrop="1"/>
              </p:cNvPicPr>
              <p:nvPr/>
            </p:nvPicPr>
            <p:blipFill>
              <a:blip r:embed="rId3"/>
              <a:stretch>
                <a:fillRect/>
              </a:stretch>
            </p:blipFill>
            <p:spPr>
              <a:xfrm>
                <a:off x="356721" y="4323567"/>
                <a:ext cx="1757236" cy="1437738"/>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3D モデル 7" descr="りんご">
                <a:extLst>
                  <a:ext uri="{FF2B5EF4-FFF2-40B4-BE49-F238E27FC236}">
                    <a16:creationId xmlns:a16="http://schemas.microsoft.com/office/drawing/2014/main" id="{686C4BAF-692A-8E98-3DCA-5218846545A8}"/>
                  </a:ext>
                </a:extLst>
              </p:cNvPr>
              <p:cNvGraphicFramePr>
                <a:graphicFrameLocks noChangeAspect="1"/>
              </p:cNvGraphicFramePr>
              <p:nvPr>
                <p:extLst>
                  <p:ext uri="{D42A27DB-BD31-4B8C-83A1-F6EECF244321}">
                    <p14:modId xmlns:p14="http://schemas.microsoft.com/office/powerpoint/2010/main" val="2427281139"/>
                  </p:ext>
                </p:extLst>
              </p:nvPr>
            </p:nvGraphicFramePr>
            <p:xfrm rot="21316127">
              <a:off x="1640038" y="5037699"/>
              <a:ext cx="1064240" cy="1354487"/>
            </p:xfrm>
            <a:graphic>
              <a:graphicData uri="http://schemas.microsoft.com/office/drawing/2017/model3d">
                <am3d:model3d r:embed="rId4">
                  <am3d:spPr>
                    <a:xfrm rot="21316127">
                      <a:off x="0" y="0"/>
                      <a:ext cx="1064240" cy="1354487"/>
                    </a:xfrm>
                    <a:prstGeom prst="rect">
                      <a:avLst/>
                    </a:prstGeom>
                  </am3d:spPr>
                  <am3d:camera>
                    <am3d:pos x="0" y="0" z="69112883"/>
                    <am3d:up dx="0" dy="36000000" dz="0"/>
                    <am3d:lookAt x="0" y="0" z="0"/>
                    <am3d:perspective fov="2700000"/>
                  </am3d:camera>
                  <am3d:trans>
                    <am3d:meterPerModelUnit n="5921396" d="1000000"/>
                    <am3d:preTrans dx="0" dy="-18009544" dz="0"/>
                    <am3d:scale>
                      <am3d:sx n="1000000" d="1000000"/>
                      <am3d:sy n="1000000" d="1000000"/>
                      <am3d:sz n="1000000" d="1000000"/>
                    </am3d:scale>
                    <am3d:rot ax="2601941" ay="-865732" az="-794606"/>
                    <am3d:postTrans dx="0" dy="0" dz="0"/>
                  </am3d:trans>
                  <am3d:raster rName="Office3DRenderer" rVer="16.0.8326">
                    <am3d:blip r:embed="rId5"/>
                  </am3d:raster>
                  <am3d:objViewport viewportSz="201560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モデル 7" descr="りんご">
                <a:extLst>
                  <a:ext uri="{FF2B5EF4-FFF2-40B4-BE49-F238E27FC236}">
                    <a16:creationId xmlns:a16="http://schemas.microsoft.com/office/drawing/2014/main" id="{686C4BAF-692A-8E98-3DCA-5218846545A8}"/>
                  </a:ext>
                </a:extLst>
              </p:cNvPr>
              <p:cNvPicPr>
                <a:picLocks noGrp="1" noRot="1" noChangeAspect="1" noMove="1" noResize="1" noEditPoints="1" noAdjustHandles="1" noChangeArrowheads="1" noChangeShapeType="1" noCrop="1"/>
              </p:cNvPicPr>
              <p:nvPr/>
            </p:nvPicPr>
            <p:blipFill>
              <a:blip r:embed="rId5"/>
              <a:stretch>
                <a:fillRect/>
              </a:stretch>
            </p:blipFill>
            <p:spPr>
              <a:xfrm rot="21316127">
                <a:off x="1640038" y="5037699"/>
                <a:ext cx="1064240" cy="1354487"/>
              </a:xfrm>
              <a:prstGeom prst="rect">
                <a:avLst/>
              </a:prstGeom>
            </p:spPr>
          </p:pic>
        </mc:Fallback>
      </mc:AlternateContent>
      <p:pic>
        <p:nvPicPr>
          <p:cNvPr id="9" name="図 8" descr="リンゴのアップ画面&#10;&#10;自動的に生成された説明">
            <a:extLst>
              <a:ext uri="{FF2B5EF4-FFF2-40B4-BE49-F238E27FC236}">
                <a16:creationId xmlns:a16="http://schemas.microsoft.com/office/drawing/2014/main" id="{50CDE584-F1ED-9AA3-74B9-3CF94609FBA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11047" y="4310042"/>
            <a:ext cx="1568304" cy="1568304"/>
          </a:xfrm>
          <a:prstGeom prst="rect">
            <a:avLst/>
          </a:prstGeom>
          <a:ln>
            <a:solidFill>
              <a:schemeClr val="tx1"/>
            </a:solidFill>
          </a:ln>
        </p:spPr>
      </p:pic>
      <p:pic>
        <p:nvPicPr>
          <p:cNvPr id="10" name="図 9" descr="テーブルの上にあるリンゴ&#10;&#10;中程度の精度で自動的に生成された説明">
            <a:extLst>
              <a:ext uri="{FF2B5EF4-FFF2-40B4-BE49-F238E27FC236}">
                <a16:creationId xmlns:a16="http://schemas.microsoft.com/office/drawing/2014/main" id="{47CA4A05-B381-2A1D-0C07-D788666445B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40071" y="4310042"/>
            <a:ext cx="1568304" cy="1568304"/>
          </a:xfrm>
          <a:prstGeom prst="rect">
            <a:avLst/>
          </a:prstGeom>
          <a:ln>
            <a:solidFill>
              <a:schemeClr val="tx1"/>
            </a:solidFill>
          </a:ln>
        </p:spPr>
      </p:pic>
      <p:sp>
        <p:nvSpPr>
          <p:cNvPr id="12" name="テキスト ボックス 11">
            <a:extLst>
              <a:ext uri="{FF2B5EF4-FFF2-40B4-BE49-F238E27FC236}">
                <a16:creationId xmlns:a16="http://schemas.microsoft.com/office/drawing/2014/main" id="{FE2CAEF8-B8B6-D1CE-B7AA-9F63EA37937B}"/>
              </a:ext>
            </a:extLst>
          </p:cNvPr>
          <p:cNvSpPr txBox="1"/>
          <p:nvPr/>
        </p:nvSpPr>
        <p:spPr>
          <a:xfrm>
            <a:off x="1915737" y="4090411"/>
            <a:ext cx="1595310" cy="646331"/>
          </a:xfrm>
          <a:prstGeom prst="rect">
            <a:avLst/>
          </a:prstGeom>
          <a:noFill/>
        </p:spPr>
        <p:txBody>
          <a:bodyPr wrap="none" rtlCol="0">
            <a:spAutoFit/>
          </a:bodyPr>
          <a:lstStyle/>
          <a:p>
            <a:pPr algn="ctr"/>
            <a:r>
              <a:rPr kumimoji="1" lang="ja-JP" altLang="en-US" b="1" dirty="0"/>
              <a:t>撮像</a:t>
            </a:r>
            <a:endParaRPr kumimoji="1" lang="en-US" altLang="ja-JP" b="1" dirty="0"/>
          </a:p>
          <a:p>
            <a:pPr algn="ctr"/>
            <a:r>
              <a:rPr kumimoji="1" lang="en-US" altLang="ja-JP" dirty="0"/>
              <a:t>3</a:t>
            </a:r>
            <a:r>
              <a:rPr kumimoji="1" lang="ja-JP" altLang="en-US" dirty="0"/>
              <a:t>次元→</a:t>
            </a:r>
            <a:r>
              <a:rPr kumimoji="1" lang="en-US" altLang="ja-JP" dirty="0"/>
              <a:t>2</a:t>
            </a:r>
            <a:r>
              <a:rPr kumimoji="1" lang="ja-JP" altLang="en-US" dirty="0"/>
              <a:t>次元</a:t>
            </a:r>
          </a:p>
        </p:txBody>
      </p:sp>
      <p:sp>
        <p:nvSpPr>
          <p:cNvPr id="14" name="テキスト ボックス 13">
            <a:extLst>
              <a:ext uri="{FF2B5EF4-FFF2-40B4-BE49-F238E27FC236}">
                <a16:creationId xmlns:a16="http://schemas.microsoft.com/office/drawing/2014/main" id="{47E26308-BE8E-6E31-75FF-728D08DB7E48}"/>
              </a:ext>
            </a:extLst>
          </p:cNvPr>
          <p:cNvSpPr txBox="1"/>
          <p:nvPr/>
        </p:nvSpPr>
        <p:spPr>
          <a:xfrm>
            <a:off x="5323468" y="4172081"/>
            <a:ext cx="1595310" cy="646331"/>
          </a:xfrm>
          <a:prstGeom prst="rect">
            <a:avLst/>
          </a:prstGeom>
          <a:noFill/>
        </p:spPr>
        <p:txBody>
          <a:bodyPr wrap="none" rtlCol="0">
            <a:spAutoFit/>
          </a:bodyPr>
          <a:lstStyle/>
          <a:p>
            <a:pPr algn="ctr"/>
            <a:r>
              <a:rPr kumimoji="1" lang="ja-JP" altLang="en-US" b="1" dirty="0"/>
              <a:t>画像処理</a:t>
            </a:r>
            <a:endParaRPr kumimoji="1" lang="en-US" altLang="ja-JP" b="1" dirty="0"/>
          </a:p>
          <a:p>
            <a:pPr algn="ctr"/>
            <a:r>
              <a:rPr kumimoji="1" lang="en-US" altLang="ja-JP" dirty="0"/>
              <a:t>2</a:t>
            </a:r>
            <a:r>
              <a:rPr kumimoji="1" lang="ja-JP" altLang="en-US" dirty="0"/>
              <a:t>次元→</a:t>
            </a:r>
            <a:r>
              <a:rPr kumimoji="1" lang="en-US" altLang="ja-JP" dirty="0"/>
              <a:t>2</a:t>
            </a:r>
            <a:r>
              <a:rPr kumimoji="1" lang="ja-JP" altLang="en-US" dirty="0"/>
              <a:t>次元</a:t>
            </a:r>
          </a:p>
        </p:txBody>
      </p:sp>
      <p:sp>
        <p:nvSpPr>
          <p:cNvPr id="16" name="テキスト ボックス 15">
            <a:extLst>
              <a:ext uri="{FF2B5EF4-FFF2-40B4-BE49-F238E27FC236}">
                <a16:creationId xmlns:a16="http://schemas.microsoft.com/office/drawing/2014/main" id="{EBBECB70-F2B3-3C4E-953C-3E06EAE096E5}"/>
              </a:ext>
            </a:extLst>
          </p:cNvPr>
          <p:cNvSpPr txBox="1"/>
          <p:nvPr/>
        </p:nvSpPr>
        <p:spPr>
          <a:xfrm>
            <a:off x="8499848" y="4176138"/>
            <a:ext cx="1697902" cy="646331"/>
          </a:xfrm>
          <a:prstGeom prst="rect">
            <a:avLst/>
          </a:prstGeom>
          <a:noFill/>
        </p:spPr>
        <p:txBody>
          <a:bodyPr wrap="none" rtlCol="0">
            <a:spAutoFit/>
          </a:bodyPr>
          <a:lstStyle/>
          <a:p>
            <a:pPr algn="ctr"/>
            <a:r>
              <a:rPr kumimoji="1" lang="ja-JP" altLang="en-US" b="1" dirty="0"/>
              <a:t>画像認識</a:t>
            </a:r>
            <a:endParaRPr kumimoji="1" lang="en-US" altLang="ja-JP" b="1" dirty="0"/>
          </a:p>
          <a:p>
            <a:pPr algn="ctr"/>
            <a:r>
              <a:rPr kumimoji="1" lang="en-US" altLang="ja-JP" dirty="0"/>
              <a:t>2</a:t>
            </a:r>
            <a:r>
              <a:rPr kumimoji="1" lang="ja-JP" altLang="en-US" dirty="0"/>
              <a:t>次元→データ</a:t>
            </a:r>
          </a:p>
        </p:txBody>
      </p:sp>
      <p:sp>
        <p:nvSpPr>
          <p:cNvPr id="17" name="矢印: 右 16">
            <a:extLst>
              <a:ext uri="{FF2B5EF4-FFF2-40B4-BE49-F238E27FC236}">
                <a16:creationId xmlns:a16="http://schemas.microsoft.com/office/drawing/2014/main" id="{7D86808D-1DC9-4EE0-1107-083271DE771B}"/>
              </a:ext>
            </a:extLst>
          </p:cNvPr>
          <p:cNvSpPr/>
          <p:nvPr/>
        </p:nvSpPr>
        <p:spPr>
          <a:xfrm>
            <a:off x="2076695" y="4736742"/>
            <a:ext cx="1343293" cy="3056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17">
            <a:extLst>
              <a:ext uri="{FF2B5EF4-FFF2-40B4-BE49-F238E27FC236}">
                <a16:creationId xmlns:a16="http://schemas.microsoft.com/office/drawing/2014/main" id="{D8B1B1C1-5AA1-3FC8-1C53-83593C95B2FE}"/>
              </a:ext>
            </a:extLst>
          </p:cNvPr>
          <p:cNvSpPr/>
          <p:nvPr/>
        </p:nvSpPr>
        <p:spPr>
          <a:xfrm>
            <a:off x="5452086" y="4844064"/>
            <a:ext cx="1343293" cy="3056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矢印: 右 18">
            <a:extLst>
              <a:ext uri="{FF2B5EF4-FFF2-40B4-BE49-F238E27FC236}">
                <a16:creationId xmlns:a16="http://schemas.microsoft.com/office/drawing/2014/main" id="{D6C2561C-8A3E-28A0-455E-68D560C186AB}"/>
              </a:ext>
            </a:extLst>
          </p:cNvPr>
          <p:cNvSpPr/>
          <p:nvPr/>
        </p:nvSpPr>
        <p:spPr>
          <a:xfrm>
            <a:off x="8677153" y="4736742"/>
            <a:ext cx="1343293" cy="3056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033D7EB5-DCAC-EA94-4BF9-00C578D8C957}"/>
              </a:ext>
            </a:extLst>
          </p:cNvPr>
          <p:cNvSpPr/>
          <p:nvPr/>
        </p:nvSpPr>
        <p:spPr>
          <a:xfrm>
            <a:off x="3532340" y="3635534"/>
            <a:ext cx="8297710" cy="2583180"/>
          </a:xfrm>
          <a:prstGeom prst="rect">
            <a:avLst/>
          </a:prstGeom>
          <a:noFill/>
          <a:ln w="57150">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5C617E9D-BAF7-60D4-219A-C9BCD66146F7}"/>
              </a:ext>
            </a:extLst>
          </p:cNvPr>
          <p:cNvSpPr txBox="1"/>
          <p:nvPr/>
        </p:nvSpPr>
        <p:spPr>
          <a:xfrm>
            <a:off x="6811510" y="3566279"/>
            <a:ext cx="1825426" cy="369332"/>
          </a:xfrm>
          <a:prstGeom prst="rect">
            <a:avLst/>
          </a:prstGeom>
          <a:ln w="28575"/>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ja-JP" altLang="en-US" b="1" dirty="0"/>
              <a:t>広義の画像処理</a:t>
            </a:r>
            <a:endParaRPr kumimoji="1" lang="ja-JP" altLang="en-US" b="1" dirty="0"/>
          </a:p>
        </p:txBody>
      </p:sp>
    </p:spTree>
    <p:extLst>
      <p:ext uri="{BB962C8B-B14F-4D97-AF65-F5344CB8AC3E}">
        <p14:creationId xmlns:p14="http://schemas.microsoft.com/office/powerpoint/2010/main" val="3749464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832B11-3907-2446-F24F-91038FD7DC16}"/>
              </a:ext>
            </a:extLst>
          </p:cNvPr>
          <p:cNvSpPr>
            <a:spLocks noGrp="1"/>
          </p:cNvSpPr>
          <p:nvPr>
            <p:ph type="title"/>
          </p:nvPr>
        </p:nvSpPr>
        <p:spPr/>
        <p:txBody>
          <a:bodyPr/>
          <a:lstStyle/>
          <a:p>
            <a:r>
              <a:rPr kumimoji="1" lang="ja-JP" altLang="en-US" dirty="0"/>
              <a:t>画像処理の全体像</a:t>
            </a:r>
          </a:p>
        </p:txBody>
      </p:sp>
      <p:sp>
        <p:nvSpPr>
          <p:cNvPr id="4" name="フッター プレースホルダー 3">
            <a:extLst>
              <a:ext uri="{FF2B5EF4-FFF2-40B4-BE49-F238E27FC236}">
                <a16:creationId xmlns:a16="http://schemas.microsoft.com/office/drawing/2014/main" id="{ECC4B3D3-0D0E-F915-2FD7-A3F8A0A9B1DF}"/>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2B901467-C2CB-2F4D-BCBA-2725092B923C}"/>
              </a:ext>
            </a:extLst>
          </p:cNvPr>
          <p:cNvSpPr>
            <a:spLocks noGrp="1"/>
          </p:cNvSpPr>
          <p:nvPr>
            <p:ph type="sldNum" sz="quarter" idx="12"/>
          </p:nvPr>
        </p:nvSpPr>
        <p:spPr/>
        <p:txBody>
          <a:bodyPr/>
          <a:lstStyle/>
          <a:p>
            <a:fld id="{15F8CBF0-873C-4A82-8701-EEE0E47109A0}" type="slidenum">
              <a:rPr kumimoji="1" lang="ja-JP" altLang="en-US" smtClean="0"/>
              <a:t>14</a:t>
            </a:fld>
            <a:endParaRPr kumimoji="1" lang="ja-JP" altLang="en-US"/>
          </a:p>
        </p:txBody>
      </p:sp>
      <p:sp>
        <p:nvSpPr>
          <p:cNvPr id="6" name="正方形/長方形 5">
            <a:extLst>
              <a:ext uri="{FF2B5EF4-FFF2-40B4-BE49-F238E27FC236}">
                <a16:creationId xmlns:a16="http://schemas.microsoft.com/office/drawing/2014/main" id="{7AE41CC2-E7F5-1CCF-44FE-7DD01B08025C}"/>
              </a:ext>
            </a:extLst>
          </p:cNvPr>
          <p:cNvSpPr/>
          <p:nvPr/>
        </p:nvSpPr>
        <p:spPr>
          <a:xfrm>
            <a:off x="838201" y="2060019"/>
            <a:ext cx="2604655" cy="498330"/>
          </a:xfrm>
          <a:prstGeom prst="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b="1" dirty="0"/>
              <a:t>① 画像を取り込む</a:t>
            </a:r>
            <a:endParaRPr kumimoji="1" lang="en-US" altLang="ja-JP" b="1" dirty="0"/>
          </a:p>
        </p:txBody>
      </p:sp>
      <p:sp>
        <p:nvSpPr>
          <p:cNvPr id="7" name="正方形/長方形 6">
            <a:extLst>
              <a:ext uri="{FF2B5EF4-FFF2-40B4-BE49-F238E27FC236}">
                <a16:creationId xmlns:a16="http://schemas.microsoft.com/office/drawing/2014/main" id="{C48BC398-DCE6-2147-EBED-5A7C9F4CF0DA}"/>
              </a:ext>
            </a:extLst>
          </p:cNvPr>
          <p:cNvSpPr/>
          <p:nvPr/>
        </p:nvSpPr>
        <p:spPr>
          <a:xfrm>
            <a:off x="838200" y="3549166"/>
            <a:ext cx="2604655" cy="498330"/>
          </a:xfrm>
          <a:prstGeom prst="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b="1" dirty="0"/>
              <a:t>② 外乱を抑える</a:t>
            </a:r>
          </a:p>
        </p:txBody>
      </p:sp>
      <p:sp>
        <p:nvSpPr>
          <p:cNvPr id="8" name="テキスト ボックス 7">
            <a:extLst>
              <a:ext uri="{FF2B5EF4-FFF2-40B4-BE49-F238E27FC236}">
                <a16:creationId xmlns:a16="http://schemas.microsoft.com/office/drawing/2014/main" id="{4B3C79B5-8097-BD7A-3414-D735F708AF19}"/>
              </a:ext>
            </a:extLst>
          </p:cNvPr>
          <p:cNvSpPr txBox="1"/>
          <p:nvPr/>
        </p:nvSpPr>
        <p:spPr>
          <a:xfrm>
            <a:off x="1577110" y="1727386"/>
            <a:ext cx="1124528" cy="369332"/>
          </a:xfrm>
          <a:prstGeom prst="rect">
            <a:avLst/>
          </a:prstGeom>
          <a:noFill/>
        </p:spPr>
        <p:txBody>
          <a:bodyPr wrap="square" rtlCol="0">
            <a:spAutoFit/>
          </a:bodyPr>
          <a:lstStyle/>
          <a:p>
            <a:pPr algn="ctr"/>
            <a:r>
              <a:rPr kumimoji="1" lang="ja-JP" altLang="en-US" b="1" dirty="0"/>
              <a:t>撮像</a:t>
            </a:r>
          </a:p>
        </p:txBody>
      </p:sp>
      <p:sp>
        <p:nvSpPr>
          <p:cNvPr id="3" name="正方形/長方形 2">
            <a:extLst>
              <a:ext uri="{FF2B5EF4-FFF2-40B4-BE49-F238E27FC236}">
                <a16:creationId xmlns:a16="http://schemas.microsoft.com/office/drawing/2014/main" id="{6E6E40BC-42CA-64C9-A771-3FA238ADC5AB}"/>
              </a:ext>
            </a:extLst>
          </p:cNvPr>
          <p:cNvSpPr/>
          <p:nvPr/>
        </p:nvSpPr>
        <p:spPr>
          <a:xfrm>
            <a:off x="4394200" y="2060019"/>
            <a:ext cx="2736274" cy="3343253"/>
          </a:xfrm>
          <a:prstGeom prst="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b="1" dirty="0"/>
              <a:t>③ 物体を認識する</a:t>
            </a:r>
            <a:endParaRPr kumimoji="1" lang="en-US" altLang="ja-JP" b="1" dirty="0"/>
          </a:p>
          <a:p>
            <a:pPr algn="ctr"/>
            <a:endParaRPr lang="en-US" altLang="ja-JP" b="1" dirty="0"/>
          </a:p>
          <a:p>
            <a:r>
              <a:rPr kumimoji="1" lang="ja-JP" altLang="en-US" b="1" dirty="0"/>
              <a:t>１．形状で物体認識</a:t>
            </a:r>
            <a:endParaRPr kumimoji="1" lang="en-US" altLang="ja-JP" b="1" dirty="0"/>
          </a:p>
          <a:p>
            <a:r>
              <a:rPr lang="ja-JP" altLang="en-US" b="1" dirty="0"/>
              <a:t>２．色で物体認識</a:t>
            </a:r>
            <a:endParaRPr lang="en-US" altLang="ja-JP" b="1" dirty="0"/>
          </a:p>
          <a:p>
            <a:r>
              <a:rPr kumimoji="1" lang="ja-JP" altLang="en-US" b="1" dirty="0"/>
              <a:t>３．アルゴリズム・</a:t>
            </a:r>
            <a:r>
              <a:rPr kumimoji="1" lang="en-US" altLang="ja-JP" b="1" dirty="0"/>
              <a:t>AI</a:t>
            </a:r>
            <a:r>
              <a:rPr kumimoji="1" lang="ja-JP" altLang="en-US" b="1" dirty="0"/>
              <a:t>で</a:t>
            </a:r>
            <a:endParaRPr kumimoji="1" lang="en-US" altLang="ja-JP" b="1" dirty="0"/>
          </a:p>
          <a:p>
            <a:r>
              <a:rPr kumimoji="1" lang="ja-JP" altLang="en-US" b="1" dirty="0"/>
              <a:t>　　物体認識</a:t>
            </a:r>
          </a:p>
        </p:txBody>
      </p:sp>
      <p:sp>
        <p:nvSpPr>
          <p:cNvPr id="9" name="矢印: 下 8">
            <a:extLst>
              <a:ext uri="{FF2B5EF4-FFF2-40B4-BE49-F238E27FC236}">
                <a16:creationId xmlns:a16="http://schemas.microsoft.com/office/drawing/2014/main" id="{95CA2150-9B23-2825-D67C-1A7925E117CD}"/>
              </a:ext>
            </a:extLst>
          </p:cNvPr>
          <p:cNvSpPr/>
          <p:nvPr/>
        </p:nvSpPr>
        <p:spPr>
          <a:xfrm>
            <a:off x="1969654" y="2810504"/>
            <a:ext cx="341745" cy="498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8A552B60-CE81-9256-45FB-C4649921E638}"/>
              </a:ext>
            </a:extLst>
          </p:cNvPr>
          <p:cNvSpPr/>
          <p:nvPr/>
        </p:nvSpPr>
        <p:spPr>
          <a:xfrm rot="16200000">
            <a:off x="3747655" y="3549165"/>
            <a:ext cx="341745" cy="498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15859AA7-2629-46E2-C6F7-9EA4AEE4EF09}"/>
              </a:ext>
            </a:extLst>
          </p:cNvPr>
          <p:cNvSpPr/>
          <p:nvPr/>
        </p:nvSpPr>
        <p:spPr>
          <a:xfrm rot="16200000">
            <a:off x="7435274" y="3549165"/>
            <a:ext cx="341745" cy="498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雲 11">
            <a:extLst>
              <a:ext uri="{FF2B5EF4-FFF2-40B4-BE49-F238E27FC236}">
                <a16:creationId xmlns:a16="http://schemas.microsoft.com/office/drawing/2014/main" id="{0C5EB2F3-A20B-B102-E8D2-46D31115FA92}"/>
              </a:ext>
            </a:extLst>
          </p:cNvPr>
          <p:cNvSpPr/>
          <p:nvPr/>
        </p:nvSpPr>
        <p:spPr>
          <a:xfrm>
            <a:off x="7952509" y="1579418"/>
            <a:ext cx="3870035" cy="3953164"/>
          </a:xfrm>
          <a:prstGeom prst="cloud">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AA3C4531-18DE-3AB1-684D-1F05A8C3EBBB}"/>
              </a:ext>
            </a:extLst>
          </p:cNvPr>
          <p:cNvSpPr txBox="1"/>
          <p:nvPr/>
        </p:nvSpPr>
        <p:spPr>
          <a:xfrm>
            <a:off x="8467564" y="2611794"/>
            <a:ext cx="2761673" cy="2031325"/>
          </a:xfrm>
          <a:prstGeom prst="rect">
            <a:avLst/>
          </a:prstGeom>
          <a:noFill/>
        </p:spPr>
        <p:txBody>
          <a:bodyPr wrap="square" rtlCol="0">
            <a:spAutoFit/>
          </a:bodyPr>
          <a:lstStyle/>
          <a:p>
            <a:pPr algn="ctr"/>
            <a:r>
              <a:rPr kumimoji="1" lang="ja-JP" altLang="en-US" b="1" dirty="0">
                <a:solidFill>
                  <a:srgbClr val="FF0000"/>
                </a:solidFill>
              </a:rPr>
              <a:t>④ 検知</a:t>
            </a:r>
            <a:endParaRPr kumimoji="1" lang="en-US" altLang="ja-JP" b="1" dirty="0">
              <a:solidFill>
                <a:srgbClr val="FF0000"/>
              </a:solidFill>
            </a:endParaRPr>
          </a:p>
          <a:p>
            <a:endParaRPr kumimoji="1" lang="en-US" altLang="ja-JP" b="1" dirty="0">
              <a:solidFill>
                <a:srgbClr val="FF0000"/>
              </a:solidFill>
            </a:endParaRPr>
          </a:p>
          <a:p>
            <a:r>
              <a:rPr kumimoji="1" lang="ja-JP" altLang="en-US" b="1" dirty="0">
                <a:solidFill>
                  <a:srgbClr val="FF0000"/>
                </a:solidFill>
              </a:rPr>
              <a:t>被写体の</a:t>
            </a:r>
            <a:endParaRPr kumimoji="1" lang="en-US" altLang="ja-JP" b="1" dirty="0">
              <a:solidFill>
                <a:srgbClr val="FF0000"/>
              </a:solidFill>
            </a:endParaRPr>
          </a:p>
          <a:p>
            <a:r>
              <a:rPr lang="ja-JP" altLang="en-US" b="1" dirty="0">
                <a:solidFill>
                  <a:srgbClr val="FF0000"/>
                </a:solidFill>
              </a:rPr>
              <a:t>大きさ・向き・距離</a:t>
            </a:r>
            <a:endParaRPr lang="en-US" altLang="ja-JP" b="1" dirty="0">
              <a:solidFill>
                <a:srgbClr val="FF0000"/>
              </a:solidFill>
            </a:endParaRPr>
          </a:p>
          <a:p>
            <a:r>
              <a:rPr lang="ja-JP" altLang="en-US" b="1" dirty="0">
                <a:solidFill>
                  <a:srgbClr val="FF0000"/>
                </a:solidFill>
              </a:rPr>
              <a:t>数量・欠け・色むら等</a:t>
            </a:r>
            <a:r>
              <a:rPr lang="en-US" altLang="ja-JP" b="1" dirty="0">
                <a:solidFill>
                  <a:srgbClr val="FF0000"/>
                </a:solidFill>
              </a:rPr>
              <a:t>…</a:t>
            </a:r>
          </a:p>
          <a:p>
            <a:r>
              <a:rPr lang="ja-JP" altLang="en-US" b="1" dirty="0">
                <a:solidFill>
                  <a:srgbClr val="FF0000"/>
                </a:solidFill>
              </a:rPr>
              <a:t>を使って異常や欲しいデータを検知する</a:t>
            </a:r>
            <a:endParaRPr lang="en-US" altLang="ja-JP" b="1" dirty="0">
              <a:solidFill>
                <a:srgbClr val="FF0000"/>
              </a:solidFill>
            </a:endParaRPr>
          </a:p>
        </p:txBody>
      </p:sp>
      <p:sp>
        <p:nvSpPr>
          <p:cNvPr id="14" name="テキスト ボックス 13">
            <a:extLst>
              <a:ext uri="{FF2B5EF4-FFF2-40B4-BE49-F238E27FC236}">
                <a16:creationId xmlns:a16="http://schemas.microsoft.com/office/drawing/2014/main" id="{796E7543-D8E7-9D2C-09A2-59BA1060FB70}"/>
              </a:ext>
            </a:extLst>
          </p:cNvPr>
          <p:cNvSpPr txBox="1"/>
          <p:nvPr/>
        </p:nvSpPr>
        <p:spPr>
          <a:xfrm>
            <a:off x="3799276" y="5596197"/>
            <a:ext cx="4705003" cy="646331"/>
          </a:xfrm>
          <a:prstGeom prst="rect">
            <a:avLst/>
          </a:prstGeom>
          <a:noFill/>
        </p:spPr>
        <p:txBody>
          <a:bodyPr wrap="square" rtlCol="0">
            <a:spAutoFit/>
          </a:bodyPr>
          <a:lstStyle/>
          <a:p>
            <a:r>
              <a:rPr kumimoji="1" lang="ja-JP" altLang="en-US" b="1" dirty="0">
                <a:solidFill>
                  <a:srgbClr val="FF0000"/>
                </a:solidFill>
              </a:rPr>
              <a:t>本セミナーでは ①、②、③ を学習します</a:t>
            </a:r>
            <a:endParaRPr kumimoji="1" lang="en-US" altLang="ja-JP" b="1" dirty="0">
              <a:solidFill>
                <a:srgbClr val="FF0000"/>
              </a:solidFill>
            </a:endParaRPr>
          </a:p>
          <a:p>
            <a:r>
              <a:rPr lang="ja-JP" altLang="en-US" b="1" dirty="0">
                <a:solidFill>
                  <a:srgbClr val="FF0000"/>
                </a:solidFill>
              </a:rPr>
              <a:t>（④は要件によって大きく変化するため）</a:t>
            </a:r>
            <a:endParaRPr lang="en-US" altLang="ja-JP" b="1" dirty="0">
              <a:solidFill>
                <a:srgbClr val="FF0000"/>
              </a:solidFill>
            </a:endParaRPr>
          </a:p>
        </p:txBody>
      </p:sp>
    </p:spTree>
    <p:extLst>
      <p:ext uri="{BB962C8B-B14F-4D97-AF65-F5344CB8AC3E}">
        <p14:creationId xmlns:p14="http://schemas.microsoft.com/office/powerpoint/2010/main" val="327456067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675</TotalTime>
  <Words>1249</Words>
  <Application>Microsoft Office PowerPoint</Application>
  <PresentationFormat>ワイド画面</PresentationFormat>
  <Paragraphs>194</Paragraphs>
  <Slides>14</Slides>
  <Notes>3</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14</vt:i4>
      </vt:variant>
    </vt:vector>
  </HeadingPairs>
  <TitlesOfParts>
    <vt:vector size="18" baseType="lpstr">
      <vt:lpstr>游ゴシック</vt:lpstr>
      <vt:lpstr>游ゴシック Light</vt:lpstr>
      <vt:lpstr>Arial</vt:lpstr>
      <vt:lpstr>Office テーマ</vt:lpstr>
      <vt:lpstr>画像と画像処理について</vt:lpstr>
      <vt:lpstr>画像とは？？？</vt:lpstr>
      <vt:lpstr>デジタル画像の表示の流れ</vt:lpstr>
      <vt:lpstr>デジタル画像の表示の流れ（具体的に）</vt:lpstr>
      <vt:lpstr>画像の種類　～データ形式で分類～</vt:lpstr>
      <vt:lpstr>画像の種類　～フォーマット形式 JPG～</vt:lpstr>
      <vt:lpstr>参考：ブロックノイズ、モスキートノイズ</vt:lpstr>
      <vt:lpstr>画像の種類　～フォーマット形式 PNG～</vt:lpstr>
      <vt:lpstr>撮像について</vt:lpstr>
      <vt:lpstr>撮像とOpenCV</vt:lpstr>
      <vt:lpstr>画像処理とは</vt:lpstr>
      <vt:lpstr>狭義の画像処理</vt:lpstr>
      <vt:lpstr>画像認識</vt:lpstr>
      <vt:lpstr>画像処理の全体像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te02</dc:creator>
  <cp:lastModifiedBy>sem00</cp:lastModifiedBy>
  <cp:revision>8</cp:revision>
  <dcterms:created xsi:type="dcterms:W3CDTF">2024-07-05T01:28:49Z</dcterms:created>
  <dcterms:modified xsi:type="dcterms:W3CDTF">2026-06-18T01:12:18Z</dcterms:modified>
</cp:coreProperties>
</file>