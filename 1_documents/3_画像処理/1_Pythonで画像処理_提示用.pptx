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70" r:id="rId15"/>
    <p:sldId id="271" r:id="rId16"/>
    <p:sldId id="269" r:id="rId17"/>
    <p:sldId id="272" r:id="rId18"/>
    <p:sldId id="273" r:id="rId19"/>
    <p:sldId id="274" r:id="rId20"/>
    <p:sldId id="275" r:id="rId21"/>
    <p:sldId id="386" r:id="rId22"/>
    <p:sldId id="357" r:id="rId23"/>
    <p:sldId id="385" r:id="rId24"/>
    <p:sldId id="276" r:id="rId25"/>
    <p:sldId id="358" r:id="rId26"/>
    <p:sldId id="387" r:id="rId27"/>
    <p:sldId id="388" r:id="rId28"/>
    <p:sldId id="389" r:id="rId29"/>
    <p:sldId id="390" r:id="rId30"/>
    <p:sldId id="360" r:id="rId31"/>
    <p:sldId id="391" r:id="rId32"/>
    <p:sldId id="361" r:id="rId33"/>
    <p:sldId id="362" r:id="rId34"/>
    <p:sldId id="365" r:id="rId35"/>
    <p:sldId id="363" r:id="rId36"/>
    <p:sldId id="364" r:id="rId37"/>
    <p:sldId id="366" r:id="rId38"/>
    <p:sldId id="367" r:id="rId39"/>
    <p:sldId id="369" r:id="rId40"/>
    <p:sldId id="370" r:id="rId41"/>
    <p:sldId id="392" r:id="rId42"/>
    <p:sldId id="393" r:id="rId43"/>
    <p:sldId id="371" r:id="rId44"/>
    <p:sldId id="372" r:id="rId45"/>
    <p:sldId id="375" r:id="rId46"/>
    <p:sldId id="368" r:id="rId47"/>
    <p:sldId id="376" r:id="rId48"/>
    <p:sldId id="377" r:id="rId49"/>
    <p:sldId id="378" r:id="rId50"/>
    <p:sldId id="379" r:id="rId51"/>
    <p:sldId id="400" r:id="rId52"/>
    <p:sldId id="401" r:id="rId53"/>
    <p:sldId id="402" r:id="rId54"/>
    <p:sldId id="380" r:id="rId55"/>
    <p:sldId id="405" r:id="rId56"/>
    <p:sldId id="381" r:id="rId57"/>
    <p:sldId id="399" r:id="rId58"/>
    <p:sldId id="406" r:id="rId59"/>
    <p:sldId id="408" r:id="rId60"/>
    <p:sldId id="409" r:id="rId61"/>
    <p:sldId id="410" r:id="rId62"/>
    <p:sldId id="411" r:id="rId63"/>
    <p:sldId id="407" r:id="rId64"/>
    <p:sldId id="382" r:id="rId65"/>
    <p:sldId id="383" r:id="rId66"/>
    <p:sldId id="384" r:id="rId67"/>
    <p:sldId id="395" r:id="rId68"/>
    <p:sldId id="396" r:id="rId69"/>
    <p:sldId id="404" r:id="rId70"/>
    <p:sldId id="394" r:id="rId71"/>
    <p:sldId id="403" r:id="rId72"/>
    <p:sldId id="397" r:id="rId7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62424"/>
    <a:srgbClr val="FF2D2D"/>
    <a:srgbClr val="FF5B5B"/>
    <a:srgbClr val="F973E9"/>
    <a:srgbClr val="FF0000"/>
    <a:srgbClr val="732539"/>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46" autoAdjust="0"/>
  </p:normalViewPr>
  <p:slideViewPr>
    <p:cSldViewPr snapToGrid="0">
      <p:cViewPr>
        <p:scale>
          <a:sx n="75" d="100"/>
          <a:sy n="75" d="100"/>
        </p:scale>
        <p:origin x="22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33763-A02F-4FAB-921C-A2E8AA38AF37}"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A59B0-945E-4203-9EF4-8343E16D09CE}" type="slidenum">
              <a:rPr kumimoji="1" lang="ja-JP" altLang="en-US" smtClean="0"/>
              <a:t>‹#›</a:t>
            </a:fld>
            <a:endParaRPr kumimoji="1" lang="ja-JP" altLang="en-US"/>
          </a:p>
        </p:txBody>
      </p:sp>
    </p:spTree>
    <p:extLst>
      <p:ext uri="{BB962C8B-B14F-4D97-AF65-F5344CB8AC3E}">
        <p14:creationId xmlns:p14="http://schemas.microsoft.com/office/powerpoint/2010/main" val="3924538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スケルトンコードをコピーして一部書き換えて実行する</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10</a:t>
            </a:fld>
            <a:endParaRPr kumimoji="1" lang="ja-JP" altLang="en-US"/>
          </a:p>
        </p:txBody>
      </p:sp>
    </p:spTree>
    <p:extLst>
      <p:ext uri="{BB962C8B-B14F-4D97-AF65-F5344CB8AC3E}">
        <p14:creationId xmlns:p14="http://schemas.microsoft.com/office/powerpoint/2010/main" val="1687015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25</a:t>
            </a:fld>
            <a:endParaRPr kumimoji="1" lang="ja-JP" altLang="en-US"/>
          </a:p>
        </p:txBody>
      </p:sp>
    </p:spTree>
    <p:extLst>
      <p:ext uri="{BB962C8B-B14F-4D97-AF65-F5344CB8AC3E}">
        <p14:creationId xmlns:p14="http://schemas.microsoft.com/office/powerpoint/2010/main" val="3150664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26</a:t>
            </a:fld>
            <a:endParaRPr kumimoji="1" lang="ja-JP" altLang="en-US"/>
          </a:p>
        </p:txBody>
      </p:sp>
    </p:spTree>
    <p:extLst>
      <p:ext uri="{BB962C8B-B14F-4D97-AF65-F5344CB8AC3E}">
        <p14:creationId xmlns:p14="http://schemas.microsoft.com/office/powerpoint/2010/main" val="4177470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27</a:t>
            </a:fld>
            <a:endParaRPr kumimoji="1" lang="ja-JP" altLang="en-US"/>
          </a:p>
        </p:txBody>
      </p:sp>
    </p:spTree>
    <p:extLst>
      <p:ext uri="{BB962C8B-B14F-4D97-AF65-F5344CB8AC3E}">
        <p14:creationId xmlns:p14="http://schemas.microsoft.com/office/powerpoint/2010/main" val="3346279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28</a:t>
            </a:fld>
            <a:endParaRPr kumimoji="1" lang="ja-JP" altLang="en-US"/>
          </a:p>
        </p:txBody>
      </p:sp>
    </p:spTree>
    <p:extLst>
      <p:ext uri="{BB962C8B-B14F-4D97-AF65-F5344CB8AC3E}">
        <p14:creationId xmlns:p14="http://schemas.microsoft.com/office/powerpoint/2010/main" val="3636099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ラプラシアンフィルタを足すか引くかは、カーネルの符号に依存する</a:t>
            </a:r>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30</a:t>
            </a:fld>
            <a:endParaRPr kumimoji="1" lang="ja-JP" altLang="en-US"/>
          </a:p>
        </p:txBody>
      </p:sp>
    </p:spTree>
    <p:extLst>
      <p:ext uri="{BB962C8B-B14F-4D97-AF65-F5344CB8AC3E}">
        <p14:creationId xmlns:p14="http://schemas.microsoft.com/office/powerpoint/2010/main" val="3483295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31</a:t>
            </a:fld>
            <a:endParaRPr kumimoji="1" lang="ja-JP" altLang="en-US"/>
          </a:p>
        </p:txBody>
      </p:sp>
    </p:spTree>
    <p:extLst>
      <p:ext uri="{BB962C8B-B14F-4D97-AF65-F5344CB8AC3E}">
        <p14:creationId xmlns:p14="http://schemas.microsoft.com/office/powerpoint/2010/main" val="2407741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留意事項</a:t>
            </a:r>
            <a:endParaRPr kumimoji="1" lang="en-US" altLang="ja-JP" dirty="0"/>
          </a:p>
          <a:p>
            <a:r>
              <a:rPr kumimoji="1" lang="ja-JP" altLang="en-US" dirty="0"/>
              <a:t>コントラスト調整部分について、この例ではやりすぎてます</a:t>
            </a:r>
            <a:endParaRPr kumimoji="1" lang="en-US" altLang="ja-JP" dirty="0"/>
          </a:p>
          <a:p>
            <a:r>
              <a:rPr kumimoji="1" lang="ja-JP" altLang="en-US" dirty="0"/>
              <a:t>たまたまほしい部分（金属のエッジ）に光が反射しているのでうまくいってるだけです</a:t>
            </a:r>
            <a:endParaRPr kumimoji="1" lang="en-US" altLang="ja-JP" dirty="0"/>
          </a:p>
          <a:p>
            <a:endParaRPr kumimoji="1" lang="en-US" altLang="ja-JP" dirty="0"/>
          </a:p>
          <a:p>
            <a:r>
              <a:rPr kumimoji="1" lang="ja-JP" altLang="en-US" dirty="0"/>
              <a:t>まぁ、こんだけできるって一例です</a:t>
            </a:r>
            <a:endParaRPr kumimoji="1" lang="en-US" altLang="ja-JP" dirty="0"/>
          </a:p>
          <a:p>
            <a:endParaRPr kumimoji="1" lang="en-US" altLang="ja-JP" dirty="0"/>
          </a:p>
          <a:p>
            <a:r>
              <a:rPr kumimoji="1" lang="en-US" altLang="ja-JP" dirty="0"/>
              <a:t>Canny</a:t>
            </a:r>
            <a:r>
              <a:rPr kumimoji="1" lang="ja-JP" altLang="en-US" dirty="0"/>
              <a:t>を使ったもの等、様々な解答例があります。</a:t>
            </a:r>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33</a:t>
            </a:fld>
            <a:endParaRPr kumimoji="1" lang="ja-JP" altLang="en-US"/>
          </a:p>
        </p:txBody>
      </p:sp>
    </p:spTree>
    <p:extLst>
      <p:ext uri="{BB962C8B-B14F-4D97-AF65-F5344CB8AC3E}">
        <p14:creationId xmlns:p14="http://schemas.microsoft.com/office/powerpoint/2010/main" val="3611941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34</a:t>
            </a:fld>
            <a:endParaRPr kumimoji="1" lang="ja-JP" altLang="en-US"/>
          </a:p>
        </p:txBody>
      </p:sp>
    </p:spTree>
    <p:extLst>
      <p:ext uri="{BB962C8B-B14F-4D97-AF65-F5344CB8AC3E}">
        <p14:creationId xmlns:p14="http://schemas.microsoft.com/office/powerpoint/2010/main" val="4144011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40</a:t>
            </a:fld>
            <a:endParaRPr kumimoji="1" lang="ja-JP" altLang="en-US"/>
          </a:p>
        </p:txBody>
      </p:sp>
    </p:spTree>
    <p:extLst>
      <p:ext uri="{BB962C8B-B14F-4D97-AF65-F5344CB8AC3E}">
        <p14:creationId xmlns:p14="http://schemas.microsoft.com/office/powerpoint/2010/main" val="1074959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41</a:t>
            </a:fld>
            <a:endParaRPr kumimoji="1" lang="ja-JP" altLang="en-US"/>
          </a:p>
        </p:txBody>
      </p:sp>
    </p:spTree>
    <p:extLst>
      <p:ext uri="{BB962C8B-B14F-4D97-AF65-F5344CB8AC3E}">
        <p14:creationId xmlns:p14="http://schemas.microsoft.com/office/powerpoint/2010/main" val="3703894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42</a:t>
            </a:fld>
            <a:endParaRPr kumimoji="1" lang="ja-JP" altLang="en-US"/>
          </a:p>
        </p:txBody>
      </p:sp>
    </p:spTree>
    <p:extLst>
      <p:ext uri="{BB962C8B-B14F-4D97-AF65-F5344CB8AC3E}">
        <p14:creationId xmlns:p14="http://schemas.microsoft.com/office/powerpoint/2010/main" val="3094440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43</a:t>
            </a:fld>
            <a:endParaRPr kumimoji="1" lang="ja-JP" altLang="en-US"/>
          </a:p>
        </p:txBody>
      </p:sp>
    </p:spTree>
    <p:extLst>
      <p:ext uri="{BB962C8B-B14F-4D97-AF65-F5344CB8AC3E}">
        <p14:creationId xmlns:p14="http://schemas.microsoft.com/office/powerpoint/2010/main" val="2222388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44</a:t>
            </a:fld>
            <a:endParaRPr kumimoji="1" lang="ja-JP" altLang="en-US"/>
          </a:p>
        </p:txBody>
      </p:sp>
    </p:spTree>
    <p:extLst>
      <p:ext uri="{BB962C8B-B14F-4D97-AF65-F5344CB8AC3E}">
        <p14:creationId xmlns:p14="http://schemas.microsoft.com/office/powerpoint/2010/main" val="2370154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45</a:t>
            </a:fld>
            <a:endParaRPr kumimoji="1" lang="ja-JP" altLang="en-US"/>
          </a:p>
        </p:txBody>
      </p:sp>
    </p:spTree>
    <p:extLst>
      <p:ext uri="{BB962C8B-B14F-4D97-AF65-F5344CB8AC3E}">
        <p14:creationId xmlns:p14="http://schemas.microsoft.com/office/powerpoint/2010/main" val="1011671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48</a:t>
            </a:fld>
            <a:endParaRPr kumimoji="1" lang="ja-JP" altLang="en-US"/>
          </a:p>
        </p:txBody>
      </p:sp>
    </p:spTree>
    <p:extLst>
      <p:ext uri="{BB962C8B-B14F-4D97-AF65-F5344CB8AC3E}">
        <p14:creationId xmlns:p14="http://schemas.microsoft.com/office/powerpoint/2010/main" val="3544216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49</a:t>
            </a:fld>
            <a:endParaRPr kumimoji="1" lang="ja-JP" altLang="en-US"/>
          </a:p>
        </p:txBody>
      </p:sp>
    </p:spTree>
    <p:extLst>
      <p:ext uri="{BB962C8B-B14F-4D97-AF65-F5344CB8AC3E}">
        <p14:creationId xmlns:p14="http://schemas.microsoft.com/office/powerpoint/2010/main" val="68453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50</a:t>
            </a:fld>
            <a:endParaRPr kumimoji="1" lang="ja-JP" altLang="en-US"/>
          </a:p>
        </p:txBody>
      </p:sp>
    </p:spTree>
    <p:extLst>
      <p:ext uri="{BB962C8B-B14F-4D97-AF65-F5344CB8AC3E}">
        <p14:creationId xmlns:p14="http://schemas.microsoft.com/office/powerpoint/2010/main" val="3984035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51</a:t>
            </a:fld>
            <a:endParaRPr kumimoji="1" lang="ja-JP" altLang="en-US"/>
          </a:p>
        </p:txBody>
      </p:sp>
    </p:spTree>
    <p:extLst>
      <p:ext uri="{BB962C8B-B14F-4D97-AF65-F5344CB8AC3E}">
        <p14:creationId xmlns:p14="http://schemas.microsoft.com/office/powerpoint/2010/main" val="511625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内部的には</a:t>
            </a:r>
            <a:r>
              <a:rPr kumimoji="1" lang="en-US" altLang="ja-JP" dirty="0"/>
              <a:t>type</a:t>
            </a:r>
            <a:r>
              <a:rPr kumimoji="1" lang="ja-JP" altLang="en-US" dirty="0"/>
              <a:t>は</a:t>
            </a:r>
            <a:r>
              <a:rPr kumimoji="1" lang="en-US" altLang="ja-JP" dirty="0"/>
              <a:t>bit</a:t>
            </a:r>
            <a:r>
              <a:rPr kumimoji="1" lang="ja-JP" altLang="en-US" dirty="0"/>
              <a:t>演算のフラグ管理。</a:t>
            </a:r>
            <a:r>
              <a:rPr kumimoji="1" lang="en-US" altLang="ja-JP" dirty="0"/>
              <a:t>Bit</a:t>
            </a:r>
            <a:r>
              <a:rPr kumimoji="1" lang="ja-JP" altLang="en-US" dirty="0"/>
              <a:t>演算であることを明確にするためにセミナーでは論理和 </a:t>
            </a:r>
            <a:r>
              <a:rPr kumimoji="1" lang="en-US" altLang="ja-JP" dirty="0"/>
              <a:t>| </a:t>
            </a:r>
            <a:r>
              <a:rPr kumimoji="1" lang="ja-JP" altLang="en-US" dirty="0"/>
              <a:t>を使う</a:t>
            </a:r>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52</a:t>
            </a:fld>
            <a:endParaRPr kumimoji="1" lang="ja-JP" altLang="en-US"/>
          </a:p>
        </p:txBody>
      </p:sp>
    </p:spTree>
    <p:extLst>
      <p:ext uri="{BB962C8B-B14F-4D97-AF65-F5344CB8AC3E}">
        <p14:creationId xmlns:p14="http://schemas.microsoft.com/office/powerpoint/2010/main" val="1731390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54</a:t>
            </a:fld>
            <a:endParaRPr kumimoji="1" lang="ja-JP" altLang="en-US"/>
          </a:p>
        </p:txBody>
      </p:sp>
    </p:spTree>
    <p:extLst>
      <p:ext uri="{BB962C8B-B14F-4D97-AF65-F5344CB8AC3E}">
        <p14:creationId xmlns:p14="http://schemas.microsoft.com/office/powerpoint/2010/main" val="738621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55</a:t>
            </a:fld>
            <a:endParaRPr kumimoji="1" lang="ja-JP" altLang="en-US"/>
          </a:p>
        </p:txBody>
      </p:sp>
    </p:spTree>
    <p:extLst>
      <p:ext uri="{BB962C8B-B14F-4D97-AF65-F5344CB8AC3E}">
        <p14:creationId xmlns:p14="http://schemas.microsoft.com/office/powerpoint/2010/main" val="784453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56</a:t>
            </a:fld>
            <a:endParaRPr kumimoji="1" lang="ja-JP" altLang="en-US"/>
          </a:p>
        </p:txBody>
      </p:sp>
    </p:spTree>
    <p:extLst>
      <p:ext uri="{BB962C8B-B14F-4D97-AF65-F5344CB8AC3E}">
        <p14:creationId xmlns:p14="http://schemas.microsoft.com/office/powerpoint/2010/main" val="1939566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57</a:t>
            </a:fld>
            <a:endParaRPr kumimoji="1" lang="ja-JP" altLang="en-US"/>
          </a:p>
        </p:txBody>
      </p:sp>
    </p:spTree>
    <p:extLst>
      <p:ext uri="{BB962C8B-B14F-4D97-AF65-F5344CB8AC3E}">
        <p14:creationId xmlns:p14="http://schemas.microsoft.com/office/powerpoint/2010/main" val="2597070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59</a:t>
            </a:fld>
            <a:endParaRPr kumimoji="1" lang="ja-JP" altLang="en-US"/>
          </a:p>
        </p:txBody>
      </p:sp>
    </p:spTree>
    <p:extLst>
      <p:ext uri="{BB962C8B-B14F-4D97-AF65-F5344CB8AC3E}">
        <p14:creationId xmlns:p14="http://schemas.microsoft.com/office/powerpoint/2010/main" val="3036340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60</a:t>
            </a:fld>
            <a:endParaRPr kumimoji="1" lang="ja-JP" altLang="en-US"/>
          </a:p>
        </p:txBody>
      </p:sp>
    </p:spTree>
    <p:extLst>
      <p:ext uri="{BB962C8B-B14F-4D97-AF65-F5344CB8AC3E}">
        <p14:creationId xmlns:p14="http://schemas.microsoft.com/office/powerpoint/2010/main" val="3089930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61</a:t>
            </a:fld>
            <a:endParaRPr kumimoji="1" lang="ja-JP" altLang="en-US"/>
          </a:p>
        </p:txBody>
      </p:sp>
    </p:spTree>
    <p:extLst>
      <p:ext uri="{BB962C8B-B14F-4D97-AF65-F5344CB8AC3E}">
        <p14:creationId xmlns:p14="http://schemas.microsoft.com/office/powerpoint/2010/main" val="3463255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62</a:t>
            </a:fld>
            <a:endParaRPr kumimoji="1" lang="ja-JP" altLang="en-US"/>
          </a:p>
        </p:txBody>
      </p:sp>
    </p:spTree>
    <p:extLst>
      <p:ext uri="{BB962C8B-B14F-4D97-AF65-F5344CB8AC3E}">
        <p14:creationId xmlns:p14="http://schemas.microsoft.com/office/powerpoint/2010/main" val="1842358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63</a:t>
            </a:fld>
            <a:endParaRPr kumimoji="1" lang="ja-JP" altLang="en-US"/>
          </a:p>
        </p:txBody>
      </p:sp>
    </p:spTree>
    <p:extLst>
      <p:ext uri="{BB962C8B-B14F-4D97-AF65-F5344CB8AC3E}">
        <p14:creationId xmlns:p14="http://schemas.microsoft.com/office/powerpoint/2010/main" val="1158369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65</a:t>
            </a:fld>
            <a:endParaRPr kumimoji="1" lang="ja-JP" altLang="en-US"/>
          </a:p>
        </p:txBody>
      </p:sp>
    </p:spTree>
    <p:extLst>
      <p:ext uri="{BB962C8B-B14F-4D97-AF65-F5344CB8AC3E}">
        <p14:creationId xmlns:p14="http://schemas.microsoft.com/office/powerpoint/2010/main" val="21655880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67</a:t>
            </a:fld>
            <a:endParaRPr kumimoji="1" lang="ja-JP" altLang="en-US"/>
          </a:p>
        </p:txBody>
      </p:sp>
    </p:spTree>
    <p:extLst>
      <p:ext uri="{BB962C8B-B14F-4D97-AF65-F5344CB8AC3E}">
        <p14:creationId xmlns:p14="http://schemas.microsoft.com/office/powerpoint/2010/main" val="412527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68</a:t>
            </a:fld>
            <a:endParaRPr kumimoji="1" lang="ja-JP" altLang="en-US"/>
          </a:p>
        </p:txBody>
      </p:sp>
    </p:spTree>
    <p:extLst>
      <p:ext uri="{BB962C8B-B14F-4D97-AF65-F5344CB8AC3E}">
        <p14:creationId xmlns:p14="http://schemas.microsoft.com/office/powerpoint/2010/main" val="1305701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69</a:t>
            </a:fld>
            <a:endParaRPr kumimoji="1" lang="ja-JP" altLang="en-US"/>
          </a:p>
        </p:txBody>
      </p:sp>
    </p:spTree>
    <p:extLst>
      <p:ext uri="{BB962C8B-B14F-4D97-AF65-F5344CB8AC3E}">
        <p14:creationId xmlns:p14="http://schemas.microsoft.com/office/powerpoint/2010/main" val="21569770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70</a:t>
            </a:fld>
            <a:endParaRPr kumimoji="1" lang="ja-JP" altLang="en-US"/>
          </a:p>
        </p:txBody>
      </p:sp>
    </p:spTree>
    <p:extLst>
      <p:ext uri="{BB962C8B-B14F-4D97-AF65-F5344CB8AC3E}">
        <p14:creationId xmlns:p14="http://schemas.microsoft.com/office/powerpoint/2010/main" val="2654989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71</a:t>
            </a:fld>
            <a:endParaRPr kumimoji="1" lang="ja-JP" altLang="en-US"/>
          </a:p>
        </p:txBody>
      </p:sp>
    </p:spTree>
    <p:extLst>
      <p:ext uri="{BB962C8B-B14F-4D97-AF65-F5344CB8AC3E}">
        <p14:creationId xmlns:p14="http://schemas.microsoft.com/office/powerpoint/2010/main" val="2480508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15A59B0-945E-4203-9EF4-8343E16D09CE}" type="slidenum">
              <a:rPr kumimoji="1" lang="ja-JP" altLang="en-US" smtClean="0"/>
              <a:t>72</a:t>
            </a:fld>
            <a:endParaRPr kumimoji="1" lang="ja-JP" altLang="en-US"/>
          </a:p>
        </p:txBody>
      </p:sp>
    </p:spTree>
    <p:extLst>
      <p:ext uri="{BB962C8B-B14F-4D97-AF65-F5344CB8AC3E}">
        <p14:creationId xmlns:p14="http://schemas.microsoft.com/office/powerpoint/2010/main" val="4248192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0FCD26-A36C-226A-F7BB-D04B9EF8287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BC27B9E-2992-D787-A4B6-56A324E6F6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23B9833-AA14-67A1-11C1-084252CF908F}"/>
              </a:ext>
            </a:extLst>
          </p:cNvPr>
          <p:cNvSpPr>
            <a:spLocks noGrp="1"/>
          </p:cNvSpPr>
          <p:nvPr>
            <p:ph type="dt" sz="half" idx="10"/>
          </p:nvPr>
        </p:nvSpPr>
        <p:spPr/>
        <p:txBody>
          <a:bodyPr/>
          <a:lstStyle/>
          <a:p>
            <a:fld id="{0499EC31-31F9-44A9-B9D3-839FF6437E2B}"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740B2E3B-54FB-6201-6A60-EFDC5F17341F}"/>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36FBF887-DE2E-FFFC-0CC1-19055A3AEB8D}"/>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272643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BBDD5D-63B2-9F04-8542-9A1C5F9E3E7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F98CC1-1A22-C280-75FD-736DAE7B340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1D0883-85CD-19B8-02E4-4EA5EA8CC6CB}"/>
              </a:ext>
            </a:extLst>
          </p:cNvPr>
          <p:cNvSpPr>
            <a:spLocks noGrp="1"/>
          </p:cNvSpPr>
          <p:nvPr>
            <p:ph type="dt" sz="half" idx="10"/>
          </p:nvPr>
        </p:nvSpPr>
        <p:spPr/>
        <p:txBody>
          <a:bodyPr/>
          <a:lstStyle/>
          <a:p>
            <a:fld id="{CE6A20B2-DE6C-4F97-A5E1-9970F5EE6E58}"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B0776161-14F9-2454-8A39-C026371F3E04}"/>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D3078BB3-AF8B-368F-3B4F-0B0890C97032}"/>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690157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A50FA0-0FB3-4E0D-04D6-5D66B2FE667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7377B6-DC01-A72F-7BBC-A4C7E4C2E3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14C0060-BF84-DCC0-5B70-82881E38DF09}"/>
              </a:ext>
            </a:extLst>
          </p:cNvPr>
          <p:cNvSpPr>
            <a:spLocks noGrp="1"/>
          </p:cNvSpPr>
          <p:nvPr>
            <p:ph type="dt" sz="half" idx="10"/>
          </p:nvPr>
        </p:nvSpPr>
        <p:spPr/>
        <p:txBody>
          <a:bodyPr/>
          <a:lstStyle/>
          <a:p>
            <a:fld id="{164A8168-DDFA-42DD-868B-D8BC224BFED8}"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0ADCC711-2127-F04D-1298-5DA83DAF2AB4}"/>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6291222D-C999-1577-03AE-434451135165}"/>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1946549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D4E69D-9BC0-F803-D66A-D93375079BB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F119606-E237-E02E-8AE6-97B5DAB6342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4F5CB31-1E56-1542-49CF-1CDE6ABD5CC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3C158D0-272E-51DC-3D29-EA338B5EC7D5}"/>
              </a:ext>
            </a:extLst>
          </p:cNvPr>
          <p:cNvSpPr>
            <a:spLocks noGrp="1"/>
          </p:cNvSpPr>
          <p:nvPr>
            <p:ph type="dt" sz="half" idx="10"/>
          </p:nvPr>
        </p:nvSpPr>
        <p:spPr/>
        <p:txBody>
          <a:bodyPr/>
          <a:lstStyle/>
          <a:p>
            <a:fld id="{EF6E985F-2CD5-4615-928F-F82EA2A86A5F}" type="datetime1">
              <a:rPr kumimoji="1" lang="ja-JP" altLang="en-US" smtClean="0"/>
              <a:t>2026/6/25</a:t>
            </a:fld>
            <a:endParaRPr kumimoji="1" lang="ja-JP" altLang="en-US"/>
          </a:p>
        </p:txBody>
      </p:sp>
      <p:sp>
        <p:nvSpPr>
          <p:cNvPr id="6" name="フッター プレースホルダー 5">
            <a:extLst>
              <a:ext uri="{FF2B5EF4-FFF2-40B4-BE49-F238E27FC236}">
                <a16:creationId xmlns:a16="http://schemas.microsoft.com/office/drawing/2014/main" id="{B659D8DB-2477-DC79-CA83-7663A73A77A2}"/>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70615873-890F-26B0-9AEE-5620B9E2F669}"/>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2161490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64B703-571A-C47E-3F16-57794A0B6BB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2137768-4C9C-15BB-37CB-E9B7FD6315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15BF72D-2945-E693-D6F3-9FCAC832B1D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04CF48A-67A2-C08C-FD45-EA47912CB5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856526E-5C46-0A28-7762-08D4BBFC933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9D6C633-E688-1013-EDFF-07D36819D31A}"/>
              </a:ext>
            </a:extLst>
          </p:cNvPr>
          <p:cNvSpPr>
            <a:spLocks noGrp="1"/>
          </p:cNvSpPr>
          <p:nvPr>
            <p:ph type="dt" sz="half" idx="10"/>
          </p:nvPr>
        </p:nvSpPr>
        <p:spPr/>
        <p:txBody>
          <a:bodyPr/>
          <a:lstStyle/>
          <a:p>
            <a:fld id="{96443AD9-2A8F-42E1-9DC0-200D3EA7566B}" type="datetime1">
              <a:rPr kumimoji="1" lang="ja-JP" altLang="en-US" smtClean="0"/>
              <a:t>2026/6/25</a:t>
            </a:fld>
            <a:endParaRPr kumimoji="1" lang="ja-JP" altLang="en-US"/>
          </a:p>
        </p:txBody>
      </p:sp>
      <p:sp>
        <p:nvSpPr>
          <p:cNvPr id="8" name="フッター プレースホルダー 7">
            <a:extLst>
              <a:ext uri="{FF2B5EF4-FFF2-40B4-BE49-F238E27FC236}">
                <a16:creationId xmlns:a16="http://schemas.microsoft.com/office/drawing/2014/main" id="{9AA173B4-E4AE-FEE9-72F8-1932704FCB11}"/>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C9D7E00A-5F54-23AA-58CB-A395B16B04FB}"/>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62787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69C8C9-9F35-3533-20E7-AB86AE78B8D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3956902-9C79-0A52-DCFB-BB82F0967FCE}"/>
              </a:ext>
            </a:extLst>
          </p:cNvPr>
          <p:cNvSpPr>
            <a:spLocks noGrp="1"/>
          </p:cNvSpPr>
          <p:nvPr>
            <p:ph type="dt" sz="half" idx="10"/>
          </p:nvPr>
        </p:nvSpPr>
        <p:spPr/>
        <p:txBody>
          <a:bodyPr/>
          <a:lstStyle/>
          <a:p>
            <a:fld id="{EA66A7C5-35E7-4AE0-BAA5-66189C6CADA9}" type="datetime1">
              <a:rPr kumimoji="1" lang="ja-JP" altLang="en-US" smtClean="0"/>
              <a:t>2026/6/25</a:t>
            </a:fld>
            <a:endParaRPr kumimoji="1" lang="ja-JP" altLang="en-US"/>
          </a:p>
        </p:txBody>
      </p:sp>
      <p:sp>
        <p:nvSpPr>
          <p:cNvPr id="4" name="フッター プレースホルダー 3">
            <a:extLst>
              <a:ext uri="{FF2B5EF4-FFF2-40B4-BE49-F238E27FC236}">
                <a16:creationId xmlns:a16="http://schemas.microsoft.com/office/drawing/2014/main" id="{60ADD91F-2248-D935-A7F0-065CD034AB63}"/>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F77C6794-73E4-812F-85B1-72982E2C1FC9}"/>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4536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3D422D-40C7-497F-37B2-648115E88DD8}"/>
              </a:ext>
            </a:extLst>
          </p:cNvPr>
          <p:cNvSpPr>
            <a:spLocks noGrp="1"/>
          </p:cNvSpPr>
          <p:nvPr>
            <p:ph type="dt" sz="half" idx="10"/>
          </p:nvPr>
        </p:nvSpPr>
        <p:spPr/>
        <p:txBody>
          <a:bodyPr/>
          <a:lstStyle/>
          <a:p>
            <a:fld id="{E6E3314C-88CE-46E8-924A-4541E05DC8C0}" type="datetime1">
              <a:rPr kumimoji="1" lang="ja-JP" altLang="en-US" smtClean="0"/>
              <a:t>2026/6/25</a:t>
            </a:fld>
            <a:endParaRPr kumimoji="1" lang="ja-JP" altLang="en-US"/>
          </a:p>
        </p:txBody>
      </p:sp>
      <p:sp>
        <p:nvSpPr>
          <p:cNvPr id="3" name="フッター プレースホルダー 2">
            <a:extLst>
              <a:ext uri="{FF2B5EF4-FFF2-40B4-BE49-F238E27FC236}">
                <a16:creationId xmlns:a16="http://schemas.microsoft.com/office/drawing/2014/main" id="{ADAFCDBB-5F4B-53E9-3488-C3C5115D4C01}"/>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02934AEB-67E7-5795-97B9-48B6E35E359B}"/>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1000591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334899-99D5-D578-3DA0-6DBAAE8E6BF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FBBE93E-A23E-A042-65F0-7508E6CE31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F25F257-E586-618E-6460-C57898AFA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CB0E29-6031-7684-8F94-AE6742F6D2C5}"/>
              </a:ext>
            </a:extLst>
          </p:cNvPr>
          <p:cNvSpPr>
            <a:spLocks noGrp="1"/>
          </p:cNvSpPr>
          <p:nvPr>
            <p:ph type="dt" sz="half" idx="10"/>
          </p:nvPr>
        </p:nvSpPr>
        <p:spPr/>
        <p:txBody>
          <a:bodyPr/>
          <a:lstStyle/>
          <a:p>
            <a:fld id="{2715C671-1677-4AA8-8381-49BBED48AA5A}" type="datetime1">
              <a:rPr kumimoji="1" lang="ja-JP" altLang="en-US" smtClean="0"/>
              <a:t>2026/6/25</a:t>
            </a:fld>
            <a:endParaRPr kumimoji="1" lang="ja-JP" altLang="en-US"/>
          </a:p>
        </p:txBody>
      </p:sp>
      <p:sp>
        <p:nvSpPr>
          <p:cNvPr id="6" name="フッター プレースホルダー 5">
            <a:extLst>
              <a:ext uri="{FF2B5EF4-FFF2-40B4-BE49-F238E27FC236}">
                <a16:creationId xmlns:a16="http://schemas.microsoft.com/office/drawing/2014/main" id="{1ADF660B-32F4-C342-D2A4-7115D0B4B160}"/>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0029D402-9278-97EB-632C-0052B258012F}"/>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299512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C6AF2D-EAC4-95B5-E682-9341E20C1F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CBBCB71-7755-A502-4238-E429AFDC9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EF2189D-1257-139B-3C62-D6F647F68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BF40F06-C037-8D0A-C784-615DFA69CF8A}"/>
              </a:ext>
            </a:extLst>
          </p:cNvPr>
          <p:cNvSpPr>
            <a:spLocks noGrp="1"/>
          </p:cNvSpPr>
          <p:nvPr>
            <p:ph type="dt" sz="half" idx="10"/>
          </p:nvPr>
        </p:nvSpPr>
        <p:spPr/>
        <p:txBody>
          <a:bodyPr/>
          <a:lstStyle/>
          <a:p>
            <a:fld id="{2D339A8C-0F07-4781-9831-E1BC9A52B3C0}" type="datetime1">
              <a:rPr kumimoji="1" lang="ja-JP" altLang="en-US" smtClean="0"/>
              <a:t>2026/6/25</a:t>
            </a:fld>
            <a:endParaRPr kumimoji="1" lang="ja-JP" altLang="en-US"/>
          </a:p>
        </p:txBody>
      </p:sp>
      <p:sp>
        <p:nvSpPr>
          <p:cNvPr id="6" name="フッター プレースホルダー 5">
            <a:extLst>
              <a:ext uri="{FF2B5EF4-FFF2-40B4-BE49-F238E27FC236}">
                <a16:creationId xmlns:a16="http://schemas.microsoft.com/office/drawing/2014/main" id="{7D41F047-1B6A-40F0-528A-02EFA2C6348F}"/>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BA2816DB-3867-D5CE-6F77-1BFCE093D605}"/>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2317491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579B6D-49B6-460A-DB59-5FCC2D6D393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3ACF86E-0685-92AA-987B-A7D473D64F0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CE82B0-68FD-C7B5-57BF-D40D198737B2}"/>
              </a:ext>
            </a:extLst>
          </p:cNvPr>
          <p:cNvSpPr>
            <a:spLocks noGrp="1"/>
          </p:cNvSpPr>
          <p:nvPr>
            <p:ph type="dt" sz="half" idx="10"/>
          </p:nvPr>
        </p:nvSpPr>
        <p:spPr/>
        <p:txBody>
          <a:bodyPr/>
          <a:lstStyle/>
          <a:p>
            <a:fld id="{A3DA00BC-5334-4D07-9093-8E2BFE21D2E1}"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BAD25224-4DF5-5AAD-050C-B729010843DD}"/>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60BF6909-5D55-24FA-715C-D00C39304273}"/>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3821843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0357FA9-EEC6-BE84-5E5D-1780385E615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8E0F59-A196-8728-04ED-D6DAB8C8058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8F19C5-33C5-ED08-C43F-74B6515F5D6E}"/>
              </a:ext>
            </a:extLst>
          </p:cNvPr>
          <p:cNvSpPr>
            <a:spLocks noGrp="1"/>
          </p:cNvSpPr>
          <p:nvPr>
            <p:ph type="dt" sz="half" idx="10"/>
          </p:nvPr>
        </p:nvSpPr>
        <p:spPr/>
        <p:txBody>
          <a:bodyPr/>
          <a:lstStyle/>
          <a:p>
            <a:fld id="{ACD48758-05C5-4F0A-AE00-C7F7DE55CDDE}"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A1B301D5-5C2A-A32F-509E-F82EDA0372B1}"/>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E581817B-E49B-EF11-0013-502644979A54}"/>
              </a:ext>
            </a:extLst>
          </p:cNvPr>
          <p:cNvSpPr>
            <a:spLocks noGrp="1"/>
          </p:cNvSpPr>
          <p:nvPr>
            <p:ph type="sldNum" sz="quarter" idx="12"/>
          </p:nvPr>
        </p:nvSpPr>
        <p:spPr/>
        <p:txBody>
          <a:body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955195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05F83DA-E3CE-9C5D-EF2E-72B6563CB4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7760819-40C6-0F93-4307-A58738EB9E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D62F15-AA48-9ACD-15A3-5E352C8F1B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C4B1AD-5A66-4CA9-A3BD-30C69C3E0EA2}" type="datetime1">
              <a:rPr kumimoji="1" lang="ja-JP" altLang="en-US" smtClean="0"/>
              <a:t>2026/6/25</a:t>
            </a:fld>
            <a:endParaRPr kumimoji="1" lang="ja-JP" altLang="en-US"/>
          </a:p>
        </p:txBody>
      </p:sp>
      <p:sp>
        <p:nvSpPr>
          <p:cNvPr id="5" name="フッター プレースホルダー 4">
            <a:extLst>
              <a:ext uri="{FF2B5EF4-FFF2-40B4-BE49-F238E27FC236}">
                <a16:creationId xmlns:a16="http://schemas.microsoft.com/office/drawing/2014/main" id="{ECD71388-10C3-7790-4588-30554DB569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653664AE-6101-C5EC-5939-DC1866AE1B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EE47C2-3066-499F-97BE-8094ED607EB5}" type="slidenum">
              <a:rPr kumimoji="1" lang="ja-JP" altLang="en-US" smtClean="0"/>
              <a:t>‹#›</a:t>
            </a:fld>
            <a:endParaRPr kumimoji="1" lang="ja-JP" altLang="en-US"/>
          </a:p>
        </p:txBody>
      </p:sp>
    </p:spTree>
    <p:extLst>
      <p:ext uri="{BB962C8B-B14F-4D97-AF65-F5344CB8AC3E}">
        <p14:creationId xmlns:p14="http://schemas.microsoft.com/office/powerpoint/2010/main" val="277060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3.png"/><Relationship Id="rId4" Type="http://schemas.openxmlformats.org/officeDocument/2006/relationships/image" Target="../media/image42.png"/><Relationship Id="rId9" Type="http://schemas.microsoft.com/office/2007/relationships/hdphoto" Target="../media/hdphoto1.wdp"/></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B20CB8-8BDE-3E3B-2EFE-32B786D6EFB6}"/>
              </a:ext>
            </a:extLst>
          </p:cNvPr>
          <p:cNvSpPr>
            <a:spLocks noGrp="1"/>
          </p:cNvSpPr>
          <p:nvPr>
            <p:ph type="ctrTitle"/>
          </p:nvPr>
        </p:nvSpPr>
        <p:spPr/>
        <p:txBody>
          <a:bodyPr/>
          <a:lstStyle/>
          <a:p>
            <a:r>
              <a:rPr lang="ja-JP" altLang="en-US" dirty="0"/>
              <a:t>画像処理入門</a:t>
            </a:r>
            <a:br>
              <a:rPr lang="en-US" altLang="ja-JP" dirty="0"/>
            </a:br>
            <a:r>
              <a:rPr lang="en-US" altLang="ja-JP" dirty="0" err="1"/>
              <a:t>Python×OpenCV</a:t>
            </a:r>
            <a:endParaRPr kumimoji="1" lang="ja-JP" altLang="en-US" dirty="0"/>
          </a:p>
        </p:txBody>
      </p:sp>
      <p:sp>
        <p:nvSpPr>
          <p:cNvPr id="3" name="字幕 2">
            <a:extLst>
              <a:ext uri="{FF2B5EF4-FFF2-40B4-BE49-F238E27FC236}">
                <a16:creationId xmlns:a16="http://schemas.microsoft.com/office/drawing/2014/main" id="{DA9E8C89-4761-921C-1EDC-94354EDF738B}"/>
              </a:ext>
            </a:extLst>
          </p:cNvPr>
          <p:cNvSpPr>
            <a:spLocks noGrp="1"/>
          </p:cNvSpPr>
          <p:nvPr>
            <p:ph type="subTitle" idx="1"/>
          </p:nvPr>
        </p:nvSpPr>
        <p:spPr/>
        <p:txBody>
          <a:bodyPr/>
          <a:lstStyle/>
          <a:p>
            <a:r>
              <a:rPr kumimoji="1" lang="ja-JP" altLang="en-US" dirty="0"/>
              <a:t>ポリテクセンター栃木</a:t>
            </a:r>
          </a:p>
        </p:txBody>
      </p:sp>
    </p:spTree>
    <p:extLst>
      <p:ext uri="{BB962C8B-B14F-4D97-AF65-F5344CB8AC3E}">
        <p14:creationId xmlns:p14="http://schemas.microsoft.com/office/powerpoint/2010/main" val="3070779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3942CE-F7E5-8A89-A990-7581BFB36253}"/>
              </a:ext>
            </a:extLst>
          </p:cNvPr>
          <p:cNvSpPr>
            <a:spLocks noGrp="1"/>
          </p:cNvSpPr>
          <p:nvPr>
            <p:ph type="title"/>
          </p:nvPr>
        </p:nvSpPr>
        <p:spPr>
          <a:xfrm>
            <a:off x="838200" y="0"/>
            <a:ext cx="10515600" cy="998007"/>
          </a:xfrm>
        </p:spPr>
        <p:txBody>
          <a:bodyPr/>
          <a:lstStyle/>
          <a:p>
            <a:r>
              <a:rPr kumimoji="1" lang="ja-JP" altLang="en-US" b="1" dirty="0"/>
              <a:t>画像処理のスケルトンコード（静止画）</a:t>
            </a:r>
          </a:p>
        </p:txBody>
      </p:sp>
      <p:pic>
        <p:nvPicPr>
          <p:cNvPr id="5" name="図 4">
            <a:extLst>
              <a:ext uri="{FF2B5EF4-FFF2-40B4-BE49-F238E27FC236}">
                <a16:creationId xmlns:a16="http://schemas.microsoft.com/office/drawing/2014/main" id="{A1406CC1-6823-4CE7-37F8-65D66DF3D3A2}"/>
              </a:ext>
            </a:extLst>
          </p:cNvPr>
          <p:cNvPicPr>
            <a:picLocks noChangeAspect="1"/>
          </p:cNvPicPr>
          <p:nvPr/>
        </p:nvPicPr>
        <p:blipFill>
          <a:blip r:embed="rId2"/>
          <a:stretch>
            <a:fillRect/>
          </a:stretch>
        </p:blipFill>
        <p:spPr>
          <a:xfrm>
            <a:off x="908073" y="880532"/>
            <a:ext cx="6467841" cy="5977468"/>
          </a:xfrm>
          <a:prstGeom prst="rect">
            <a:avLst/>
          </a:prstGeom>
        </p:spPr>
      </p:pic>
      <p:sp>
        <p:nvSpPr>
          <p:cNvPr id="6" name="正方形/長方形 5">
            <a:extLst>
              <a:ext uri="{FF2B5EF4-FFF2-40B4-BE49-F238E27FC236}">
                <a16:creationId xmlns:a16="http://schemas.microsoft.com/office/drawing/2014/main" id="{CA008064-435B-2A4F-FE58-700D185C4BF6}"/>
              </a:ext>
            </a:extLst>
          </p:cNvPr>
          <p:cNvSpPr/>
          <p:nvPr/>
        </p:nvSpPr>
        <p:spPr>
          <a:xfrm>
            <a:off x="838200" y="778932"/>
            <a:ext cx="6607586" cy="1557867"/>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26DC18B-8EA5-E627-9F0F-A53090FC0530}"/>
              </a:ext>
            </a:extLst>
          </p:cNvPr>
          <p:cNvSpPr/>
          <p:nvPr/>
        </p:nvSpPr>
        <p:spPr>
          <a:xfrm>
            <a:off x="838200" y="3115732"/>
            <a:ext cx="6607586" cy="592667"/>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1A98BB4C-BB50-A4A5-C4AF-CBEAD02250EA}"/>
              </a:ext>
            </a:extLst>
          </p:cNvPr>
          <p:cNvSpPr/>
          <p:nvPr/>
        </p:nvSpPr>
        <p:spPr>
          <a:xfrm>
            <a:off x="838200" y="4766732"/>
            <a:ext cx="6607586" cy="2091267"/>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2E5EB7FD-F4B5-CB61-2E52-67E882408259}"/>
              </a:ext>
            </a:extLst>
          </p:cNvPr>
          <p:cNvSpPr/>
          <p:nvPr/>
        </p:nvSpPr>
        <p:spPr>
          <a:xfrm>
            <a:off x="8144931" y="839519"/>
            <a:ext cx="3932724" cy="897467"/>
          </a:xfrm>
          <a:prstGeom prst="wedgeRectCallout">
            <a:avLst>
              <a:gd name="adj1" fmla="val -66528"/>
              <a:gd name="adj2" fmla="val 2692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dirty="0"/>
              <a:t>OpenCV</a:t>
            </a:r>
            <a:r>
              <a:rPr lang="ja-JP" altLang="en-US" dirty="0"/>
              <a:t>を</a:t>
            </a:r>
            <a:r>
              <a:rPr lang="en-US" altLang="ja-JP" dirty="0"/>
              <a:t>import</a:t>
            </a:r>
          </a:p>
          <a:p>
            <a:pPr algn="ctr"/>
            <a:r>
              <a:rPr kumimoji="1" lang="ja-JP" altLang="en-US" dirty="0"/>
              <a:t>画面に表示するときのウィンドウのタイトル</a:t>
            </a:r>
          </a:p>
        </p:txBody>
      </p:sp>
      <p:sp>
        <p:nvSpPr>
          <p:cNvPr id="10" name="吹き出し: 四角形 9">
            <a:extLst>
              <a:ext uri="{FF2B5EF4-FFF2-40B4-BE49-F238E27FC236}">
                <a16:creationId xmlns:a16="http://schemas.microsoft.com/office/drawing/2014/main" id="{B2ED911C-4F57-B3A8-70A3-E707CCEC580F}"/>
              </a:ext>
            </a:extLst>
          </p:cNvPr>
          <p:cNvSpPr/>
          <p:nvPr/>
        </p:nvSpPr>
        <p:spPr>
          <a:xfrm>
            <a:off x="8144930" y="2264301"/>
            <a:ext cx="3932725" cy="1664231"/>
          </a:xfrm>
          <a:prstGeom prst="wedgeRectCallout">
            <a:avLst>
              <a:gd name="adj1" fmla="val -66528"/>
              <a:gd name="adj2" fmla="val 2692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imread</a:t>
            </a:r>
            <a:r>
              <a:rPr lang="ja-JP" altLang="en-US" dirty="0"/>
              <a:t>で画像取り込み</a:t>
            </a:r>
            <a:endParaRPr kumimoji="1" lang="en-US" altLang="ja-JP" dirty="0"/>
          </a:p>
          <a:p>
            <a:pPr algn="ctr"/>
            <a:r>
              <a:rPr kumimoji="1" lang="ja-JP" altLang="en-US" dirty="0"/>
              <a:t>第一引数がファイル名</a:t>
            </a:r>
            <a:endParaRPr kumimoji="1" lang="en-US" altLang="ja-JP" dirty="0"/>
          </a:p>
          <a:p>
            <a:pPr algn="ctr"/>
            <a:r>
              <a:rPr lang="ja-JP" altLang="en-US" dirty="0"/>
              <a:t>第二引数がフラグ</a:t>
            </a:r>
            <a:endParaRPr lang="en-US" altLang="ja-JP" dirty="0"/>
          </a:p>
          <a:p>
            <a:pPr algn="ctr"/>
            <a:r>
              <a:rPr kumimoji="1" lang="ja-JP" altLang="en-US" dirty="0"/>
              <a:t>フラグは</a:t>
            </a:r>
            <a:r>
              <a:rPr kumimoji="1" lang="en-US" altLang="ja-JP" dirty="0"/>
              <a:t>1</a:t>
            </a:r>
            <a:r>
              <a:rPr kumimoji="1" lang="ja-JP" altLang="en-US" dirty="0"/>
              <a:t>が</a:t>
            </a:r>
            <a:r>
              <a:rPr lang="ja-JP" altLang="en-US" dirty="0"/>
              <a:t>カラー、</a:t>
            </a:r>
            <a:r>
              <a:rPr lang="en-US" altLang="ja-JP" dirty="0"/>
              <a:t>0</a:t>
            </a:r>
            <a:r>
              <a:rPr lang="ja-JP" altLang="en-US" dirty="0"/>
              <a:t>がモノクロ</a:t>
            </a:r>
            <a:endParaRPr kumimoji="1" lang="ja-JP" altLang="en-US" dirty="0"/>
          </a:p>
        </p:txBody>
      </p:sp>
      <p:sp>
        <p:nvSpPr>
          <p:cNvPr id="11" name="吹き出し: 四角形 10">
            <a:extLst>
              <a:ext uri="{FF2B5EF4-FFF2-40B4-BE49-F238E27FC236}">
                <a16:creationId xmlns:a16="http://schemas.microsoft.com/office/drawing/2014/main" id="{A182D8E3-50CF-55C0-4C70-DF871A1C67DF}"/>
              </a:ext>
            </a:extLst>
          </p:cNvPr>
          <p:cNvSpPr/>
          <p:nvPr/>
        </p:nvSpPr>
        <p:spPr>
          <a:xfrm>
            <a:off x="8144929" y="4384937"/>
            <a:ext cx="3932726" cy="1847325"/>
          </a:xfrm>
          <a:prstGeom prst="wedgeRectCallout">
            <a:avLst>
              <a:gd name="adj1" fmla="val -66528"/>
              <a:gd name="adj2" fmla="val 2692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i</a:t>
            </a:r>
            <a:r>
              <a:rPr kumimoji="1" lang="en-US" altLang="ja-JP" dirty="0" err="1"/>
              <a:t>mshow</a:t>
            </a:r>
            <a:r>
              <a:rPr kumimoji="1" lang="en-US" altLang="ja-JP" dirty="0"/>
              <a:t>(</a:t>
            </a:r>
            <a:r>
              <a:rPr kumimoji="1" lang="ja-JP" altLang="en-US" dirty="0"/>
              <a:t>ウィンドウ名、イメージ名</a:t>
            </a:r>
            <a:r>
              <a:rPr kumimoji="1" lang="en-US" altLang="ja-JP" dirty="0"/>
              <a:t>)</a:t>
            </a:r>
          </a:p>
          <a:p>
            <a:pPr algn="ctr"/>
            <a:r>
              <a:rPr lang="en-US" altLang="ja-JP" dirty="0" err="1"/>
              <a:t>imwrite</a:t>
            </a:r>
            <a:r>
              <a:rPr lang="ja-JP" altLang="en-US" dirty="0"/>
              <a:t>で画像保存</a:t>
            </a:r>
            <a:endParaRPr lang="en-US" altLang="ja-JP" dirty="0"/>
          </a:p>
          <a:p>
            <a:pPr algn="ctr"/>
            <a:r>
              <a:rPr kumimoji="1" lang="en-US" altLang="ja-JP" dirty="0" err="1"/>
              <a:t>waitKey</a:t>
            </a:r>
            <a:r>
              <a:rPr kumimoji="1" lang="ja-JP" altLang="en-US" dirty="0"/>
              <a:t>で処理を一時停止</a:t>
            </a:r>
            <a:endParaRPr kumimoji="1" lang="en-US" altLang="ja-JP" dirty="0"/>
          </a:p>
          <a:p>
            <a:pPr algn="ctr"/>
            <a:r>
              <a:rPr lang="ja-JP" altLang="en-US" dirty="0"/>
              <a:t>キー入力後</a:t>
            </a:r>
            <a:r>
              <a:rPr lang="en-US" altLang="ja-JP" dirty="0" err="1"/>
              <a:t>destroyAllWindows</a:t>
            </a:r>
            <a:r>
              <a:rPr lang="en-US" altLang="ja-JP" dirty="0"/>
              <a:t>()</a:t>
            </a:r>
            <a:r>
              <a:rPr lang="ja-JP" altLang="en-US" dirty="0"/>
              <a:t>で画面に表示されているウィンドウを閉じる</a:t>
            </a:r>
            <a:endParaRPr kumimoji="1" lang="ja-JP" altLang="en-US" dirty="0"/>
          </a:p>
        </p:txBody>
      </p:sp>
      <p:sp>
        <p:nvSpPr>
          <p:cNvPr id="12" name="正方形/長方形 11">
            <a:extLst>
              <a:ext uri="{FF2B5EF4-FFF2-40B4-BE49-F238E27FC236}">
                <a16:creationId xmlns:a16="http://schemas.microsoft.com/office/drawing/2014/main" id="{65FDB8FB-6151-DFD9-EFEB-5C0798042967}"/>
              </a:ext>
            </a:extLst>
          </p:cNvPr>
          <p:cNvSpPr/>
          <p:nvPr/>
        </p:nvSpPr>
        <p:spPr>
          <a:xfrm>
            <a:off x="838200" y="2412999"/>
            <a:ext cx="6607586" cy="626533"/>
          </a:xfrm>
          <a:prstGeom prst="rect">
            <a:avLst/>
          </a:pr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A5D2377-36AF-8860-8983-D00A286CF5F4}"/>
              </a:ext>
            </a:extLst>
          </p:cNvPr>
          <p:cNvSpPr/>
          <p:nvPr/>
        </p:nvSpPr>
        <p:spPr>
          <a:xfrm>
            <a:off x="838200" y="3809999"/>
            <a:ext cx="6607586" cy="880533"/>
          </a:xfrm>
          <a:prstGeom prst="rect">
            <a:avLst/>
          </a:pr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0CF45C7-C071-2776-D9BF-6B877D58848B}"/>
              </a:ext>
            </a:extLst>
          </p:cNvPr>
          <p:cNvSpPr txBox="1"/>
          <p:nvPr/>
        </p:nvSpPr>
        <p:spPr>
          <a:xfrm>
            <a:off x="66060" y="2425168"/>
            <a:ext cx="492443" cy="2265364"/>
          </a:xfrm>
          <a:prstGeom prst="rect">
            <a:avLst/>
          </a:prstGeom>
          <a:ln w="38100"/>
        </p:spPr>
        <p:style>
          <a:lnRef idx="2">
            <a:schemeClr val="accent2"/>
          </a:lnRef>
          <a:fillRef idx="1">
            <a:schemeClr val="lt1"/>
          </a:fillRef>
          <a:effectRef idx="0">
            <a:schemeClr val="accent2"/>
          </a:effectRef>
          <a:fontRef idx="minor">
            <a:schemeClr val="dk1"/>
          </a:fontRef>
        </p:style>
        <p:txBody>
          <a:bodyPr vert="eaVert" wrap="square" rtlCol="0">
            <a:spAutoFit/>
          </a:bodyPr>
          <a:lstStyle/>
          <a:p>
            <a:r>
              <a:rPr kumimoji="1" lang="ja-JP" altLang="en-US" sz="2000" b="1" dirty="0">
                <a:solidFill>
                  <a:srgbClr val="FF0000"/>
                </a:solidFill>
              </a:rPr>
              <a:t>ここだけ変える！</a:t>
            </a:r>
          </a:p>
        </p:txBody>
      </p:sp>
      <p:cxnSp>
        <p:nvCxnSpPr>
          <p:cNvPr id="16" name="直線矢印コネクタ 15">
            <a:extLst>
              <a:ext uri="{FF2B5EF4-FFF2-40B4-BE49-F238E27FC236}">
                <a16:creationId xmlns:a16="http://schemas.microsoft.com/office/drawing/2014/main" id="{E6F7B4A6-471E-3E6E-3E1C-F3A6FE6E1BD7}"/>
              </a:ext>
            </a:extLst>
          </p:cNvPr>
          <p:cNvCxnSpPr>
            <a:stCxn id="14" idx="3"/>
            <a:endCxn id="12" idx="1"/>
          </p:cNvCxnSpPr>
          <p:nvPr/>
        </p:nvCxnSpPr>
        <p:spPr>
          <a:xfrm flipV="1">
            <a:off x="558503" y="2726266"/>
            <a:ext cx="279697" cy="83158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矢印コネクタ 16">
            <a:extLst>
              <a:ext uri="{FF2B5EF4-FFF2-40B4-BE49-F238E27FC236}">
                <a16:creationId xmlns:a16="http://schemas.microsoft.com/office/drawing/2014/main" id="{1DD419F7-1B3C-2CBD-1F8B-A5121880794D}"/>
              </a:ext>
            </a:extLst>
          </p:cNvPr>
          <p:cNvCxnSpPr>
            <a:cxnSpLocks/>
            <a:stCxn id="14" idx="3"/>
            <a:endCxn id="13" idx="1"/>
          </p:cNvCxnSpPr>
          <p:nvPr/>
        </p:nvCxnSpPr>
        <p:spPr>
          <a:xfrm>
            <a:off x="558503" y="3557850"/>
            <a:ext cx="279697" cy="6924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フッター プレースホルダー 2">
            <a:extLst>
              <a:ext uri="{FF2B5EF4-FFF2-40B4-BE49-F238E27FC236}">
                <a16:creationId xmlns:a16="http://schemas.microsoft.com/office/drawing/2014/main" id="{C060556F-AAD8-3030-7A1D-5779ECFAD6D2}"/>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CB1EB35B-0295-63C7-F693-5BED99B16BDF}"/>
              </a:ext>
            </a:extLst>
          </p:cNvPr>
          <p:cNvSpPr>
            <a:spLocks noGrp="1"/>
          </p:cNvSpPr>
          <p:nvPr>
            <p:ph type="sldNum" sz="quarter" idx="12"/>
          </p:nvPr>
        </p:nvSpPr>
        <p:spPr/>
        <p:txBody>
          <a:bodyPr/>
          <a:lstStyle/>
          <a:p>
            <a:fld id="{82EE47C2-3066-499F-97BE-8094ED607EB5}" type="slidenum">
              <a:rPr kumimoji="1" lang="ja-JP" altLang="en-US" smtClean="0"/>
              <a:t>2</a:t>
            </a:fld>
            <a:endParaRPr kumimoji="1" lang="ja-JP" altLang="en-US"/>
          </a:p>
        </p:txBody>
      </p:sp>
    </p:spTree>
    <p:extLst>
      <p:ext uri="{BB962C8B-B14F-4D97-AF65-F5344CB8AC3E}">
        <p14:creationId xmlns:p14="http://schemas.microsoft.com/office/powerpoint/2010/main" val="300189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3942CE-F7E5-8A89-A990-7581BFB36253}"/>
              </a:ext>
            </a:extLst>
          </p:cNvPr>
          <p:cNvSpPr>
            <a:spLocks noGrp="1"/>
          </p:cNvSpPr>
          <p:nvPr>
            <p:ph type="title"/>
          </p:nvPr>
        </p:nvSpPr>
        <p:spPr>
          <a:xfrm>
            <a:off x="838200" y="0"/>
            <a:ext cx="10515600" cy="998007"/>
          </a:xfrm>
        </p:spPr>
        <p:txBody>
          <a:bodyPr/>
          <a:lstStyle/>
          <a:p>
            <a:r>
              <a:rPr kumimoji="1" lang="ja-JP" altLang="en-US" b="1" dirty="0"/>
              <a:t>画像処理のスケルトンコード（動画）①</a:t>
            </a:r>
          </a:p>
        </p:txBody>
      </p:sp>
      <p:pic>
        <p:nvPicPr>
          <p:cNvPr id="4" name="図 3">
            <a:extLst>
              <a:ext uri="{FF2B5EF4-FFF2-40B4-BE49-F238E27FC236}">
                <a16:creationId xmlns:a16="http://schemas.microsoft.com/office/drawing/2014/main" id="{2A86C8CB-12EA-A73D-A357-259D48B6E41D}"/>
              </a:ext>
            </a:extLst>
          </p:cNvPr>
          <p:cNvPicPr>
            <a:picLocks noChangeAspect="1"/>
          </p:cNvPicPr>
          <p:nvPr/>
        </p:nvPicPr>
        <p:blipFill>
          <a:blip r:embed="rId2"/>
          <a:stretch>
            <a:fillRect/>
          </a:stretch>
        </p:blipFill>
        <p:spPr>
          <a:xfrm>
            <a:off x="838200" y="1152816"/>
            <a:ext cx="6690792" cy="3834050"/>
          </a:xfrm>
          <a:prstGeom prst="rect">
            <a:avLst/>
          </a:prstGeom>
        </p:spPr>
      </p:pic>
      <p:sp>
        <p:nvSpPr>
          <p:cNvPr id="15" name="正方形/長方形 14">
            <a:extLst>
              <a:ext uri="{FF2B5EF4-FFF2-40B4-BE49-F238E27FC236}">
                <a16:creationId xmlns:a16="http://schemas.microsoft.com/office/drawing/2014/main" id="{8367795A-336F-1BD2-E13E-29767ED56B35}"/>
              </a:ext>
            </a:extLst>
          </p:cNvPr>
          <p:cNvSpPr/>
          <p:nvPr/>
        </p:nvSpPr>
        <p:spPr>
          <a:xfrm>
            <a:off x="592666" y="998007"/>
            <a:ext cx="7061201" cy="4158193"/>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吹き出し: 四角形 17">
            <a:extLst>
              <a:ext uri="{FF2B5EF4-FFF2-40B4-BE49-F238E27FC236}">
                <a16:creationId xmlns:a16="http://schemas.microsoft.com/office/drawing/2014/main" id="{9D200194-446B-8125-8F0E-EB4EFD9DB6C1}"/>
              </a:ext>
            </a:extLst>
          </p:cNvPr>
          <p:cNvSpPr/>
          <p:nvPr/>
        </p:nvSpPr>
        <p:spPr>
          <a:xfrm>
            <a:off x="7984064" y="1847052"/>
            <a:ext cx="3932724" cy="2818081"/>
          </a:xfrm>
          <a:prstGeom prst="wedgeRectCallout">
            <a:avLst>
              <a:gd name="adj1" fmla="val -66528"/>
              <a:gd name="adj2" fmla="val 2692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dirty="0"/>
              <a:t>OpenCV</a:t>
            </a:r>
            <a:r>
              <a:rPr lang="ja-JP" altLang="en-US" dirty="0"/>
              <a:t>と</a:t>
            </a:r>
            <a:r>
              <a:rPr lang="en-US" altLang="ja-JP" dirty="0"/>
              <a:t>Picamera2</a:t>
            </a:r>
            <a:r>
              <a:rPr lang="ja-JP" altLang="en-US" dirty="0"/>
              <a:t>を</a:t>
            </a:r>
            <a:r>
              <a:rPr lang="en-US" altLang="ja-JP" dirty="0"/>
              <a:t>import</a:t>
            </a:r>
          </a:p>
          <a:p>
            <a:pPr algn="ctr"/>
            <a:endParaRPr kumimoji="1" lang="en-US" altLang="ja-JP" dirty="0"/>
          </a:p>
          <a:p>
            <a:pPr algn="ctr"/>
            <a:r>
              <a:rPr kumimoji="1" lang="ja-JP" altLang="en-US" dirty="0"/>
              <a:t>画面に表示するウィンドウを準備</a:t>
            </a:r>
            <a:endParaRPr kumimoji="1" lang="en-US" altLang="ja-JP" dirty="0"/>
          </a:p>
          <a:p>
            <a:pPr algn="ctr"/>
            <a:endParaRPr lang="en-US" altLang="ja-JP" dirty="0"/>
          </a:p>
          <a:p>
            <a:pPr algn="ctr"/>
            <a:r>
              <a:rPr kumimoji="1" lang="ja-JP" altLang="en-US" dirty="0"/>
              <a:t>ラズパイカメラの撮影開始</a:t>
            </a:r>
            <a:endParaRPr kumimoji="1" lang="en-US" altLang="ja-JP" dirty="0"/>
          </a:p>
          <a:p>
            <a:pPr algn="ctr"/>
            <a:endParaRPr lang="en-US" altLang="ja-JP" dirty="0"/>
          </a:p>
          <a:p>
            <a:pPr algn="ctr"/>
            <a:r>
              <a:rPr kumimoji="1" lang="ja-JP" altLang="en-US" b="1" dirty="0"/>
              <a:t>どれも変更不要</a:t>
            </a:r>
          </a:p>
        </p:txBody>
      </p:sp>
      <p:sp>
        <p:nvSpPr>
          <p:cNvPr id="3" name="フッター プレースホルダー 2">
            <a:extLst>
              <a:ext uri="{FF2B5EF4-FFF2-40B4-BE49-F238E27FC236}">
                <a16:creationId xmlns:a16="http://schemas.microsoft.com/office/drawing/2014/main" id="{20CF33E6-0540-D7E9-3AB9-E4AE606F5652}"/>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B4E16DEC-9475-90EE-222A-260C4ACEE226}"/>
              </a:ext>
            </a:extLst>
          </p:cNvPr>
          <p:cNvSpPr>
            <a:spLocks noGrp="1"/>
          </p:cNvSpPr>
          <p:nvPr>
            <p:ph type="sldNum" sz="quarter" idx="12"/>
          </p:nvPr>
        </p:nvSpPr>
        <p:spPr/>
        <p:txBody>
          <a:bodyPr/>
          <a:lstStyle/>
          <a:p>
            <a:fld id="{82EE47C2-3066-499F-97BE-8094ED607EB5}" type="slidenum">
              <a:rPr kumimoji="1" lang="ja-JP" altLang="en-US" smtClean="0"/>
              <a:t>3</a:t>
            </a:fld>
            <a:endParaRPr kumimoji="1" lang="ja-JP" altLang="en-US"/>
          </a:p>
        </p:txBody>
      </p:sp>
    </p:spTree>
    <p:extLst>
      <p:ext uri="{BB962C8B-B14F-4D97-AF65-F5344CB8AC3E}">
        <p14:creationId xmlns:p14="http://schemas.microsoft.com/office/powerpoint/2010/main" val="543876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3942CE-F7E5-8A89-A990-7581BFB36253}"/>
              </a:ext>
            </a:extLst>
          </p:cNvPr>
          <p:cNvSpPr>
            <a:spLocks noGrp="1"/>
          </p:cNvSpPr>
          <p:nvPr>
            <p:ph type="title"/>
          </p:nvPr>
        </p:nvSpPr>
        <p:spPr>
          <a:xfrm>
            <a:off x="838200" y="0"/>
            <a:ext cx="10515600" cy="998007"/>
          </a:xfrm>
        </p:spPr>
        <p:txBody>
          <a:bodyPr/>
          <a:lstStyle/>
          <a:p>
            <a:r>
              <a:rPr kumimoji="1" lang="ja-JP" altLang="en-US" b="1" dirty="0"/>
              <a:t>画像処理のスケルトンコード（動画）②</a:t>
            </a:r>
          </a:p>
        </p:txBody>
      </p:sp>
      <p:pic>
        <p:nvPicPr>
          <p:cNvPr id="5" name="図 4">
            <a:extLst>
              <a:ext uri="{FF2B5EF4-FFF2-40B4-BE49-F238E27FC236}">
                <a16:creationId xmlns:a16="http://schemas.microsoft.com/office/drawing/2014/main" id="{3503FFD7-4E92-1B91-8B3A-3A76A53CF930}"/>
              </a:ext>
            </a:extLst>
          </p:cNvPr>
          <p:cNvPicPr>
            <a:picLocks noChangeAspect="1"/>
          </p:cNvPicPr>
          <p:nvPr/>
        </p:nvPicPr>
        <p:blipFill>
          <a:blip r:embed="rId2"/>
          <a:stretch>
            <a:fillRect/>
          </a:stretch>
        </p:blipFill>
        <p:spPr>
          <a:xfrm>
            <a:off x="202037" y="680566"/>
            <a:ext cx="8696430" cy="6068338"/>
          </a:xfrm>
          <a:prstGeom prst="rect">
            <a:avLst/>
          </a:prstGeom>
        </p:spPr>
      </p:pic>
      <p:sp>
        <p:nvSpPr>
          <p:cNvPr id="6" name="正方形/長方形 5">
            <a:extLst>
              <a:ext uri="{FF2B5EF4-FFF2-40B4-BE49-F238E27FC236}">
                <a16:creationId xmlns:a16="http://schemas.microsoft.com/office/drawing/2014/main" id="{0D7F2AAD-E9A9-F7AB-72A6-D251B9EC97A5}"/>
              </a:ext>
            </a:extLst>
          </p:cNvPr>
          <p:cNvSpPr/>
          <p:nvPr/>
        </p:nvSpPr>
        <p:spPr>
          <a:xfrm>
            <a:off x="202037" y="761999"/>
            <a:ext cx="8696430" cy="1498601"/>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吹き出し: 四角形 6">
            <a:extLst>
              <a:ext uri="{FF2B5EF4-FFF2-40B4-BE49-F238E27FC236}">
                <a16:creationId xmlns:a16="http://schemas.microsoft.com/office/drawing/2014/main" id="{3DB44E8D-4DF9-81D7-8053-6F43A0722741}"/>
              </a:ext>
            </a:extLst>
          </p:cNvPr>
          <p:cNvSpPr/>
          <p:nvPr/>
        </p:nvSpPr>
        <p:spPr>
          <a:xfrm>
            <a:off x="7679268" y="1891768"/>
            <a:ext cx="4310696" cy="1164699"/>
          </a:xfrm>
          <a:prstGeom prst="wedgeRectCallout">
            <a:avLst>
              <a:gd name="adj1" fmla="val -47152"/>
              <a:gd name="adj2" fmla="val -6566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ラズパイのカメラからの情報を取り込む</a:t>
            </a:r>
            <a:endParaRPr lang="en-US" altLang="ja-JP" dirty="0"/>
          </a:p>
          <a:p>
            <a:pPr algn="ctr"/>
            <a:r>
              <a:rPr lang="en-US" altLang="ja-JP" dirty="0"/>
              <a:t>RGB2BGR</a:t>
            </a:r>
            <a:r>
              <a:rPr lang="ja-JP" altLang="en-US" dirty="0"/>
              <a:t>で青赤情報を反転</a:t>
            </a:r>
            <a:endParaRPr lang="en-US" altLang="ja-JP" dirty="0"/>
          </a:p>
          <a:p>
            <a:pPr algn="ctr"/>
            <a:r>
              <a:rPr kumimoji="1" lang="ja-JP" altLang="en-US" dirty="0"/>
              <a:t>（</a:t>
            </a:r>
            <a:r>
              <a:rPr kumimoji="1" lang="en-US" altLang="ja-JP" dirty="0" err="1"/>
              <a:t>Picamera</a:t>
            </a:r>
            <a:r>
              <a:rPr kumimoji="1" lang="ja-JP" altLang="en-US" dirty="0"/>
              <a:t>と</a:t>
            </a:r>
            <a:r>
              <a:rPr kumimoji="1" lang="en-US" altLang="ja-JP" dirty="0"/>
              <a:t>OpenCV</a:t>
            </a:r>
            <a:r>
              <a:rPr lang="ja-JP" altLang="en-US" dirty="0"/>
              <a:t>で異なる</a:t>
            </a:r>
            <a:r>
              <a:rPr kumimoji="1" lang="ja-JP" altLang="en-US" dirty="0"/>
              <a:t>）</a:t>
            </a:r>
          </a:p>
        </p:txBody>
      </p:sp>
      <p:sp>
        <p:nvSpPr>
          <p:cNvPr id="8" name="正方形/長方形 7">
            <a:extLst>
              <a:ext uri="{FF2B5EF4-FFF2-40B4-BE49-F238E27FC236}">
                <a16:creationId xmlns:a16="http://schemas.microsoft.com/office/drawing/2014/main" id="{9F500018-2EDB-BF90-4F53-707CC5D69377}"/>
              </a:ext>
            </a:extLst>
          </p:cNvPr>
          <p:cNvSpPr/>
          <p:nvPr/>
        </p:nvSpPr>
        <p:spPr>
          <a:xfrm>
            <a:off x="202037" y="3649134"/>
            <a:ext cx="8696430" cy="3099770"/>
          </a:xfrm>
          <a:prstGeom prst="rect">
            <a:avLst/>
          </a:prstGeom>
          <a:solidFill>
            <a:srgbClr val="156082">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四角形 8">
            <a:extLst>
              <a:ext uri="{FF2B5EF4-FFF2-40B4-BE49-F238E27FC236}">
                <a16:creationId xmlns:a16="http://schemas.microsoft.com/office/drawing/2014/main" id="{DA3B70EF-2527-81E0-8DF2-B643747C6460}"/>
              </a:ext>
            </a:extLst>
          </p:cNvPr>
          <p:cNvSpPr/>
          <p:nvPr/>
        </p:nvSpPr>
        <p:spPr>
          <a:xfrm>
            <a:off x="7281332" y="4066741"/>
            <a:ext cx="4708630" cy="2289609"/>
          </a:xfrm>
          <a:prstGeom prst="wedgeRectCallout">
            <a:avLst>
              <a:gd name="adj1" fmla="val -59526"/>
              <a:gd name="adj2" fmla="val -3196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err="1"/>
              <a:t>Imshow</a:t>
            </a:r>
            <a:r>
              <a:rPr lang="ja-JP" altLang="en-US" dirty="0"/>
              <a:t>で画像</a:t>
            </a:r>
            <a:r>
              <a:rPr lang="en-US" altLang="ja-JP" dirty="0"/>
              <a:t>(</a:t>
            </a:r>
            <a:r>
              <a:rPr lang="ja-JP" altLang="en-US" dirty="0"/>
              <a:t>無限ループなので実質動画</a:t>
            </a:r>
            <a:r>
              <a:rPr lang="en-US" altLang="ja-JP" dirty="0"/>
              <a:t>)</a:t>
            </a:r>
            <a:r>
              <a:rPr lang="ja-JP" altLang="en-US" dirty="0"/>
              <a:t>を表示</a:t>
            </a:r>
            <a:endParaRPr lang="en-US" altLang="ja-JP" dirty="0"/>
          </a:p>
          <a:p>
            <a:pPr algn="ctr"/>
            <a:r>
              <a:rPr kumimoji="1" lang="ja-JP" altLang="en-US" dirty="0"/>
              <a:t>入力されたキーを </a:t>
            </a:r>
            <a:r>
              <a:rPr kumimoji="1" lang="en-US" altLang="ja-JP" dirty="0" err="1"/>
              <a:t>ch</a:t>
            </a:r>
            <a:r>
              <a:rPr kumimoji="1" lang="en-US" altLang="ja-JP" dirty="0"/>
              <a:t> </a:t>
            </a:r>
            <a:r>
              <a:rPr kumimoji="1" lang="ja-JP" altLang="en-US" dirty="0"/>
              <a:t>という変数に格納</a:t>
            </a:r>
            <a:endParaRPr kumimoji="1" lang="en-US" altLang="ja-JP" dirty="0"/>
          </a:p>
          <a:p>
            <a:pPr algn="ctr"/>
            <a:r>
              <a:rPr lang="en-US" altLang="ja-JP" dirty="0"/>
              <a:t>Ch</a:t>
            </a:r>
            <a:r>
              <a:rPr lang="ja-JP" altLang="en-US" dirty="0"/>
              <a:t>が </a:t>
            </a:r>
            <a:r>
              <a:rPr lang="en-US" altLang="ja-JP" dirty="0"/>
              <a:t>’q’ </a:t>
            </a:r>
            <a:r>
              <a:rPr lang="ja-JP" altLang="en-US" dirty="0"/>
              <a:t>というキーならループ終了</a:t>
            </a:r>
            <a:endParaRPr lang="en-US" altLang="ja-JP" dirty="0"/>
          </a:p>
          <a:p>
            <a:pPr algn="ctr"/>
            <a:r>
              <a:rPr lang="ja-JP" altLang="en-US" dirty="0"/>
              <a:t>↓</a:t>
            </a:r>
            <a:endParaRPr lang="en-US" altLang="ja-JP" dirty="0"/>
          </a:p>
          <a:p>
            <a:pPr algn="ctr"/>
            <a:r>
              <a:rPr kumimoji="1" lang="ja-JP" altLang="en-US" dirty="0"/>
              <a:t>ラズパイカメラを停止して</a:t>
            </a:r>
            <a:endParaRPr kumimoji="1" lang="en-US" altLang="ja-JP" dirty="0"/>
          </a:p>
          <a:p>
            <a:pPr algn="ctr"/>
            <a:r>
              <a:rPr lang="ja-JP" altLang="en-US" dirty="0"/>
              <a:t>ウィンドウをすべて閉じる</a:t>
            </a:r>
            <a:endParaRPr kumimoji="1" lang="ja-JP" altLang="en-US" dirty="0"/>
          </a:p>
        </p:txBody>
      </p:sp>
      <p:sp>
        <p:nvSpPr>
          <p:cNvPr id="10" name="正方形/長方形 9">
            <a:extLst>
              <a:ext uri="{FF2B5EF4-FFF2-40B4-BE49-F238E27FC236}">
                <a16:creationId xmlns:a16="http://schemas.microsoft.com/office/drawing/2014/main" id="{BCC1BD34-7F6D-C79C-47ED-99F9E4475AB6}"/>
              </a:ext>
            </a:extLst>
          </p:cNvPr>
          <p:cNvSpPr/>
          <p:nvPr/>
        </p:nvSpPr>
        <p:spPr>
          <a:xfrm>
            <a:off x="202035" y="2386541"/>
            <a:ext cx="7079297" cy="1164699"/>
          </a:xfrm>
          <a:prstGeom prst="rect">
            <a:avLst/>
          </a:pr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A7A5ECD-6046-0A79-CF48-1EB5E89E010A}"/>
              </a:ext>
            </a:extLst>
          </p:cNvPr>
          <p:cNvSpPr txBox="1"/>
          <p:nvPr/>
        </p:nvSpPr>
        <p:spPr>
          <a:xfrm>
            <a:off x="5985935" y="3275953"/>
            <a:ext cx="2269065" cy="400110"/>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kumimoji="1" lang="ja-JP" altLang="en-US" sz="2000" b="1" dirty="0"/>
              <a:t>ここだけ変える！</a:t>
            </a:r>
          </a:p>
        </p:txBody>
      </p:sp>
      <p:sp>
        <p:nvSpPr>
          <p:cNvPr id="3" name="フッター プレースホルダー 2">
            <a:extLst>
              <a:ext uri="{FF2B5EF4-FFF2-40B4-BE49-F238E27FC236}">
                <a16:creationId xmlns:a16="http://schemas.microsoft.com/office/drawing/2014/main" id="{5471F7BC-771E-FC4F-AE17-E2B2EAB02E99}"/>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0FC5516-3165-5351-248F-3BE6FC40BF5E}"/>
              </a:ext>
            </a:extLst>
          </p:cNvPr>
          <p:cNvSpPr>
            <a:spLocks noGrp="1"/>
          </p:cNvSpPr>
          <p:nvPr>
            <p:ph type="sldNum" sz="quarter" idx="12"/>
          </p:nvPr>
        </p:nvSpPr>
        <p:spPr/>
        <p:txBody>
          <a:bodyPr/>
          <a:lstStyle/>
          <a:p>
            <a:fld id="{82EE47C2-3066-499F-97BE-8094ED607EB5}" type="slidenum">
              <a:rPr kumimoji="1" lang="ja-JP" altLang="en-US" smtClean="0"/>
              <a:t>4</a:t>
            </a:fld>
            <a:endParaRPr kumimoji="1" lang="ja-JP" altLang="en-US"/>
          </a:p>
        </p:txBody>
      </p:sp>
    </p:spTree>
    <p:extLst>
      <p:ext uri="{BB962C8B-B14F-4D97-AF65-F5344CB8AC3E}">
        <p14:creationId xmlns:p14="http://schemas.microsoft.com/office/powerpoint/2010/main" val="4222151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10B394-370F-FF60-49C2-7ED324E059B7}"/>
              </a:ext>
            </a:extLst>
          </p:cNvPr>
          <p:cNvSpPr>
            <a:spLocks noGrp="1"/>
          </p:cNvSpPr>
          <p:nvPr>
            <p:ph type="title"/>
          </p:nvPr>
        </p:nvSpPr>
        <p:spPr/>
        <p:txBody>
          <a:bodyPr/>
          <a:lstStyle/>
          <a:p>
            <a:r>
              <a:rPr kumimoji="1" lang="ja-JP" altLang="en-US" b="1" dirty="0"/>
              <a:t>練習</a:t>
            </a:r>
          </a:p>
        </p:txBody>
      </p:sp>
      <p:sp>
        <p:nvSpPr>
          <p:cNvPr id="3" name="コンテンツ プレースホルダー 2">
            <a:extLst>
              <a:ext uri="{FF2B5EF4-FFF2-40B4-BE49-F238E27FC236}">
                <a16:creationId xmlns:a16="http://schemas.microsoft.com/office/drawing/2014/main" id="{3055DC18-8870-575A-CD85-37852820F8EF}"/>
              </a:ext>
            </a:extLst>
          </p:cNvPr>
          <p:cNvSpPr>
            <a:spLocks noGrp="1"/>
          </p:cNvSpPr>
          <p:nvPr>
            <p:ph idx="1"/>
          </p:nvPr>
        </p:nvSpPr>
        <p:spPr/>
        <p:txBody>
          <a:bodyPr/>
          <a:lstStyle/>
          <a:p>
            <a:r>
              <a:rPr kumimoji="1" lang="ja-JP" altLang="en-US" dirty="0"/>
              <a:t>画像を</a:t>
            </a:r>
            <a:r>
              <a:rPr kumimoji="1" lang="en-US" altLang="ja-JP" dirty="0"/>
              <a:t>(100, 100)</a:t>
            </a:r>
            <a:r>
              <a:rPr kumimoji="1" lang="ja-JP" altLang="en-US" dirty="0"/>
              <a:t>にリサイズしてさらに垂直反転</a:t>
            </a:r>
            <a:endParaRPr kumimoji="1" lang="en-US" altLang="ja-JP" dirty="0"/>
          </a:p>
          <a:p>
            <a:r>
              <a:rPr kumimoji="1" lang="ja-JP" altLang="en-US" dirty="0"/>
              <a:t>カメラからの動画を</a:t>
            </a:r>
            <a:r>
              <a:rPr kumimoji="1" lang="en-US" altLang="ja-JP" dirty="0"/>
              <a:t>[20:100, 20:100]</a:t>
            </a:r>
            <a:r>
              <a:rPr kumimoji="1" lang="ja-JP" altLang="en-US" dirty="0"/>
              <a:t>の範囲でトリミング</a:t>
            </a:r>
            <a:endParaRPr kumimoji="1" lang="en-US" altLang="ja-JP" dirty="0"/>
          </a:p>
          <a:p>
            <a:endParaRPr lang="en-US" altLang="ja-JP" dirty="0"/>
          </a:p>
          <a:p>
            <a:r>
              <a:rPr kumimoji="1" lang="ja-JP" altLang="en-US" dirty="0"/>
              <a:t>リサイズ </a:t>
            </a:r>
            <a:r>
              <a:rPr kumimoji="1" lang="en-US" altLang="ja-JP" dirty="0"/>
              <a:t>… cv2.resize(</a:t>
            </a:r>
            <a:r>
              <a:rPr kumimoji="1" lang="ja-JP" altLang="en-US" dirty="0"/>
              <a:t>イメージ名</a:t>
            </a:r>
            <a:r>
              <a:rPr kumimoji="1" lang="en-US" altLang="ja-JP" dirty="0"/>
              <a:t>, (</a:t>
            </a:r>
            <a:r>
              <a:rPr kumimoji="1" lang="ja-JP" altLang="en-US" dirty="0"/>
              <a:t>横</a:t>
            </a:r>
            <a:r>
              <a:rPr kumimoji="1" lang="en-US" altLang="ja-JP" dirty="0"/>
              <a:t>, </a:t>
            </a:r>
            <a:r>
              <a:rPr kumimoji="1" lang="ja-JP" altLang="en-US" dirty="0"/>
              <a:t>縦</a:t>
            </a:r>
            <a:r>
              <a:rPr kumimoji="1" lang="en-US" altLang="ja-JP" dirty="0"/>
              <a:t>))</a:t>
            </a:r>
          </a:p>
          <a:p>
            <a:r>
              <a:rPr kumimoji="1" lang="ja-JP" altLang="en-US" dirty="0"/>
              <a:t>トリミング </a:t>
            </a:r>
            <a:r>
              <a:rPr kumimoji="1" lang="en-US" altLang="ja-JP" dirty="0"/>
              <a:t>… </a:t>
            </a:r>
            <a:r>
              <a:rPr kumimoji="1" lang="ja-JP" altLang="en-US" dirty="0"/>
              <a:t>イメージ名</a:t>
            </a:r>
            <a:r>
              <a:rPr kumimoji="1" lang="en-US" altLang="ja-JP" dirty="0"/>
              <a:t>[</a:t>
            </a:r>
            <a:r>
              <a:rPr kumimoji="1" lang="ja-JP" altLang="en-US" dirty="0"/>
              <a:t>範囲</a:t>
            </a:r>
            <a:r>
              <a:rPr kumimoji="1"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264A9C1B-3851-41E9-37DC-6B0C74D71F56}"/>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66798074-09AC-D0E4-66E5-A417EAA462C5}"/>
              </a:ext>
            </a:extLst>
          </p:cNvPr>
          <p:cNvSpPr>
            <a:spLocks noGrp="1"/>
          </p:cNvSpPr>
          <p:nvPr>
            <p:ph type="sldNum" sz="quarter" idx="12"/>
          </p:nvPr>
        </p:nvSpPr>
        <p:spPr/>
        <p:txBody>
          <a:bodyPr/>
          <a:lstStyle/>
          <a:p>
            <a:fld id="{82EE47C2-3066-499F-97BE-8094ED607EB5}" type="slidenum">
              <a:rPr kumimoji="1" lang="ja-JP" altLang="en-US" smtClean="0"/>
              <a:t>5</a:t>
            </a:fld>
            <a:endParaRPr kumimoji="1" lang="ja-JP" altLang="en-US"/>
          </a:p>
        </p:txBody>
      </p:sp>
    </p:spTree>
    <p:extLst>
      <p:ext uri="{BB962C8B-B14F-4D97-AF65-F5344CB8AC3E}">
        <p14:creationId xmlns:p14="http://schemas.microsoft.com/office/powerpoint/2010/main" val="2217525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ADBF30-733D-05B0-901E-4911769532BB}"/>
              </a:ext>
            </a:extLst>
          </p:cNvPr>
          <p:cNvSpPr>
            <a:spLocks noGrp="1"/>
          </p:cNvSpPr>
          <p:nvPr>
            <p:ph type="title"/>
          </p:nvPr>
        </p:nvSpPr>
        <p:spPr/>
        <p:txBody>
          <a:bodyPr/>
          <a:lstStyle/>
          <a:p>
            <a:r>
              <a:rPr lang="ja-JP" altLang="en-US" dirty="0"/>
              <a:t>１章　外乱を抑える</a:t>
            </a:r>
            <a:endParaRPr kumimoji="1" lang="ja-JP" altLang="en-US" dirty="0"/>
          </a:p>
        </p:txBody>
      </p:sp>
      <p:sp>
        <p:nvSpPr>
          <p:cNvPr id="3" name="コンテンツ プレースホルダー 2">
            <a:extLst>
              <a:ext uri="{FF2B5EF4-FFF2-40B4-BE49-F238E27FC236}">
                <a16:creationId xmlns:a16="http://schemas.microsoft.com/office/drawing/2014/main" id="{92E5D685-B3C3-B83F-2A51-F3C622DF6B46}"/>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001FC628-3643-D33D-D7DB-85885A95726E}"/>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6CC3178D-2122-B9AC-DF0B-D5A8BC8CFC88}"/>
              </a:ext>
            </a:extLst>
          </p:cNvPr>
          <p:cNvSpPr>
            <a:spLocks noGrp="1"/>
          </p:cNvSpPr>
          <p:nvPr>
            <p:ph type="sldNum" sz="quarter" idx="12"/>
          </p:nvPr>
        </p:nvSpPr>
        <p:spPr/>
        <p:txBody>
          <a:bodyPr/>
          <a:lstStyle/>
          <a:p>
            <a:fld id="{82EE47C2-3066-499F-97BE-8094ED607EB5}" type="slidenum">
              <a:rPr kumimoji="1" lang="ja-JP" altLang="en-US" smtClean="0"/>
              <a:t>6</a:t>
            </a:fld>
            <a:endParaRPr kumimoji="1" lang="ja-JP" altLang="en-US"/>
          </a:p>
        </p:txBody>
      </p:sp>
    </p:spTree>
    <p:extLst>
      <p:ext uri="{BB962C8B-B14F-4D97-AF65-F5344CB8AC3E}">
        <p14:creationId xmlns:p14="http://schemas.microsoft.com/office/powerpoint/2010/main" val="4253665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ADBF30-733D-05B0-901E-4911769532BB}"/>
              </a:ext>
            </a:extLst>
          </p:cNvPr>
          <p:cNvSpPr>
            <a:spLocks noGrp="1"/>
          </p:cNvSpPr>
          <p:nvPr>
            <p:ph type="title"/>
          </p:nvPr>
        </p:nvSpPr>
        <p:spPr>
          <a:xfrm>
            <a:off x="838200" y="365125"/>
            <a:ext cx="10515600" cy="1006475"/>
          </a:xfrm>
        </p:spPr>
        <p:txBody>
          <a:bodyPr/>
          <a:lstStyle/>
          <a:p>
            <a:r>
              <a:rPr kumimoji="1" lang="ja-JP" altLang="en-US" b="1" dirty="0"/>
              <a:t>濃度ヒストグラム</a:t>
            </a:r>
          </a:p>
        </p:txBody>
      </p:sp>
      <p:sp>
        <p:nvSpPr>
          <p:cNvPr id="3" name="コンテンツ プレースホルダー 2">
            <a:extLst>
              <a:ext uri="{FF2B5EF4-FFF2-40B4-BE49-F238E27FC236}">
                <a16:creationId xmlns:a16="http://schemas.microsoft.com/office/drawing/2014/main" id="{92E5D685-B3C3-B83F-2A51-F3C622DF6B46}"/>
              </a:ext>
            </a:extLst>
          </p:cNvPr>
          <p:cNvSpPr>
            <a:spLocks noGrp="1"/>
          </p:cNvSpPr>
          <p:nvPr>
            <p:ph idx="1"/>
          </p:nvPr>
        </p:nvSpPr>
        <p:spPr>
          <a:xfrm>
            <a:off x="838200" y="1540933"/>
            <a:ext cx="10515600" cy="4636030"/>
          </a:xfrm>
        </p:spPr>
        <p:txBody>
          <a:bodyPr/>
          <a:lstStyle/>
          <a:p>
            <a:r>
              <a:rPr lang="ja-JP" altLang="en-US" b="0" dirty="0"/>
              <a:t>濃度ヒストグラムとは、画像中にある同じ濃度値</a:t>
            </a:r>
            <a:r>
              <a:rPr lang="en-US" altLang="ja-JP" b="0" dirty="0"/>
              <a:t>(</a:t>
            </a:r>
            <a:r>
              <a:rPr lang="ja-JP" altLang="en-US" b="0" dirty="0"/>
              <a:t>階調値</a:t>
            </a:r>
            <a:r>
              <a:rPr lang="en-US" altLang="ja-JP" b="0" dirty="0"/>
              <a:t>)</a:t>
            </a:r>
            <a:r>
              <a:rPr lang="ja-JP" altLang="en-US" b="0" dirty="0"/>
              <a:t>を持つ画素数をカウントし、グラフ化したもの</a:t>
            </a:r>
            <a:endParaRPr kumimoji="1" lang="ja-JP" altLang="en-US" dirty="0"/>
          </a:p>
        </p:txBody>
      </p:sp>
      <p:sp>
        <p:nvSpPr>
          <p:cNvPr id="4" name="タイトル 1">
            <a:extLst>
              <a:ext uri="{FF2B5EF4-FFF2-40B4-BE49-F238E27FC236}">
                <a16:creationId xmlns:a16="http://schemas.microsoft.com/office/drawing/2014/main" id="{CBB845FD-07B8-AC18-6735-0D4563819017}"/>
              </a:ext>
            </a:extLst>
          </p:cNvPr>
          <p:cNvSpPr txBox="1">
            <a:spLocks/>
          </p:cNvSpPr>
          <p:nvPr/>
        </p:nvSpPr>
        <p:spPr>
          <a:xfrm>
            <a:off x="10354733" y="167218"/>
            <a:ext cx="1684866" cy="1259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900" dirty="0"/>
              <a:t>外乱の影響を抑える</a:t>
            </a:r>
          </a:p>
        </p:txBody>
      </p:sp>
      <p:pic>
        <p:nvPicPr>
          <p:cNvPr id="15" name="図 14">
            <a:extLst>
              <a:ext uri="{FF2B5EF4-FFF2-40B4-BE49-F238E27FC236}">
                <a16:creationId xmlns:a16="http://schemas.microsoft.com/office/drawing/2014/main" id="{2BA0C310-EE0B-1E4B-330D-971901381D10}"/>
              </a:ext>
            </a:extLst>
          </p:cNvPr>
          <p:cNvPicPr>
            <a:picLocks noChangeAspect="1"/>
          </p:cNvPicPr>
          <p:nvPr/>
        </p:nvPicPr>
        <p:blipFill>
          <a:blip r:embed="rId2"/>
          <a:stretch>
            <a:fillRect/>
          </a:stretch>
        </p:blipFill>
        <p:spPr>
          <a:xfrm>
            <a:off x="5216513" y="2870125"/>
            <a:ext cx="5582720" cy="3306838"/>
          </a:xfrm>
          <a:prstGeom prst="rect">
            <a:avLst/>
          </a:prstGeom>
        </p:spPr>
      </p:pic>
      <p:pic>
        <p:nvPicPr>
          <p:cNvPr id="16" name="図 15">
            <a:extLst>
              <a:ext uri="{FF2B5EF4-FFF2-40B4-BE49-F238E27FC236}">
                <a16:creationId xmlns:a16="http://schemas.microsoft.com/office/drawing/2014/main" id="{691EB478-56A6-2DF1-BC53-5F32FC24D0A1}"/>
              </a:ext>
            </a:extLst>
          </p:cNvPr>
          <p:cNvPicPr>
            <a:picLocks noChangeAspect="1"/>
          </p:cNvPicPr>
          <p:nvPr/>
        </p:nvPicPr>
        <p:blipFill>
          <a:blip r:embed="rId3"/>
          <a:stretch>
            <a:fillRect/>
          </a:stretch>
        </p:blipFill>
        <p:spPr>
          <a:xfrm>
            <a:off x="1180366" y="2710318"/>
            <a:ext cx="3378890" cy="3367902"/>
          </a:xfrm>
          <a:prstGeom prst="rect">
            <a:avLst/>
          </a:prstGeom>
        </p:spPr>
      </p:pic>
      <p:cxnSp>
        <p:nvCxnSpPr>
          <p:cNvPr id="17" name="直線矢印コネクタ 16">
            <a:extLst>
              <a:ext uri="{FF2B5EF4-FFF2-40B4-BE49-F238E27FC236}">
                <a16:creationId xmlns:a16="http://schemas.microsoft.com/office/drawing/2014/main" id="{FA14757A-5859-E1B4-7E43-69892933853B}"/>
              </a:ext>
            </a:extLst>
          </p:cNvPr>
          <p:cNvCxnSpPr/>
          <p:nvPr/>
        </p:nvCxnSpPr>
        <p:spPr>
          <a:xfrm>
            <a:off x="1309460" y="2870125"/>
            <a:ext cx="317986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A89A7A2-F1B5-513D-061F-2666C0A36E43}"/>
              </a:ext>
            </a:extLst>
          </p:cNvPr>
          <p:cNvCxnSpPr/>
          <p:nvPr/>
        </p:nvCxnSpPr>
        <p:spPr>
          <a:xfrm>
            <a:off x="1309460" y="3031664"/>
            <a:ext cx="317986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57533F5B-452E-522B-88D0-43C54B71C976}"/>
              </a:ext>
            </a:extLst>
          </p:cNvPr>
          <p:cNvCxnSpPr>
            <a:cxnSpLocks/>
          </p:cNvCxnSpPr>
          <p:nvPr/>
        </p:nvCxnSpPr>
        <p:spPr>
          <a:xfrm>
            <a:off x="1309460" y="3233000"/>
            <a:ext cx="165175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572C8A10-F5A1-C00B-9A0E-CECEC599EBF1}"/>
              </a:ext>
            </a:extLst>
          </p:cNvPr>
          <p:cNvCxnSpPr>
            <a:cxnSpLocks/>
          </p:cNvCxnSpPr>
          <p:nvPr/>
        </p:nvCxnSpPr>
        <p:spPr>
          <a:xfrm flipH="1">
            <a:off x="1309459" y="2870125"/>
            <a:ext cx="3120705" cy="161539"/>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3C67BEA-346A-7EF8-8F12-F4B5AC63EF71}"/>
              </a:ext>
            </a:extLst>
          </p:cNvPr>
          <p:cNvCxnSpPr>
            <a:cxnSpLocks/>
          </p:cNvCxnSpPr>
          <p:nvPr/>
        </p:nvCxnSpPr>
        <p:spPr>
          <a:xfrm flipH="1">
            <a:off x="1309459" y="3071461"/>
            <a:ext cx="3120705" cy="161539"/>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BF9C8CE0-D2DD-48AF-BD01-0B6CCF14EF95}"/>
              </a:ext>
            </a:extLst>
          </p:cNvPr>
          <p:cNvSpPr/>
          <p:nvPr/>
        </p:nvSpPr>
        <p:spPr>
          <a:xfrm>
            <a:off x="2804055" y="3152230"/>
            <a:ext cx="194849" cy="19484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矢印コネクタ 22">
            <a:extLst>
              <a:ext uri="{FF2B5EF4-FFF2-40B4-BE49-F238E27FC236}">
                <a16:creationId xmlns:a16="http://schemas.microsoft.com/office/drawing/2014/main" id="{CA4A5346-9216-305C-141E-108D1AD274AE}"/>
              </a:ext>
            </a:extLst>
          </p:cNvPr>
          <p:cNvCxnSpPr>
            <a:cxnSpLocks/>
          </p:cNvCxnSpPr>
          <p:nvPr/>
        </p:nvCxnSpPr>
        <p:spPr>
          <a:xfrm>
            <a:off x="2998904" y="3294913"/>
            <a:ext cx="4776246" cy="4572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吹き出し: 四角形 23">
            <a:extLst>
              <a:ext uri="{FF2B5EF4-FFF2-40B4-BE49-F238E27FC236}">
                <a16:creationId xmlns:a16="http://schemas.microsoft.com/office/drawing/2014/main" id="{86D129F6-5C82-1CB0-8357-F48319417AEB}"/>
              </a:ext>
            </a:extLst>
          </p:cNvPr>
          <p:cNvSpPr/>
          <p:nvPr/>
        </p:nvSpPr>
        <p:spPr>
          <a:xfrm>
            <a:off x="1078173" y="3550812"/>
            <a:ext cx="2993693" cy="584775"/>
          </a:xfrm>
          <a:prstGeom prst="wedgeRectCallout">
            <a:avLst>
              <a:gd name="adj1" fmla="val -24196"/>
              <a:gd name="adj2" fmla="val -170422"/>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ja-JP" altLang="en-US" sz="1600" dirty="0"/>
              <a:t>ラスタースキャン</a:t>
            </a:r>
            <a:r>
              <a:rPr kumimoji="1" lang="en-US" altLang="ja-JP" sz="1600" dirty="0"/>
              <a:t>(</a:t>
            </a:r>
            <a:r>
              <a:rPr kumimoji="1" lang="ja-JP" altLang="en-US" sz="1600" dirty="0"/>
              <a:t>ラスタ走査</a:t>
            </a:r>
            <a:r>
              <a:rPr kumimoji="1" lang="en-US" altLang="ja-JP" sz="1600" dirty="0"/>
              <a:t>)</a:t>
            </a:r>
          </a:p>
          <a:p>
            <a:pPr algn="ctr"/>
            <a:r>
              <a:rPr kumimoji="1" lang="ja-JP" altLang="en-US" sz="1600" dirty="0"/>
              <a:t>画素を一つ一つ見ていくこと</a:t>
            </a:r>
          </a:p>
        </p:txBody>
      </p:sp>
      <p:sp>
        <p:nvSpPr>
          <p:cNvPr id="5" name="フッター プレースホルダー 4">
            <a:extLst>
              <a:ext uri="{FF2B5EF4-FFF2-40B4-BE49-F238E27FC236}">
                <a16:creationId xmlns:a16="http://schemas.microsoft.com/office/drawing/2014/main" id="{7F7E4945-A58A-1741-13FA-034D16CE76FF}"/>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A871487F-4463-38EE-ABAD-FA1E9AED2D77}"/>
              </a:ext>
            </a:extLst>
          </p:cNvPr>
          <p:cNvSpPr>
            <a:spLocks noGrp="1"/>
          </p:cNvSpPr>
          <p:nvPr>
            <p:ph type="sldNum" sz="quarter" idx="12"/>
          </p:nvPr>
        </p:nvSpPr>
        <p:spPr/>
        <p:txBody>
          <a:bodyPr/>
          <a:lstStyle/>
          <a:p>
            <a:fld id="{82EE47C2-3066-499F-97BE-8094ED607EB5}" type="slidenum">
              <a:rPr kumimoji="1" lang="ja-JP" altLang="en-US" smtClean="0"/>
              <a:t>7</a:t>
            </a:fld>
            <a:endParaRPr kumimoji="1" lang="ja-JP" altLang="en-US"/>
          </a:p>
        </p:txBody>
      </p:sp>
    </p:spTree>
    <p:extLst>
      <p:ext uri="{BB962C8B-B14F-4D97-AF65-F5344CB8AC3E}">
        <p14:creationId xmlns:p14="http://schemas.microsoft.com/office/powerpoint/2010/main" val="295191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ADBF30-733D-05B0-901E-4911769532BB}"/>
              </a:ext>
            </a:extLst>
          </p:cNvPr>
          <p:cNvSpPr>
            <a:spLocks noGrp="1"/>
          </p:cNvSpPr>
          <p:nvPr>
            <p:ph type="title"/>
          </p:nvPr>
        </p:nvSpPr>
        <p:spPr>
          <a:xfrm>
            <a:off x="838200" y="193346"/>
            <a:ext cx="10515600" cy="1006475"/>
          </a:xfrm>
        </p:spPr>
        <p:txBody>
          <a:bodyPr/>
          <a:lstStyle/>
          <a:p>
            <a:r>
              <a:rPr kumimoji="1" lang="ja-JP" altLang="en-US" b="1" dirty="0"/>
              <a:t>濃度ヒストグラムの特徴</a:t>
            </a:r>
          </a:p>
        </p:txBody>
      </p:sp>
      <p:sp>
        <p:nvSpPr>
          <p:cNvPr id="4" name="タイトル 1">
            <a:extLst>
              <a:ext uri="{FF2B5EF4-FFF2-40B4-BE49-F238E27FC236}">
                <a16:creationId xmlns:a16="http://schemas.microsoft.com/office/drawing/2014/main" id="{CBB845FD-07B8-AC18-6735-0D4563819017}"/>
              </a:ext>
            </a:extLst>
          </p:cNvPr>
          <p:cNvSpPr txBox="1">
            <a:spLocks/>
          </p:cNvSpPr>
          <p:nvPr/>
        </p:nvSpPr>
        <p:spPr>
          <a:xfrm>
            <a:off x="10354733" y="167218"/>
            <a:ext cx="1684866" cy="1259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900" dirty="0"/>
              <a:t>外乱の影響を抑える</a:t>
            </a:r>
          </a:p>
        </p:txBody>
      </p:sp>
      <p:sp>
        <p:nvSpPr>
          <p:cNvPr id="7" name="コンテンツ プレースホルダー 2">
            <a:extLst>
              <a:ext uri="{FF2B5EF4-FFF2-40B4-BE49-F238E27FC236}">
                <a16:creationId xmlns:a16="http://schemas.microsoft.com/office/drawing/2014/main" id="{FF676824-1BB7-2344-FF5B-98491E4C35AD}"/>
              </a:ext>
            </a:extLst>
          </p:cNvPr>
          <p:cNvSpPr txBox="1">
            <a:spLocks/>
          </p:cNvSpPr>
          <p:nvPr/>
        </p:nvSpPr>
        <p:spPr>
          <a:xfrm>
            <a:off x="2536719" y="981685"/>
            <a:ext cx="9001958" cy="54853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2000" b="1" dirty="0"/>
              <a:t>コントラストが</a:t>
            </a:r>
            <a:r>
              <a:rPr lang="ja-JP" altLang="en-US" sz="2000" b="1" dirty="0">
                <a:solidFill>
                  <a:srgbClr val="FF0000"/>
                </a:solidFill>
              </a:rPr>
              <a:t>低い画像</a:t>
            </a:r>
            <a:r>
              <a:rPr lang="ja-JP" altLang="en-US" sz="2000" b="1" dirty="0"/>
              <a:t>は、</a:t>
            </a:r>
            <a:r>
              <a:rPr lang="ja-JP" altLang="en-US" sz="2000" b="1" dirty="0">
                <a:solidFill>
                  <a:srgbClr val="FF0000"/>
                </a:solidFill>
              </a:rPr>
              <a:t>濃度値</a:t>
            </a:r>
            <a:r>
              <a:rPr lang="en-US" altLang="ja-JP" sz="2000" b="1" dirty="0">
                <a:solidFill>
                  <a:srgbClr val="FF0000"/>
                </a:solidFill>
              </a:rPr>
              <a:t>(</a:t>
            </a:r>
            <a:r>
              <a:rPr lang="ja-JP" altLang="en-US" sz="2000" b="1" dirty="0">
                <a:solidFill>
                  <a:srgbClr val="FF0000"/>
                </a:solidFill>
              </a:rPr>
              <a:t>階調値</a:t>
            </a:r>
            <a:r>
              <a:rPr lang="en-US" altLang="ja-JP" sz="2000" b="1" dirty="0">
                <a:solidFill>
                  <a:srgbClr val="FF0000"/>
                </a:solidFill>
              </a:rPr>
              <a:t>)</a:t>
            </a:r>
            <a:r>
              <a:rPr lang="ja-JP" altLang="en-US" sz="2000" b="1" dirty="0">
                <a:solidFill>
                  <a:srgbClr val="FF0000"/>
                </a:solidFill>
              </a:rPr>
              <a:t>が狭い範囲</a:t>
            </a:r>
            <a:r>
              <a:rPr lang="ja-JP" altLang="en-US" sz="2000" b="1" dirty="0"/>
              <a:t>に分布している</a:t>
            </a:r>
            <a:endParaRPr lang="en-US" altLang="ja-JP" sz="2000" b="1" dirty="0"/>
          </a:p>
          <a:p>
            <a:pPr algn="ctr"/>
            <a:endParaRPr lang="en-US" altLang="ja-JP" sz="2000" dirty="0"/>
          </a:p>
          <a:p>
            <a:pPr algn="ctr"/>
            <a:endParaRPr lang="en-US" altLang="ja-JP" sz="2000" dirty="0"/>
          </a:p>
          <a:p>
            <a:pPr algn="ctr"/>
            <a:endParaRPr lang="en-US" altLang="ja-JP" sz="2000" dirty="0"/>
          </a:p>
          <a:p>
            <a:pPr algn="ctr"/>
            <a:endParaRPr lang="en-US" altLang="ja-JP" sz="2000" dirty="0"/>
          </a:p>
          <a:p>
            <a:pPr algn="ctr"/>
            <a:endParaRPr lang="en-US" altLang="ja-JP" sz="2000" dirty="0"/>
          </a:p>
          <a:p>
            <a:pPr algn="ctr"/>
            <a:endParaRPr lang="en-US" altLang="ja-JP" sz="2000" dirty="0"/>
          </a:p>
          <a:p>
            <a:pPr marL="0" indent="0" algn="ctr">
              <a:buNone/>
            </a:pPr>
            <a:r>
              <a:rPr lang="ja-JP" altLang="en-US" sz="2000" b="1" dirty="0"/>
              <a:t>コントラストが</a:t>
            </a:r>
            <a:r>
              <a:rPr lang="ja-JP" altLang="en-US" sz="2000" b="1" dirty="0">
                <a:solidFill>
                  <a:srgbClr val="FF0000"/>
                </a:solidFill>
              </a:rPr>
              <a:t>高い画像</a:t>
            </a:r>
            <a:r>
              <a:rPr lang="ja-JP" altLang="en-US" sz="2000" b="1" dirty="0"/>
              <a:t>は、</a:t>
            </a:r>
            <a:r>
              <a:rPr lang="ja-JP" altLang="en-US" sz="2000" b="1" dirty="0">
                <a:solidFill>
                  <a:srgbClr val="FF0000"/>
                </a:solidFill>
              </a:rPr>
              <a:t>濃度値</a:t>
            </a:r>
            <a:r>
              <a:rPr lang="en-US" altLang="ja-JP" sz="2000" b="1" dirty="0">
                <a:solidFill>
                  <a:srgbClr val="FF0000"/>
                </a:solidFill>
              </a:rPr>
              <a:t>(</a:t>
            </a:r>
            <a:r>
              <a:rPr lang="ja-JP" altLang="en-US" sz="2000" b="1" dirty="0">
                <a:solidFill>
                  <a:srgbClr val="FF0000"/>
                </a:solidFill>
              </a:rPr>
              <a:t>階調値</a:t>
            </a:r>
            <a:r>
              <a:rPr lang="en-US" altLang="ja-JP" sz="2000" b="1" dirty="0">
                <a:solidFill>
                  <a:srgbClr val="FF0000"/>
                </a:solidFill>
              </a:rPr>
              <a:t>)</a:t>
            </a:r>
            <a:r>
              <a:rPr lang="ja-JP" altLang="en-US" sz="2000" b="1" dirty="0">
                <a:solidFill>
                  <a:srgbClr val="FF0000"/>
                </a:solidFill>
              </a:rPr>
              <a:t>が広い範囲</a:t>
            </a:r>
            <a:r>
              <a:rPr lang="ja-JP" altLang="en-US" sz="2000" b="1" dirty="0"/>
              <a:t>に分布している</a:t>
            </a:r>
            <a:endParaRPr lang="en-US" altLang="ja-JP" sz="2000" b="1" dirty="0"/>
          </a:p>
        </p:txBody>
      </p:sp>
      <p:pic>
        <p:nvPicPr>
          <p:cNvPr id="10" name="図 9">
            <a:extLst>
              <a:ext uri="{FF2B5EF4-FFF2-40B4-BE49-F238E27FC236}">
                <a16:creationId xmlns:a16="http://schemas.microsoft.com/office/drawing/2014/main" id="{7D090FE5-BCD3-536C-D79B-885A44991B19}"/>
              </a:ext>
            </a:extLst>
          </p:cNvPr>
          <p:cNvPicPr>
            <a:picLocks noChangeAspect="1"/>
          </p:cNvPicPr>
          <p:nvPr/>
        </p:nvPicPr>
        <p:blipFill>
          <a:blip r:embed="rId2"/>
          <a:stretch>
            <a:fillRect/>
          </a:stretch>
        </p:blipFill>
        <p:spPr>
          <a:xfrm>
            <a:off x="3713581" y="4127158"/>
            <a:ext cx="2179113" cy="2179113"/>
          </a:xfrm>
          <a:prstGeom prst="rect">
            <a:avLst/>
          </a:prstGeom>
        </p:spPr>
      </p:pic>
      <p:pic>
        <p:nvPicPr>
          <p:cNvPr id="11" name="図 10">
            <a:extLst>
              <a:ext uri="{FF2B5EF4-FFF2-40B4-BE49-F238E27FC236}">
                <a16:creationId xmlns:a16="http://schemas.microsoft.com/office/drawing/2014/main" id="{28F52FAB-D37B-BFDA-F96B-BDAF336E7102}"/>
              </a:ext>
            </a:extLst>
          </p:cNvPr>
          <p:cNvPicPr>
            <a:picLocks noChangeAspect="1"/>
          </p:cNvPicPr>
          <p:nvPr/>
        </p:nvPicPr>
        <p:blipFill>
          <a:blip r:embed="rId3"/>
          <a:stretch>
            <a:fillRect/>
          </a:stretch>
        </p:blipFill>
        <p:spPr>
          <a:xfrm>
            <a:off x="6818656" y="4117263"/>
            <a:ext cx="4139798" cy="2173519"/>
          </a:xfrm>
          <a:prstGeom prst="rect">
            <a:avLst/>
          </a:prstGeom>
        </p:spPr>
      </p:pic>
      <p:pic>
        <p:nvPicPr>
          <p:cNvPr id="12" name="図 11">
            <a:extLst>
              <a:ext uri="{FF2B5EF4-FFF2-40B4-BE49-F238E27FC236}">
                <a16:creationId xmlns:a16="http://schemas.microsoft.com/office/drawing/2014/main" id="{7956DFA4-1CAF-9830-2DCE-C684F4663894}"/>
              </a:ext>
            </a:extLst>
          </p:cNvPr>
          <p:cNvPicPr>
            <a:picLocks noChangeAspect="1"/>
          </p:cNvPicPr>
          <p:nvPr/>
        </p:nvPicPr>
        <p:blipFill>
          <a:blip r:embed="rId4"/>
          <a:stretch>
            <a:fillRect/>
          </a:stretch>
        </p:blipFill>
        <p:spPr>
          <a:xfrm>
            <a:off x="6818656" y="1327598"/>
            <a:ext cx="4139798" cy="2156851"/>
          </a:xfrm>
          <a:prstGeom prst="rect">
            <a:avLst/>
          </a:prstGeom>
        </p:spPr>
      </p:pic>
      <p:pic>
        <p:nvPicPr>
          <p:cNvPr id="13" name="図 12">
            <a:extLst>
              <a:ext uri="{FF2B5EF4-FFF2-40B4-BE49-F238E27FC236}">
                <a16:creationId xmlns:a16="http://schemas.microsoft.com/office/drawing/2014/main" id="{0AE3CA78-CCEF-8DF9-02CC-1C6D0AC4DF86}"/>
              </a:ext>
            </a:extLst>
          </p:cNvPr>
          <p:cNvPicPr>
            <a:picLocks noChangeAspect="1"/>
          </p:cNvPicPr>
          <p:nvPr/>
        </p:nvPicPr>
        <p:blipFill>
          <a:blip r:embed="rId5"/>
          <a:stretch>
            <a:fillRect/>
          </a:stretch>
        </p:blipFill>
        <p:spPr>
          <a:xfrm>
            <a:off x="3710777" y="1327598"/>
            <a:ext cx="2167519" cy="2167519"/>
          </a:xfrm>
          <a:prstGeom prst="rect">
            <a:avLst/>
          </a:prstGeom>
        </p:spPr>
      </p:pic>
      <p:cxnSp>
        <p:nvCxnSpPr>
          <p:cNvPr id="14" name="直線矢印コネクタ 13">
            <a:extLst>
              <a:ext uri="{FF2B5EF4-FFF2-40B4-BE49-F238E27FC236}">
                <a16:creationId xmlns:a16="http://schemas.microsoft.com/office/drawing/2014/main" id="{C630AB80-EAAF-F00B-7B61-C7C9F633F998}"/>
              </a:ext>
            </a:extLst>
          </p:cNvPr>
          <p:cNvCxnSpPr/>
          <p:nvPr/>
        </p:nvCxnSpPr>
        <p:spPr>
          <a:xfrm>
            <a:off x="6818656" y="3484449"/>
            <a:ext cx="413979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F220C5D3-5C6F-A43C-7ACF-130CD6733C33}"/>
              </a:ext>
            </a:extLst>
          </p:cNvPr>
          <p:cNvCxnSpPr/>
          <p:nvPr/>
        </p:nvCxnSpPr>
        <p:spPr>
          <a:xfrm>
            <a:off x="6818656" y="6290782"/>
            <a:ext cx="413979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CD854AD9-804F-50C7-E11C-A855EDC4F0E2}"/>
              </a:ext>
            </a:extLst>
          </p:cNvPr>
          <p:cNvCxnSpPr>
            <a:cxnSpLocks/>
          </p:cNvCxnSpPr>
          <p:nvPr/>
        </p:nvCxnSpPr>
        <p:spPr>
          <a:xfrm flipV="1">
            <a:off x="6818656" y="1327598"/>
            <a:ext cx="0" cy="21568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0F6E3E9-5587-2156-7002-B093F13B9309}"/>
              </a:ext>
            </a:extLst>
          </p:cNvPr>
          <p:cNvCxnSpPr>
            <a:cxnSpLocks/>
          </p:cNvCxnSpPr>
          <p:nvPr/>
        </p:nvCxnSpPr>
        <p:spPr>
          <a:xfrm flipV="1">
            <a:off x="6818656" y="4117263"/>
            <a:ext cx="0" cy="21735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38F9AFE-5581-4635-D132-65E2A16D4555}"/>
              </a:ext>
            </a:extLst>
          </p:cNvPr>
          <p:cNvSpPr txBox="1"/>
          <p:nvPr/>
        </p:nvSpPr>
        <p:spPr>
          <a:xfrm>
            <a:off x="6009974" y="1307759"/>
            <a:ext cx="877163" cy="369332"/>
          </a:xfrm>
          <a:prstGeom prst="rect">
            <a:avLst/>
          </a:prstGeom>
          <a:noFill/>
        </p:spPr>
        <p:txBody>
          <a:bodyPr wrap="none" rtlCol="0">
            <a:spAutoFit/>
          </a:bodyPr>
          <a:lstStyle/>
          <a:p>
            <a:r>
              <a:rPr kumimoji="1" lang="ja-JP" altLang="en-US" dirty="0"/>
              <a:t>画素数</a:t>
            </a:r>
          </a:p>
        </p:txBody>
      </p:sp>
      <p:sp>
        <p:nvSpPr>
          <p:cNvPr id="29" name="テキスト ボックス 28">
            <a:extLst>
              <a:ext uri="{FF2B5EF4-FFF2-40B4-BE49-F238E27FC236}">
                <a16:creationId xmlns:a16="http://schemas.microsoft.com/office/drawing/2014/main" id="{60F106C6-605A-8BD4-9C52-FF87FDAA1A68}"/>
              </a:ext>
            </a:extLst>
          </p:cNvPr>
          <p:cNvSpPr txBox="1"/>
          <p:nvPr/>
        </p:nvSpPr>
        <p:spPr>
          <a:xfrm>
            <a:off x="10882577" y="3101309"/>
            <a:ext cx="877163" cy="369332"/>
          </a:xfrm>
          <a:prstGeom prst="rect">
            <a:avLst/>
          </a:prstGeom>
          <a:noFill/>
        </p:spPr>
        <p:txBody>
          <a:bodyPr wrap="none" rtlCol="0">
            <a:spAutoFit/>
          </a:bodyPr>
          <a:lstStyle/>
          <a:p>
            <a:r>
              <a:rPr kumimoji="1" lang="ja-JP" altLang="en-US" dirty="0"/>
              <a:t>濃度値</a:t>
            </a:r>
          </a:p>
        </p:txBody>
      </p:sp>
      <p:sp>
        <p:nvSpPr>
          <p:cNvPr id="30" name="テキスト ボックス 29">
            <a:extLst>
              <a:ext uri="{FF2B5EF4-FFF2-40B4-BE49-F238E27FC236}">
                <a16:creationId xmlns:a16="http://schemas.microsoft.com/office/drawing/2014/main" id="{309466BF-3450-C5A2-D0C8-FE57C09C6EEB}"/>
              </a:ext>
            </a:extLst>
          </p:cNvPr>
          <p:cNvSpPr txBox="1"/>
          <p:nvPr/>
        </p:nvSpPr>
        <p:spPr>
          <a:xfrm>
            <a:off x="6562276" y="3396666"/>
            <a:ext cx="301686" cy="369332"/>
          </a:xfrm>
          <a:prstGeom prst="rect">
            <a:avLst/>
          </a:prstGeom>
          <a:noFill/>
        </p:spPr>
        <p:txBody>
          <a:bodyPr wrap="none" rtlCol="0">
            <a:spAutoFit/>
          </a:bodyPr>
          <a:lstStyle/>
          <a:p>
            <a:r>
              <a:rPr kumimoji="1" lang="en-US" altLang="ja-JP" dirty="0"/>
              <a:t>0</a:t>
            </a:r>
            <a:endParaRPr kumimoji="1" lang="ja-JP" altLang="en-US" dirty="0"/>
          </a:p>
        </p:txBody>
      </p:sp>
      <p:sp>
        <p:nvSpPr>
          <p:cNvPr id="31" name="テキスト ボックス 30">
            <a:extLst>
              <a:ext uri="{FF2B5EF4-FFF2-40B4-BE49-F238E27FC236}">
                <a16:creationId xmlns:a16="http://schemas.microsoft.com/office/drawing/2014/main" id="{50F751F1-CF9B-0232-02A8-3EA061A22260}"/>
              </a:ext>
            </a:extLst>
          </p:cNvPr>
          <p:cNvSpPr txBox="1"/>
          <p:nvPr/>
        </p:nvSpPr>
        <p:spPr>
          <a:xfrm>
            <a:off x="10912202" y="3385998"/>
            <a:ext cx="535724" cy="369332"/>
          </a:xfrm>
          <a:prstGeom prst="rect">
            <a:avLst/>
          </a:prstGeom>
          <a:noFill/>
        </p:spPr>
        <p:txBody>
          <a:bodyPr wrap="none" rtlCol="0">
            <a:spAutoFit/>
          </a:bodyPr>
          <a:lstStyle/>
          <a:p>
            <a:r>
              <a:rPr kumimoji="1" lang="en-US" altLang="ja-JP" dirty="0"/>
              <a:t>255</a:t>
            </a:r>
            <a:endParaRPr kumimoji="1" lang="ja-JP" altLang="en-US" dirty="0"/>
          </a:p>
        </p:txBody>
      </p:sp>
      <p:sp>
        <p:nvSpPr>
          <p:cNvPr id="32" name="テキスト ボックス 31">
            <a:extLst>
              <a:ext uri="{FF2B5EF4-FFF2-40B4-BE49-F238E27FC236}">
                <a16:creationId xmlns:a16="http://schemas.microsoft.com/office/drawing/2014/main" id="{F177D5E6-1A81-2565-C865-1AA683F966E2}"/>
              </a:ext>
            </a:extLst>
          </p:cNvPr>
          <p:cNvSpPr txBox="1"/>
          <p:nvPr/>
        </p:nvSpPr>
        <p:spPr>
          <a:xfrm>
            <a:off x="6009974" y="4127158"/>
            <a:ext cx="877163" cy="369332"/>
          </a:xfrm>
          <a:prstGeom prst="rect">
            <a:avLst/>
          </a:prstGeom>
          <a:noFill/>
        </p:spPr>
        <p:txBody>
          <a:bodyPr wrap="none" rtlCol="0">
            <a:spAutoFit/>
          </a:bodyPr>
          <a:lstStyle/>
          <a:p>
            <a:r>
              <a:rPr kumimoji="1" lang="ja-JP" altLang="en-US" dirty="0"/>
              <a:t>画素数</a:t>
            </a:r>
          </a:p>
        </p:txBody>
      </p:sp>
      <p:sp>
        <p:nvSpPr>
          <p:cNvPr id="33" name="テキスト ボックス 32">
            <a:extLst>
              <a:ext uri="{FF2B5EF4-FFF2-40B4-BE49-F238E27FC236}">
                <a16:creationId xmlns:a16="http://schemas.microsoft.com/office/drawing/2014/main" id="{304986F1-B248-5D43-FEA6-AB780A68C2FA}"/>
              </a:ext>
            </a:extLst>
          </p:cNvPr>
          <p:cNvSpPr txBox="1"/>
          <p:nvPr/>
        </p:nvSpPr>
        <p:spPr>
          <a:xfrm>
            <a:off x="10988700" y="5914388"/>
            <a:ext cx="877163" cy="369332"/>
          </a:xfrm>
          <a:prstGeom prst="rect">
            <a:avLst/>
          </a:prstGeom>
          <a:noFill/>
        </p:spPr>
        <p:txBody>
          <a:bodyPr wrap="none" rtlCol="0">
            <a:spAutoFit/>
          </a:bodyPr>
          <a:lstStyle/>
          <a:p>
            <a:r>
              <a:rPr kumimoji="1" lang="ja-JP" altLang="en-US" dirty="0"/>
              <a:t>濃度値</a:t>
            </a:r>
          </a:p>
        </p:txBody>
      </p:sp>
      <p:sp>
        <p:nvSpPr>
          <p:cNvPr id="35" name="テキスト ボックス 34">
            <a:extLst>
              <a:ext uri="{FF2B5EF4-FFF2-40B4-BE49-F238E27FC236}">
                <a16:creationId xmlns:a16="http://schemas.microsoft.com/office/drawing/2014/main" id="{EC8FB325-544C-B958-E167-4F20938683AF}"/>
              </a:ext>
            </a:extLst>
          </p:cNvPr>
          <p:cNvSpPr txBox="1"/>
          <p:nvPr/>
        </p:nvSpPr>
        <p:spPr>
          <a:xfrm>
            <a:off x="10391029" y="6296170"/>
            <a:ext cx="535724" cy="369332"/>
          </a:xfrm>
          <a:prstGeom prst="rect">
            <a:avLst/>
          </a:prstGeom>
          <a:noFill/>
        </p:spPr>
        <p:txBody>
          <a:bodyPr wrap="none" rtlCol="0">
            <a:spAutoFit/>
          </a:bodyPr>
          <a:lstStyle/>
          <a:p>
            <a:r>
              <a:rPr kumimoji="1" lang="en-US" altLang="ja-JP" dirty="0"/>
              <a:t>255</a:t>
            </a:r>
            <a:endParaRPr kumimoji="1" lang="ja-JP" altLang="en-US" dirty="0"/>
          </a:p>
        </p:txBody>
      </p:sp>
      <p:sp>
        <p:nvSpPr>
          <p:cNvPr id="36" name="テキスト ボックス 35">
            <a:extLst>
              <a:ext uri="{FF2B5EF4-FFF2-40B4-BE49-F238E27FC236}">
                <a16:creationId xmlns:a16="http://schemas.microsoft.com/office/drawing/2014/main" id="{923950EC-5EEF-DEB8-B412-3D9D21052196}"/>
              </a:ext>
            </a:extLst>
          </p:cNvPr>
          <p:cNvSpPr txBox="1"/>
          <p:nvPr/>
        </p:nvSpPr>
        <p:spPr>
          <a:xfrm>
            <a:off x="6863962" y="6300677"/>
            <a:ext cx="301686" cy="369332"/>
          </a:xfrm>
          <a:prstGeom prst="rect">
            <a:avLst/>
          </a:prstGeom>
          <a:noFill/>
        </p:spPr>
        <p:txBody>
          <a:bodyPr wrap="none" rtlCol="0">
            <a:spAutoFit/>
          </a:bodyPr>
          <a:lstStyle/>
          <a:p>
            <a:r>
              <a:rPr kumimoji="1" lang="en-US" altLang="ja-JP" dirty="0"/>
              <a:t>0</a:t>
            </a:r>
            <a:endParaRPr kumimoji="1" lang="ja-JP" altLang="en-US" dirty="0"/>
          </a:p>
        </p:txBody>
      </p:sp>
      <p:sp>
        <p:nvSpPr>
          <p:cNvPr id="37" name="テキスト ボックス 36">
            <a:extLst>
              <a:ext uri="{FF2B5EF4-FFF2-40B4-BE49-F238E27FC236}">
                <a16:creationId xmlns:a16="http://schemas.microsoft.com/office/drawing/2014/main" id="{032B6A4C-C33E-4B21-493E-251D07720F4E}"/>
              </a:ext>
            </a:extLst>
          </p:cNvPr>
          <p:cNvSpPr txBox="1"/>
          <p:nvPr/>
        </p:nvSpPr>
        <p:spPr>
          <a:xfrm>
            <a:off x="-111114" y="4880856"/>
            <a:ext cx="3606799" cy="646331"/>
          </a:xfrm>
          <a:prstGeom prst="rect">
            <a:avLst/>
          </a:prstGeom>
          <a:noFill/>
        </p:spPr>
        <p:txBody>
          <a:bodyPr wrap="square" rtlCol="0">
            <a:spAutoFit/>
          </a:bodyPr>
          <a:lstStyle/>
          <a:p>
            <a:pPr lvl="1"/>
            <a:r>
              <a:rPr lang="ja-JP" altLang="en-US" sz="1800" b="1" dirty="0">
                <a:solidFill>
                  <a:schemeClr val="tx1"/>
                </a:solidFill>
              </a:rPr>
              <a:t>理想（見やすい）の画像は、濃度が均一に分布します。</a:t>
            </a:r>
            <a:endParaRPr lang="en-US" altLang="ja-JP" sz="1800" b="1" dirty="0">
              <a:solidFill>
                <a:schemeClr val="tx1"/>
              </a:solidFill>
            </a:endParaRPr>
          </a:p>
        </p:txBody>
      </p:sp>
      <p:sp>
        <p:nvSpPr>
          <p:cNvPr id="38" name="テキスト ボックス 37">
            <a:extLst>
              <a:ext uri="{FF2B5EF4-FFF2-40B4-BE49-F238E27FC236}">
                <a16:creationId xmlns:a16="http://schemas.microsoft.com/office/drawing/2014/main" id="{ED6C3FA7-55EA-5533-96D5-47BC650921E1}"/>
              </a:ext>
            </a:extLst>
          </p:cNvPr>
          <p:cNvSpPr txBox="1"/>
          <p:nvPr/>
        </p:nvSpPr>
        <p:spPr>
          <a:xfrm>
            <a:off x="36529" y="2082857"/>
            <a:ext cx="3606799" cy="646331"/>
          </a:xfrm>
          <a:prstGeom prst="rect">
            <a:avLst/>
          </a:prstGeom>
          <a:noFill/>
        </p:spPr>
        <p:txBody>
          <a:bodyPr wrap="square" rtlCol="0">
            <a:spAutoFit/>
          </a:bodyPr>
          <a:lstStyle/>
          <a:p>
            <a:pPr lvl="1"/>
            <a:r>
              <a:rPr lang="ja-JP" altLang="en-US" sz="1800" b="1" dirty="0">
                <a:solidFill>
                  <a:schemeClr val="tx1"/>
                </a:solidFill>
              </a:rPr>
              <a:t>濃度が偏っていると見づらい（画像処理しづらい）</a:t>
            </a:r>
            <a:endParaRPr lang="en-US" altLang="ja-JP" sz="1800" b="1" dirty="0">
              <a:solidFill>
                <a:schemeClr val="tx1"/>
              </a:solidFill>
            </a:endParaRPr>
          </a:p>
        </p:txBody>
      </p:sp>
      <p:sp>
        <p:nvSpPr>
          <p:cNvPr id="3" name="フッター プレースホルダー 2">
            <a:extLst>
              <a:ext uri="{FF2B5EF4-FFF2-40B4-BE49-F238E27FC236}">
                <a16:creationId xmlns:a16="http://schemas.microsoft.com/office/drawing/2014/main" id="{AD80F8F7-9043-8C23-E37C-38A962447C71}"/>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2DD85B0E-C03D-A6ED-E4D2-5466BAFB916A}"/>
              </a:ext>
            </a:extLst>
          </p:cNvPr>
          <p:cNvSpPr>
            <a:spLocks noGrp="1"/>
          </p:cNvSpPr>
          <p:nvPr>
            <p:ph type="sldNum" sz="quarter" idx="12"/>
          </p:nvPr>
        </p:nvSpPr>
        <p:spPr/>
        <p:txBody>
          <a:bodyPr/>
          <a:lstStyle/>
          <a:p>
            <a:fld id="{82EE47C2-3066-499F-97BE-8094ED607EB5}" type="slidenum">
              <a:rPr kumimoji="1" lang="ja-JP" altLang="en-US" smtClean="0"/>
              <a:t>8</a:t>
            </a:fld>
            <a:endParaRPr kumimoji="1" lang="ja-JP" altLang="en-US" dirty="0"/>
          </a:p>
        </p:txBody>
      </p:sp>
    </p:spTree>
    <p:extLst>
      <p:ext uri="{BB962C8B-B14F-4D97-AF65-F5344CB8AC3E}">
        <p14:creationId xmlns:p14="http://schemas.microsoft.com/office/powerpoint/2010/main" val="2822914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ADBF30-733D-05B0-901E-4911769532BB}"/>
              </a:ext>
            </a:extLst>
          </p:cNvPr>
          <p:cNvSpPr>
            <a:spLocks noGrp="1"/>
          </p:cNvSpPr>
          <p:nvPr>
            <p:ph type="title"/>
          </p:nvPr>
        </p:nvSpPr>
        <p:spPr>
          <a:xfrm>
            <a:off x="838200" y="193346"/>
            <a:ext cx="10515600" cy="1006475"/>
          </a:xfrm>
        </p:spPr>
        <p:txBody>
          <a:bodyPr/>
          <a:lstStyle/>
          <a:p>
            <a:r>
              <a:rPr kumimoji="1" lang="ja-JP" altLang="en-US" b="1" dirty="0"/>
              <a:t>濃度変換によるコントラスト改善</a:t>
            </a:r>
          </a:p>
        </p:txBody>
      </p:sp>
      <p:sp>
        <p:nvSpPr>
          <p:cNvPr id="4" name="タイトル 1">
            <a:extLst>
              <a:ext uri="{FF2B5EF4-FFF2-40B4-BE49-F238E27FC236}">
                <a16:creationId xmlns:a16="http://schemas.microsoft.com/office/drawing/2014/main" id="{CBB845FD-07B8-AC18-6735-0D4563819017}"/>
              </a:ext>
            </a:extLst>
          </p:cNvPr>
          <p:cNvSpPr txBox="1">
            <a:spLocks/>
          </p:cNvSpPr>
          <p:nvPr/>
        </p:nvSpPr>
        <p:spPr>
          <a:xfrm>
            <a:off x="10354733" y="167218"/>
            <a:ext cx="1684866" cy="1259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900" dirty="0"/>
              <a:t>外乱の影響を抑える</a:t>
            </a:r>
          </a:p>
        </p:txBody>
      </p:sp>
      <p:sp>
        <p:nvSpPr>
          <p:cNvPr id="5" name="テキスト ボックス 4">
            <a:extLst>
              <a:ext uri="{FF2B5EF4-FFF2-40B4-BE49-F238E27FC236}">
                <a16:creationId xmlns:a16="http://schemas.microsoft.com/office/drawing/2014/main" id="{F5928A14-D8D1-9A6F-1D76-393CEF88D5FC}"/>
              </a:ext>
            </a:extLst>
          </p:cNvPr>
          <p:cNvSpPr txBox="1"/>
          <p:nvPr/>
        </p:nvSpPr>
        <p:spPr>
          <a:xfrm>
            <a:off x="1761067" y="1199821"/>
            <a:ext cx="8881533" cy="1200329"/>
          </a:xfrm>
          <a:prstGeom prst="rect">
            <a:avLst/>
          </a:prstGeom>
          <a:noFill/>
        </p:spPr>
        <p:txBody>
          <a:bodyPr wrap="square">
            <a:spAutoFit/>
          </a:bodyPr>
          <a:lstStyle/>
          <a:p>
            <a:r>
              <a:rPr kumimoji="1" lang="ja-JP" altLang="en-US" sz="2400" dirty="0"/>
              <a:t>濃度値</a:t>
            </a:r>
            <a:r>
              <a:rPr kumimoji="1" lang="en-US" altLang="ja-JP" sz="2400" dirty="0"/>
              <a:t>(</a:t>
            </a:r>
            <a:r>
              <a:rPr kumimoji="1" lang="ja-JP" altLang="en-US" sz="2400" dirty="0"/>
              <a:t>階調値</a:t>
            </a:r>
            <a:r>
              <a:rPr kumimoji="1" lang="en-US" altLang="ja-JP" sz="2400" dirty="0"/>
              <a:t>)</a:t>
            </a:r>
            <a:r>
              <a:rPr kumimoji="1" lang="ja-JP" altLang="en-US" sz="2400" dirty="0"/>
              <a:t>がある範囲に偏って分布しているような画像を</a:t>
            </a:r>
            <a:endParaRPr kumimoji="1" lang="en-US" altLang="ja-JP" sz="2400" dirty="0"/>
          </a:p>
          <a:p>
            <a:r>
              <a:rPr kumimoji="1" lang="ja-JP" altLang="en-US" sz="2400" dirty="0"/>
              <a:t>もっと広い範囲に濃度の分布を広げる</a:t>
            </a:r>
            <a:r>
              <a:rPr kumimoji="1" lang="en-US" altLang="ja-JP" sz="2400" dirty="0"/>
              <a:t>(</a:t>
            </a:r>
            <a:r>
              <a:rPr kumimoji="1" lang="ja-JP" altLang="en-US" sz="2400" b="1" dirty="0"/>
              <a:t>伸張化</a:t>
            </a:r>
            <a:r>
              <a:rPr kumimoji="1" lang="en-US" altLang="ja-JP" sz="2400" dirty="0"/>
              <a:t>)</a:t>
            </a:r>
          </a:p>
          <a:p>
            <a:r>
              <a:rPr kumimoji="1" lang="ja-JP" altLang="en-US" sz="2400" dirty="0"/>
              <a:t>濃度分布を平坦にする</a:t>
            </a:r>
            <a:r>
              <a:rPr kumimoji="1" lang="en-US" altLang="ja-JP" sz="2400" dirty="0"/>
              <a:t>(</a:t>
            </a:r>
            <a:r>
              <a:rPr kumimoji="1" lang="ja-JP" altLang="en-US" sz="2400" b="1" dirty="0"/>
              <a:t>平坦化</a:t>
            </a:r>
            <a:r>
              <a:rPr kumimoji="1" lang="en-US" altLang="ja-JP" sz="2400" dirty="0"/>
              <a:t>)</a:t>
            </a:r>
            <a:endParaRPr lang="ja-JP" altLang="en-US" sz="2400" dirty="0"/>
          </a:p>
        </p:txBody>
      </p:sp>
      <p:sp>
        <p:nvSpPr>
          <p:cNvPr id="6" name="正方形/長方形 5">
            <a:extLst>
              <a:ext uri="{FF2B5EF4-FFF2-40B4-BE49-F238E27FC236}">
                <a16:creationId xmlns:a16="http://schemas.microsoft.com/office/drawing/2014/main" id="{26156282-6C12-1D17-795C-B510A2E8A5A9}"/>
              </a:ext>
            </a:extLst>
          </p:cNvPr>
          <p:cNvSpPr/>
          <p:nvPr/>
        </p:nvSpPr>
        <p:spPr>
          <a:xfrm>
            <a:off x="8877797" y="4369268"/>
            <a:ext cx="2138996" cy="637817"/>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 name="グループ化 7">
            <a:extLst>
              <a:ext uri="{FF2B5EF4-FFF2-40B4-BE49-F238E27FC236}">
                <a16:creationId xmlns:a16="http://schemas.microsoft.com/office/drawing/2014/main" id="{DCEB1189-8F83-3C9F-FDFB-400D476093CC}"/>
              </a:ext>
            </a:extLst>
          </p:cNvPr>
          <p:cNvGrpSpPr/>
          <p:nvPr/>
        </p:nvGrpSpPr>
        <p:grpSpPr>
          <a:xfrm>
            <a:off x="248361" y="2978462"/>
            <a:ext cx="3633863" cy="2458239"/>
            <a:chOff x="-1547779" y="4394092"/>
            <a:chExt cx="3633863" cy="2458239"/>
          </a:xfrm>
        </p:grpSpPr>
        <p:pic>
          <p:nvPicPr>
            <p:cNvPr id="9" name="図 8">
              <a:extLst>
                <a:ext uri="{FF2B5EF4-FFF2-40B4-BE49-F238E27FC236}">
                  <a16:creationId xmlns:a16="http://schemas.microsoft.com/office/drawing/2014/main" id="{4656D83C-E83C-CB5F-5FAF-E851D6906256}"/>
                </a:ext>
              </a:extLst>
            </p:cNvPr>
            <p:cNvPicPr>
              <a:picLocks noChangeAspect="1"/>
            </p:cNvPicPr>
            <p:nvPr/>
          </p:nvPicPr>
          <p:blipFill>
            <a:blip r:embed="rId2"/>
            <a:stretch>
              <a:fillRect/>
            </a:stretch>
          </p:blipFill>
          <p:spPr>
            <a:xfrm>
              <a:off x="-739097" y="4413931"/>
              <a:ext cx="2437943" cy="2156851"/>
            </a:xfrm>
            <a:prstGeom prst="rect">
              <a:avLst/>
            </a:prstGeom>
          </p:spPr>
        </p:pic>
        <p:cxnSp>
          <p:nvCxnSpPr>
            <p:cNvPr id="15" name="直線矢印コネクタ 14">
              <a:extLst>
                <a:ext uri="{FF2B5EF4-FFF2-40B4-BE49-F238E27FC236}">
                  <a16:creationId xmlns:a16="http://schemas.microsoft.com/office/drawing/2014/main" id="{2F215CF9-83F7-8B83-7833-37FEF242EB59}"/>
                </a:ext>
              </a:extLst>
            </p:cNvPr>
            <p:cNvCxnSpPr>
              <a:cxnSpLocks/>
            </p:cNvCxnSpPr>
            <p:nvPr/>
          </p:nvCxnSpPr>
          <p:spPr>
            <a:xfrm>
              <a:off x="-739097" y="6570782"/>
              <a:ext cx="24379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C81BE985-0BB8-64D4-B2E6-1279F82BE8AC}"/>
                </a:ext>
              </a:extLst>
            </p:cNvPr>
            <p:cNvCxnSpPr>
              <a:cxnSpLocks/>
            </p:cNvCxnSpPr>
            <p:nvPr/>
          </p:nvCxnSpPr>
          <p:spPr>
            <a:xfrm flipV="1">
              <a:off x="-739097" y="4413931"/>
              <a:ext cx="0" cy="21568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638446F3-108C-346C-9585-B68427CEED63}"/>
                </a:ext>
              </a:extLst>
            </p:cNvPr>
            <p:cNvSpPr txBox="1"/>
            <p:nvPr/>
          </p:nvSpPr>
          <p:spPr>
            <a:xfrm>
              <a:off x="-1547779" y="4394092"/>
              <a:ext cx="877163" cy="369332"/>
            </a:xfrm>
            <a:prstGeom prst="rect">
              <a:avLst/>
            </a:prstGeom>
            <a:noFill/>
          </p:spPr>
          <p:txBody>
            <a:bodyPr wrap="none" rtlCol="0">
              <a:spAutoFit/>
            </a:bodyPr>
            <a:lstStyle/>
            <a:p>
              <a:r>
                <a:rPr kumimoji="1" lang="ja-JP" altLang="en-US" dirty="0"/>
                <a:t>画素数</a:t>
              </a:r>
            </a:p>
          </p:txBody>
        </p:sp>
        <p:sp>
          <p:nvSpPr>
            <p:cNvPr id="18" name="テキスト ボックス 17">
              <a:extLst>
                <a:ext uri="{FF2B5EF4-FFF2-40B4-BE49-F238E27FC236}">
                  <a16:creationId xmlns:a16="http://schemas.microsoft.com/office/drawing/2014/main" id="{AF287DBD-3465-6219-320C-CCC5772826C2}"/>
                </a:ext>
              </a:extLst>
            </p:cNvPr>
            <p:cNvSpPr txBox="1"/>
            <p:nvPr/>
          </p:nvSpPr>
          <p:spPr>
            <a:xfrm>
              <a:off x="1208921" y="6201449"/>
              <a:ext cx="877163" cy="369332"/>
            </a:xfrm>
            <a:prstGeom prst="rect">
              <a:avLst/>
            </a:prstGeom>
            <a:noFill/>
          </p:spPr>
          <p:txBody>
            <a:bodyPr wrap="square" rtlCol="0">
              <a:spAutoFit/>
            </a:bodyPr>
            <a:lstStyle/>
            <a:p>
              <a:r>
                <a:rPr kumimoji="1" lang="ja-JP" altLang="en-US" dirty="0"/>
                <a:t>濃度値</a:t>
              </a:r>
            </a:p>
          </p:txBody>
        </p:sp>
        <p:sp>
          <p:nvSpPr>
            <p:cNvPr id="19" name="テキスト ボックス 18">
              <a:extLst>
                <a:ext uri="{FF2B5EF4-FFF2-40B4-BE49-F238E27FC236}">
                  <a16:creationId xmlns:a16="http://schemas.microsoft.com/office/drawing/2014/main" id="{3AE3549A-0995-7BE4-1FA7-2F2112547796}"/>
                </a:ext>
              </a:extLst>
            </p:cNvPr>
            <p:cNvSpPr txBox="1"/>
            <p:nvPr/>
          </p:nvSpPr>
          <p:spPr>
            <a:xfrm>
              <a:off x="-995477" y="6482999"/>
              <a:ext cx="301686" cy="369332"/>
            </a:xfrm>
            <a:prstGeom prst="rect">
              <a:avLst/>
            </a:prstGeom>
            <a:noFill/>
          </p:spPr>
          <p:txBody>
            <a:bodyPr wrap="square" rtlCol="0">
              <a:spAutoFit/>
            </a:bodyPr>
            <a:lstStyle/>
            <a:p>
              <a:r>
                <a:rPr kumimoji="1" lang="en-US" altLang="ja-JP" dirty="0"/>
                <a:t>0</a:t>
              </a:r>
              <a:endParaRPr kumimoji="1" lang="ja-JP" altLang="en-US" dirty="0"/>
            </a:p>
          </p:txBody>
        </p:sp>
        <p:sp>
          <p:nvSpPr>
            <p:cNvPr id="20" name="テキスト ボックス 19">
              <a:extLst>
                <a:ext uri="{FF2B5EF4-FFF2-40B4-BE49-F238E27FC236}">
                  <a16:creationId xmlns:a16="http://schemas.microsoft.com/office/drawing/2014/main" id="{B682E403-C4FF-2BA6-FF2F-962135B5ADD2}"/>
                </a:ext>
              </a:extLst>
            </p:cNvPr>
            <p:cNvSpPr txBox="1"/>
            <p:nvPr/>
          </p:nvSpPr>
          <p:spPr>
            <a:xfrm>
              <a:off x="1254226" y="6482999"/>
              <a:ext cx="755230" cy="369332"/>
            </a:xfrm>
            <a:prstGeom prst="rect">
              <a:avLst/>
            </a:prstGeom>
            <a:noFill/>
          </p:spPr>
          <p:txBody>
            <a:bodyPr wrap="square" rtlCol="0">
              <a:spAutoFit/>
            </a:bodyPr>
            <a:lstStyle/>
            <a:p>
              <a:r>
                <a:rPr kumimoji="1" lang="en-US" altLang="ja-JP" dirty="0"/>
                <a:t>255</a:t>
              </a:r>
              <a:endParaRPr kumimoji="1" lang="ja-JP" altLang="en-US" dirty="0"/>
            </a:p>
          </p:txBody>
        </p:sp>
      </p:grpSp>
      <p:grpSp>
        <p:nvGrpSpPr>
          <p:cNvPr id="21" name="グループ化 20">
            <a:extLst>
              <a:ext uri="{FF2B5EF4-FFF2-40B4-BE49-F238E27FC236}">
                <a16:creationId xmlns:a16="http://schemas.microsoft.com/office/drawing/2014/main" id="{559698DE-CD6C-6F34-574C-1E5619A42578}"/>
              </a:ext>
            </a:extLst>
          </p:cNvPr>
          <p:cNvGrpSpPr/>
          <p:nvPr/>
        </p:nvGrpSpPr>
        <p:grpSpPr>
          <a:xfrm>
            <a:off x="4076834" y="2968567"/>
            <a:ext cx="3614770" cy="2468134"/>
            <a:chOff x="3756455" y="4413931"/>
            <a:chExt cx="3614770" cy="2468134"/>
          </a:xfrm>
        </p:grpSpPr>
        <p:pic>
          <p:nvPicPr>
            <p:cNvPr id="22" name="図 21">
              <a:extLst>
                <a:ext uri="{FF2B5EF4-FFF2-40B4-BE49-F238E27FC236}">
                  <a16:creationId xmlns:a16="http://schemas.microsoft.com/office/drawing/2014/main" id="{EA3BB8AE-8349-6CC6-AA45-2D8BD28228FA}"/>
                </a:ext>
              </a:extLst>
            </p:cNvPr>
            <p:cNvPicPr>
              <a:picLocks noChangeAspect="1"/>
            </p:cNvPicPr>
            <p:nvPr/>
          </p:nvPicPr>
          <p:blipFill>
            <a:blip r:embed="rId3"/>
            <a:stretch>
              <a:fillRect/>
            </a:stretch>
          </p:blipFill>
          <p:spPr>
            <a:xfrm>
              <a:off x="4565137" y="4413931"/>
              <a:ext cx="2437943" cy="2173519"/>
            </a:xfrm>
            <a:prstGeom prst="rect">
              <a:avLst/>
            </a:prstGeom>
          </p:spPr>
        </p:pic>
        <p:cxnSp>
          <p:nvCxnSpPr>
            <p:cNvPr id="23" name="直線矢印コネクタ 22">
              <a:extLst>
                <a:ext uri="{FF2B5EF4-FFF2-40B4-BE49-F238E27FC236}">
                  <a16:creationId xmlns:a16="http://schemas.microsoft.com/office/drawing/2014/main" id="{1E011B86-2760-EEF9-4433-73B4099B3EAE}"/>
                </a:ext>
              </a:extLst>
            </p:cNvPr>
            <p:cNvCxnSpPr>
              <a:cxnSpLocks/>
            </p:cNvCxnSpPr>
            <p:nvPr/>
          </p:nvCxnSpPr>
          <p:spPr>
            <a:xfrm>
              <a:off x="4565137" y="6587450"/>
              <a:ext cx="24379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8C0543FA-66C9-AC26-7F64-489BCCAE84AC}"/>
                </a:ext>
              </a:extLst>
            </p:cNvPr>
            <p:cNvCxnSpPr>
              <a:cxnSpLocks/>
            </p:cNvCxnSpPr>
            <p:nvPr/>
          </p:nvCxnSpPr>
          <p:spPr>
            <a:xfrm flipV="1">
              <a:off x="4565137" y="4413931"/>
              <a:ext cx="0" cy="21735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53F2F19C-F035-A630-700C-13C62D2CC23D}"/>
                </a:ext>
              </a:extLst>
            </p:cNvPr>
            <p:cNvSpPr txBox="1"/>
            <p:nvPr/>
          </p:nvSpPr>
          <p:spPr>
            <a:xfrm>
              <a:off x="3756455" y="4423826"/>
              <a:ext cx="877163" cy="369332"/>
            </a:xfrm>
            <a:prstGeom prst="rect">
              <a:avLst/>
            </a:prstGeom>
            <a:noFill/>
          </p:spPr>
          <p:txBody>
            <a:bodyPr wrap="square" rtlCol="0">
              <a:spAutoFit/>
            </a:bodyPr>
            <a:lstStyle/>
            <a:p>
              <a:r>
                <a:rPr kumimoji="1" lang="ja-JP" altLang="en-US" dirty="0"/>
                <a:t>画素数</a:t>
              </a:r>
            </a:p>
          </p:txBody>
        </p:sp>
        <p:sp>
          <p:nvSpPr>
            <p:cNvPr id="39" name="テキスト ボックス 38">
              <a:extLst>
                <a:ext uri="{FF2B5EF4-FFF2-40B4-BE49-F238E27FC236}">
                  <a16:creationId xmlns:a16="http://schemas.microsoft.com/office/drawing/2014/main" id="{AA40F60C-32F9-18A9-2997-0ADA5BBAE96D}"/>
                </a:ext>
              </a:extLst>
            </p:cNvPr>
            <p:cNvSpPr txBox="1"/>
            <p:nvPr/>
          </p:nvSpPr>
          <p:spPr>
            <a:xfrm>
              <a:off x="6494062" y="6231183"/>
              <a:ext cx="877163" cy="369332"/>
            </a:xfrm>
            <a:prstGeom prst="rect">
              <a:avLst/>
            </a:prstGeom>
            <a:noFill/>
          </p:spPr>
          <p:txBody>
            <a:bodyPr wrap="square" rtlCol="0">
              <a:spAutoFit/>
            </a:bodyPr>
            <a:lstStyle/>
            <a:p>
              <a:r>
                <a:rPr kumimoji="1" lang="ja-JP" altLang="en-US" dirty="0"/>
                <a:t>濃度値</a:t>
              </a:r>
            </a:p>
          </p:txBody>
        </p:sp>
        <p:sp>
          <p:nvSpPr>
            <p:cNvPr id="40" name="テキスト ボックス 39">
              <a:extLst>
                <a:ext uri="{FF2B5EF4-FFF2-40B4-BE49-F238E27FC236}">
                  <a16:creationId xmlns:a16="http://schemas.microsoft.com/office/drawing/2014/main" id="{7FEFD56F-2A56-0C12-4537-E7699D22801C}"/>
                </a:ext>
              </a:extLst>
            </p:cNvPr>
            <p:cNvSpPr txBox="1"/>
            <p:nvPr/>
          </p:nvSpPr>
          <p:spPr>
            <a:xfrm>
              <a:off x="4308757" y="6512733"/>
              <a:ext cx="301686" cy="369332"/>
            </a:xfrm>
            <a:prstGeom prst="rect">
              <a:avLst/>
            </a:prstGeom>
            <a:noFill/>
          </p:spPr>
          <p:txBody>
            <a:bodyPr wrap="square" rtlCol="0">
              <a:spAutoFit/>
            </a:bodyPr>
            <a:lstStyle/>
            <a:p>
              <a:r>
                <a:rPr kumimoji="1" lang="en-US" altLang="ja-JP" dirty="0"/>
                <a:t>0</a:t>
              </a:r>
              <a:endParaRPr kumimoji="1" lang="ja-JP" altLang="en-US" dirty="0"/>
            </a:p>
          </p:txBody>
        </p:sp>
        <p:sp>
          <p:nvSpPr>
            <p:cNvPr id="41" name="テキスト ボックス 40">
              <a:extLst>
                <a:ext uri="{FF2B5EF4-FFF2-40B4-BE49-F238E27FC236}">
                  <a16:creationId xmlns:a16="http://schemas.microsoft.com/office/drawing/2014/main" id="{E5B3F59E-7BCD-7ED0-2B45-27721D8ECC9A}"/>
                </a:ext>
              </a:extLst>
            </p:cNvPr>
            <p:cNvSpPr txBox="1"/>
            <p:nvPr/>
          </p:nvSpPr>
          <p:spPr>
            <a:xfrm>
              <a:off x="6758872" y="6512733"/>
              <a:ext cx="598617" cy="369332"/>
            </a:xfrm>
            <a:prstGeom prst="rect">
              <a:avLst/>
            </a:prstGeom>
            <a:noFill/>
          </p:spPr>
          <p:txBody>
            <a:bodyPr wrap="square" rtlCol="0">
              <a:spAutoFit/>
            </a:bodyPr>
            <a:lstStyle/>
            <a:p>
              <a:r>
                <a:rPr kumimoji="1" lang="en-US" altLang="ja-JP" dirty="0"/>
                <a:t>255</a:t>
              </a:r>
              <a:endParaRPr kumimoji="1" lang="ja-JP" altLang="en-US" dirty="0"/>
            </a:p>
          </p:txBody>
        </p:sp>
      </p:grpSp>
      <p:grpSp>
        <p:nvGrpSpPr>
          <p:cNvPr id="42" name="グループ化 41">
            <a:extLst>
              <a:ext uri="{FF2B5EF4-FFF2-40B4-BE49-F238E27FC236}">
                <a16:creationId xmlns:a16="http://schemas.microsoft.com/office/drawing/2014/main" id="{A56F2BA1-1BAB-01FD-31CD-7B7DEDA3379C}"/>
              </a:ext>
            </a:extLst>
          </p:cNvPr>
          <p:cNvGrpSpPr/>
          <p:nvPr/>
        </p:nvGrpSpPr>
        <p:grpSpPr>
          <a:xfrm>
            <a:off x="8059680" y="2833566"/>
            <a:ext cx="3747175" cy="2468134"/>
            <a:chOff x="3756455" y="4413931"/>
            <a:chExt cx="3747175" cy="2468134"/>
          </a:xfrm>
        </p:grpSpPr>
        <p:cxnSp>
          <p:nvCxnSpPr>
            <p:cNvPr id="43" name="直線矢印コネクタ 42">
              <a:extLst>
                <a:ext uri="{FF2B5EF4-FFF2-40B4-BE49-F238E27FC236}">
                  <a16:creationId xmlns:a16="http://schemas.microsoft.com/office/drawing/2014/main" id="{E3B73F84-4D0C-9537-E4EC-ABC9AD60FFFA}"/>
                </a:ext>
              </a:extLst>
            </p:cNvPr>
            <p:cNvCxnSpPr>
              <a:cxnSpLocks/>
            </p:cNvCxnSpPr>
            <p:nvPr/>
          </p:nvCxnSpPr>
          <p:spPr>
            <a:xfrm>
              <a:off x="4565137" y="6587450"/>
              <a:ext cx="24379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25CBF4F8-B6C9-E175-6CCF-49AB2D2BA3A6}"/>
                </a:ext>
              </a:extLst>
            </p:cNvPr>
            <p:cNvCxnSpPr>
              <a:cxnSpLocks/>
            </p:cNvCxnSpPr>
            <p:nvPr/>
          </p:nvCxnSpPr>
          <p:spPr>
            <a:xfrm flipV="1">
              <a:off x="4565137" y="4413931"/>
              <a:ext cx="0" cy="21735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77DD57B1-AF72-4C1D-ED1C-A5171BF3606B}"/>
                </a:ext>
              </a:extLst>
            </p:cNvPr>
            <p:cNvSpPr txBox="1"/>
            <p:nvPr/>
          </p:nvSpPr>
          <p:spPr>
            <a:xfrm>
              <a:off x="3756455" y="4423826"/>
              <a:ext cx="877163" cy="369332"/>
            </a:xfrm>
            <a:prstGeom prst="rect">
              <a:avLst/>
            </a:prstGeom>
            <a:noFill/>
          </p:spPr>
          <p:txBody>
            <a:bodyPr wrap="square" rtlCol="0">
              <a:spAutoFit/>
            </a:bodyPr>
            <a:lstStyle/>
            <a:p>
              <a:r>
                <a:rPr kumimoji="1" lang="ja-JP" altLang="en-US" dirty="0"/>
                <a:t>画素数</a:t>
              </a:r>
            </a:p>
          </p:txBody>
        </p:sp>
        <p:sp>
          <p:nvSpPr>
            <p:cNvPr id="46" name="テキスト ボックス 45">
              <a:extLst>
                <a:ext uri="{FF2B5EF4-FFF2-40B4-BE49-F238E27FC236}">
                  <a16:creationId xmlns:a16="http://schemas.microsoft.com/office/drawing/2014/main" id="{711BAF00-B0CE-00E6-BAA7-ABF019DE61A3}"/>
                </a:ext>
              </a:extLst>
            </p:cNvPr>
            <p:cNvSpPr txBox="1"/>
            <p:nvPr/>
          </p:nvSpPr>
          <p:spPr>
            <a:xfrm>
              <a:off x="6626467" y="6235371"/>
              <a:ext cx="877163" cy="369332"/>
            </a:xfrm>
            <a:prstGeom prst="rect">
              <a:avLst/>
            </a:prstGeom>
            <a:noFill/>
          </p:spPr>
          <p:txBody>
            <a:bodyPr wrap="square" rtlCol="0">
              <a:spAutoFit/>
            </a:bodyPr>
            <a:lstStyle/>
            <a:p>
              <a:r>
                <a:rPr kumimoji="1" lang="ja-JP" altLang="en-US" dirty="0"/>
                <a:t>濃度値</a:t>
              </a:r>
            </a:p>
          </p:txBody>
        </p:sp>
        <p:sp>
          <p:nvSpPr>
            <p:cNvPr id="47" name="テキスト ボックス 46">
              <a:extLst>
                <a:ext uri="{FF2B5EF4-FFF2-40B4-BE49-F238E27FC236}">
                  <a16:creationId xmlns:a16="http://schemas.microsoft.com/office/drawing/2014/main" id="{9250FF85-6553-FA51-2C7E-52B97DDB215A}"/>
                </a:ext>
              </a:extLst>
            </p:cNvPr>
            <p:cNvSpPr txBox="1"/>
            <p:nvPr/>
          </p:nvSpPr>
          <p:spPr>
            <a:xfrm>
              <a:off x="4308757" y="6512733"/>
              <a:ext cx="301686" cy="369332"/>
            </a:xfrm>
            <a:prstGeom prst="rect">
              <a:avLst/>
            </a:prstGeom>
            <a:noFill/>
          </p:spPr>
          <p:txBody>
            <a:bodyPr wrap="square" rtlCol="0">
              <a:spAutoFit/>
            </a:bodyPr>
            <a:lstStyle/>
            <a:p>
              <a:r>
                <a:rPr kumimoji="1" lang="en-US" altLang="ja-JP" dirty="0"/>
                <a:t>0</a:t>
              </a:r>
              <a:endParaRPr kumimoji="1" lang="ja-JP" altLang="en-US" dirty="0"/>
            </a:p>
          </p:txBody>
        </p:sp>
        <p:sp>
          <p:nvSpPr>
            <p:cNvPr id="48" name="テキスト ボックス 47">
              <a:extLst>
                <a:ext uri="{FF2B5EF4-FFF2-40B4-BE49-F238E27FC236}">
                  <a16:creationId xmlns:a16="http://schemas.microsoft.com/office/drawing/2014/main" id="{F6AFE687-2FC3-5E08-DFB6-BEDB27486597}"/>
                </a:ext>
              </a:extLst>
            </p:cNvPr>
            <p:cNvSpPr txBox="1"/>
            <p:nvPr/>
          </p:nvSpPr>
          <p:spPr>
            <a:xfrm>
              <a:off x="6758873" y="6512733"/>
              <a:ext cx="612352" cy="369332"/>
            </a:xfrm>
            <a:prstGeom prst="rect">
              <a:avLst/>
            </a:prstGeom>
            <a:noFill/>
          </p:spPr>
          <p:txBody>
            <a:bodyPr wrap="square" rtlCol="0">
              <a:spAutoFit/>
            </a:bodyPr>
            <a:lstStyle/>
            <a:p>
              <a:r>
                <a:rPr kumimoji="1" lang="en-US" altLang="ja-JP" dirty="0"/>
                <a:t>255</a:t>
              </a:r>
              <a:endParaRPr kumimoji="1" lang="ja-JP" altLang="en-US" dirty="0"/>
            </a:p>
          </p:txBody>
        </p:sp>
      </p:grpSp>
      <p:sp>
        <p:nvSpPr>
          <p:cNvPr id="49" name="テキスト ボックス 48">
            <a:extLst>
              <a:ext uri="{FF2B5EF4-FFF2-40B4-BE49-F238E27FC236}">
                <a16:creationId xmlns:a16="http://schemas.microsoft.com/office/drawing/2014/main" id="{B0689D81-51A2-F832-3672-9EB200A20237}"/>
              </a:ext>
            </a:extLst>
          </p:cNvPr>
          <p:cNvSpPr txBox="1"/>
          <p:nvPr/>
        </p:nvSpPr>
        <p:spPr>
          <a:xfrm>
            <a:off x="983210" y="5528838"/>
            <a:ext cx="2492990" cy="369332"/>
          </a:xfrm>
          <a:prstGeom prst="rect">
            <a:avLst/>
          </a:prstGeom>
          <a:noFill/>
        </p:spPr>
        <p:txBody>
          <a:bodyPr wrap="none" rtlCol="0">
            <a:spAutoFit/>
          </a:bodyPr>
          <a:lstStyle/>
          <a:p>
            <a:r>
              <a:rPr kumimoji="1" lang="ja-JP" altLang="en-US" dirty="0"/>
              <a:t>原画像のヒストグラム</a:t>
            </a:r>
          </a:p>
        </p:txBody>
      </p:sp>
      <p:sp>
        <p:nvSpPr>
          <p:cNvPr id="50" name="テキスト ボックス 49">
            <a:extLst>
              <a:ext uri="{FF2B5EF4-FFF2-40B4-BE49-F238E27FC236}">
                <a16:creationId xmlns:a16="http://schemas.microsoft.com/office/drawing/2014/main" id="{23D596C4-B7D3-66D3-3504-BC360B181FF0}"/>
              </a:ext>
            </a:extLst>
          </p:cNvPr>
          <p:cNvSpPr txBox="1"/>
          <p:nvPr/>
        </p:nvSpPr>
        <p:spPr>
          <a:xfrm>
            <a:off x="4697666" y="5408204"/>
            <a:ext cx="2723823" cy="369332"/>
          </a:xfrm>
          <a:prstGeom prst="rect">
            <a:avLst/>
          </a:prstGeom>
          <a:noFill/>
        </p:spPr>
        <p:txBody>
          <a:bodyPr wrap="none" rtlCol="0">
            <a:spAutoFit/>
          </a:bodyPr>
          <a:lstStyle/>
          <a:p>
            <a:r>
              <a:rPr kumimoji="1" lang="ja-JP" altLang="en-US" dirty="0"/>
              <a:t>伸張化したヒストグラム</a:t>
            </a:r>
          </a:p>
        </p:txBody>
      </p:sp>
      <p:sp>
        <p:nvSpPr>
          <p:cNvPr id="51" name="テキスト ボックス 50">
            <a:extLst>
              <a:ext uri="{FF2B5EF4-FFF2-40B4-BE49-F238E27FC236}">
                <a16:creationId xmlns:a16="http://schemas.microsoft.com/office/drawing/2014/main" id="{25F5FC08-4799-F8CF-9B2E-DFFF07D9EE73}"/>
              </a:ext>
            </a:extLst>
          </p:cNvPr>
          <p:cNvSpPr txBox="1"/>
          <p:nvPr/>
        </p:nvSpPr>
        <p:spPr>
          <a:xfrm>
            <a:off x="8762825" y="5364103"/>
            <a:ext cx="2723823" cy="369332"/>
          </a:xfrm>
          <a:prstGeom prst="rect">
            <a:avLst/>
          </a:prstGeom>
          <a:noFill/>
        </p:spPr>
        <p:txBody>
          <a:bodyPr wrap="none" rtlCol="0">
            <a:spAutoFit/>
          </a:bodyPr>
          <a:lstStyle/>
          <a:p>
            <a:r>
              <a:rPr kumimoji="1" lang="ja-JP" altLang="en-US" dirty="0"/>
              <a:t>平坦化したヒストグラム</a:t>
            </a:r>
          </a:p>
        </p:txBody>
      </p:sp>
      <p:sp>
        <p:nvSpPr>
          <p:cNvPr id="52" name="矢印: 左右 51">
            <a:extLst>
              <a:ext uri="{FF2B5EF4-FFF2-40B4-BE49-F238E27FC236}">
                <a16:creationId xmlns:a16="http://schemas.microsoft.com/office/drawing/2014/main" id="{BEFAB783-3A9F-9F3E-85CB-F618860B9878}"/>
              </a:ext>
            </a:extLst>
          </p:cNvPr>
          <p:cNvSpPr/>
          <p:nvPr/>
        </p:nvSpPr>
        <p:spPr>
          <a:xfrm>
            <a:off x="5000448" y="4382476"/>
            <a:ext cx="2056303" cy="263733"/>
          </a:xfrm>
          <a:prstGeom prst="lef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8A8835C0-CC7E-F3CB-1F5F-D71F5529BBF1}"/>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48DFFE4C-91FE-D335-F3F0-E51E812DA86E}"/>
              </a:ext>
            </a:extLst>
          </p:cNvPr>
          <p:cNvSpPr>
            <a:spLocks noGrp="1"/>
          </p:cNvSpPr>
          <p:nvPr>
            <p:ph type="sldNum" sz="quarter" idx="12"/>
          </p:nvPr>
        </p:nvSpPr>
        <p:spPr/>
        <p:txBody>
          <a:bodyPr/>
          <a:lstStyle/>
          <a:p>
            <a:fld id="{82EE47C2-3066-499F-97BE-8094ED607EB5}" type="slidenum">
              <a:rPr kumimoji="1" lang="ja-JP" altLang="en-US" smtClean="0"/>
              <a:t>9</a:t>
            </a:fld>
            <a:endParaRPr kumimoji="1" lang="ja-JP" altLang="en-US"/>
          </a:p>
        </p:txBody>
      </p:sp>
    </p:spTree>
    <p:extLst>
      <p:ext uri="{BB962C8B-B14F-4D97-AF65-F5344CB8AC3E}">
        <p14:creationId xmlns:p14="http://schemas.microsoft.com/office/powerpoint/2010/main" val="2547796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D9555-74F8-B0B6-80B3-686768B93616}"/>
              </a:ext>
            </a:extLst>
          </p:cNvPr>
          <p:cNvSpPr>
            <a:spLocks noGrp="1"/>
          </p:cNvSpPr>
          <p:nvPr>
            <p:ph type="title"/>
          </p:nvPr>
        </p:nvSpPr>
        <p:spPr>
          <a:xfrm>
            <a:off x="603503" y="365125"/>
            <a:ext cx="11014521" cy="751509"/>
          </a:xfrm>
        </p:spPr>
        <p:txBody>
          <a:bodyPr>
            <a:normAutofit/>
          </a:bodyPr>
          <a:lstStyle/>
          <a:p>
            <a:r>
              <a:rPr kumimoji="1" lang="ja-JP" altLang="en-US" b="1" dirty="0"/>
              <a:t>ヒストグラムの伸長化</a:t>
            </a:r>
            <a:r>
              <a:rPr lang="ja-JP" altLang="en-US" b="1" dirty="0"/>
              <a:t>　</a:t>
            </a:r>
            <a:r>
              <a:rPr kumimoji="1" lang="en-US" altLang="ja-JP" b="1" dirty="0"/>
              <a:t>equalizeHist_pict.py</a:t>
            </a:r>
            <a:endParaRPr kumimoji="1" lang="ja-JP" altLang="en-US" b="1" dirty="0"/>
          </a:p>
        </p:txBody>
      </p:sp>
      <p:pic>
        <p:nvPicPr>
          <p:cNvPr id="5" name="図 4">
            <a:extLst>
              <a:ext uri="{FF2B5EF4-FFF2-40B4-BE49-F238E27FC236}">
                <a16:creationId xmlns:a16="http://schemas.microsoft.com/office/drawing/2014/main" id="{EF67DDF2-66CB-F1B8-6BB5-A30D0C532746}"/>
              </a:ext>
            </a:extLst>
          </p:cNvPr>
          <p:cNvPicPr>
            <a:picLocks noChangeAspect="1"/>
          </p:cNvPicPr>
          <p:nvPr/>
        </p:nvPicPr>
        <p:blipFill>
          <a:blip r:embed="rId3"/>
          <a:stretch>
            <a:fillRect/>
          </a:stretch>
        </p:blipFill>
        <p:spPr>
          <a:xfrm>
            <a:off x="305502" y="1021268"/>
            <a:ext cx="8529633" cy="4815464"/>
          </a:xfrm>
          <a:prstGeom prst="rect">
            <a:avLst/>
          </a:prstGeom>
        </p:spPr>
      </p:pic>
      <p:sp>
        <p:nvSpPr>
          <p:cNvPr id="6" name="正方形/長方形 5">
            <a:extLst>
              <a:ext uri="{FF2B5EF4-FFF2-40B4-BE49-F238E27FC236}">
                <a16:creationId xmlns:a16="http://schemas.microsoft.com/office/drawing/2014/main" id="{2508B8A1-101F-A9A3-B3AA-E3A3A52F7DD6}"/>
              </a:ext>
            </a:extLst>
          </p:cNvPr>
          <p:cNvSpPr/>
          <p:nvPr/>
        </p:nvSpPr>
        <p:spPr>
          <a:xfrm>
            <a:off x="305502" y="1636968"/>
            <a:ext cx="6937901" cy="709863"/>
          </a:xfrm>
          <a:prstGeom prst="rect">
            <a:avLst/>
          </a:pr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6D879D05-C990-4BC7-D138-69DFA87A58B8}"/>
              </a:ext>
            </a:extLst>
          </p:cNvPr>
          <p:cNvSpPr/>
          <p:nvPr/>
        </p:nvSpPr>
        <p:spPr>
          <a:xfrm>
            <a:off x="305502" y="3990702"/>
            <a:ext cx="8529633" cy="709863"/>
          </a:xfrm>
          <a:prstGeom prst="rect">
            <a:avLst/>
          </a:pr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四角形 9">
            <a:extLst>
              <a:ext uri="{FF2B5EF4-FFF2-40B4-BE49-F238E27FC236}">
                <a16:creationId xmlns:a16="http://schemas.microsoft.com/office/drawing/2014/main" id="{25245E02-3BC9-A53E-B16B-F27386EDBFF6}"/>
              </a:ext>
            </a:extLst>
          </p:cNvPr>
          <p:cNvSpPr/>
          <p:nvPr/>
        </p:nvSpPr>
        <p:spPr>
          <a:xfrm>
            <a:off x="7157572" y="1926674"/>
            <a:ext cx="4708630" cy="1037549"/>
          </a:xfrm>
          <a:prstGeom prst="wedgeRectCallout">
            <a:avLst>
              <a:gd name="adj1" fmla="val -58088"/>
              <a:gd name="adj2" fmla="val -2869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形状に関するデータの検知を行う場合、</a:t>
            </a:r>
            <a:endParaRPr lang="en-US" altLang="ja-JP" dirty="0"/>
          </a:p>
          <a:p>
            <a:pPr algn="ctr"/>
            <a:r>
              <a:rPr kumimoji="1" lang="ja-JP" altLang="en-US" dirty="0"/>
              <a:t>グレースケールにすると良い</a:t>
            </a:r>
          </a:p>
        </p:txBody>
      </p:sp>
      <p:sp>
        <p:nvSpPr>
          <p:cNvPr id="11" name="吹き出し: 四角形 10">
            <a:extLst>
              <a:ext uri="{FF2B5EF4-FFF2-40B4-BE49-F238E27FC236}">
                <a16:creationId xmlns:a16="http://schemas.microsoft.com/office/drawing/2014/main" id="{DE24B9D7-FFAA-96A4-E201-E03E64D175F1}"/>
              </a:ext>
            </a:extLst>
          </p:cNvPr>
          <p:cNvSpPr/>
          <p:nvPr/>
        </p:nvSpPr>
        <p:spPr>
          <a:xfrm>
            <a:off x="7428506" y="4799183"/>
            <a:ext cx="4530830" cy="709863"/>
          </a:xfrm>
          <a:prstGeom prst="wedgeRectCallout">
            <a:avLst>
              <a:gd name="adj1" fmla="val -35791"/>
              <a:gd name="adj2" fmla="val -6950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ヒストグラムを伸長化する</a:t>
            </a:r>
            <a:endParaRPr kumimoji="1" lang="ja-JP" altLang="en-US" dirty="0"/>
          </a:p>
        </p:txBody>
      </p:sp>
      <p:sp>
        <p:nvSpPr>
          <p:cNvPr id="12" name="テキスト ボックス 11">
            <a:extLst>
              <a:ext uri="{FF2B5EF4-FFF2-40B4-BE49-F238E27FC236}">
                <a16:creationId xmlns:a16="http://schemas.microsoft.com/office/drawing/2014/main" id="{2173CE3D-172B-51C9-12C9-88132A067E65}"/>
              </a:ext>
            </a:extLst>
          </p:cNvPr>
          <p:cNvSpPr txBox="1"/>
          <p:nvPr/>
        </p:nvSpPr>
        <p:spPr>
          <a:xfrm>
            <a:off x="6674228" y="5879220"/>
            <a:ext cx="4943797" cy="369332"/>
          </a:xfrm>
          <a:prstGeom prst="rect">
            <a:avLst/>
          </a:prstGeom>
          <a:noFill/>
        </p:spPr>
        <p:txBody>
          <a:bodyPr wrap="square" rtlCol="0">
            <a:spAutoFit/>
          </a:bodyPr>
          <a:lstStyle/>
          <a:p>
            <a:r>
              <a:rPr kumimoji="1" lang="ja-JP" altLang="en-US" b="1" dirty="0"/>
              <a:t>動画用のスケルトンコードもコピーして実行</a:t>
            </a:r>
          </a:p>
        </p:txBody>
      </p:sp>
      <p:sp>
        <p:nvSpPr>
          <p:cNvPr id="3" name="フッター プレースホルダー 2">
            <a:extLst>
              <a:ext uri="{FF2B5EF4-FFF2-40B4-BE49-F238E27FC236}">
                <a16:creationId xmlns:a16="http://schemas.microsoft.com/office/drawing/2014/main" id="{584ABA07-353D-B207-0DB6-C0589658621A}"/>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A88AE3E1-740F-F52F-0EF0-004219B5831D}"/>
              </a:ext>
            </a:extLst>
          </p:cNvPr>
          <p:cNvSpPr>
            <a:spLocks noGrp="1"/>
          </p:cNvSpPr>
          <p:nvPr>
            <p:ph type="sldNum" sz="quarter" idx="12"/>
          </p:nvPr>
        </p:nvSpPr>
        <p:spPr/>
        <p:txBody>
          <a:bodyPr/>
          <a:lstStyle/>
          <a:p>
            <a:fld id="{82EE47C2-3066-499F-97BE-8094ED607EB5}" type="slidenum">
              <a:rPr kumimoji="1" lang="ja-JP" altLang="en-US" smtClean="0"/>
              <a:t>10</a:t>
            </a:fld>
            <a:endParaRPr kumimoji="1" lang="ja-JP" altLang="en-US"/>
          </a:p>
        </p:txBody>
      </p:sp>
    </p:spTree>
    <p:extLst>
      <p:ext uri="{BB962C8B-B14F-4D97-AF65-F5344CB8AC3E}">
        <p14:creationId xmlns:p14="http://schemas.microsoft.com/office/powerpoint/2010/main" val="284933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BF20C8-684D-2E42-BE22-1BE0272CE7FC}"/>
              </a:ext>
            </a:extLst>
          </p:cNvPr>
          <p:cNvSpPr>
            <a:spLocks noGrp="1"/>
          </p:cNvSpPr>
          <p:nvPr>
            <p:ph type="title"/>
          </p:nvPr>
        </p:nvSpPr>
        <p:spPr>
          <a:xfrm>
            <a:off x="838200" y="365125"/>
            <a:ext cx="10515600" cy="801523"/>
          </a:xfrm>
        </p:spPr>
        <p:txBody>
          <a:bodyPr/>
          <a:lstStyle/>
          <a:p>
            <a:r>
              <a:rPr kumimoji="1" lang="ja-JP" altLang="en-US" b="1" dirty="0"/>
              <a:t>濃度変換曲線（階調変換関数）</a:t>
            </a:r>
          </a:p>
        </p:txBody>
      </p:sp>
      <p:sp>
        <p:nvSpPr>
          <p:cNvPr id="3" name="コンテンツ プレースホルダー 2">
            <a:extLst>
              <a:ext uri="{FF2B5EF4-FFF2-40B4-BE49-F238E27FC236}">
                <a16:creationId xmlns:a16="http://schemas.microsoft.com/office/drawing/2014/main" id="{EE1C239D-EDD1-4A72-928E-5DF0DC6DA815}"/>
              </a:ext>
            </a:extLst>
          </p:cNvPr>
          <p:cNvSpPr>
            <a:spLocks noGrp="1"/>
          </p:cNvSpPr>
          <p:nvPr>
            <p:ph idx="1"/>
          </p:nvPr>
        </p:nvSpPr>
        <p:spPr>
          <a:xfrm>
            <a:off x="838199" y="1166648"/>
            <a:ext cx="10649607" cy="5010315"/>
          </a:xfrm>
        </p:spPr>
        <p:txBody>
          <a:bodyPr/>
          <a:lstStyle/>
          <a:p>
            <a:pPr marL="0" indent="0">
              <a:buNone/>
            </a:pPr>
            <a:r>
              <a:rPr lang="ja-JP" altLang="en-US" sz="2800" dirty="0"/>
              <a:t>変換前の濃度値と変換後の濃度値の</a:t>
            </a:r>
            <a:r>
              <a:rPr lang="en-US" altLang="ja-JP" sz="2800" dirty="0"/>
              <a:t>1</a:t>
            </a:r>
            <a:r>
              <a:rPr lang="ja-JP" altLang="en-US" sz="2800" dirty="0"/>
              <a:t>対</a:t>
            </a:r>
            <a:r>
              <a:rPr lang="en-US" altLang="ja-JP" sz="2800" dirty="0"/>
              <a:t>1</a:t>
            </a:r>
            <a:r>
              <a:rPr lang="ja-JP" altLang="en-US" sz="2800" dirty="0"/>
              <a:t>の対応を表形式で表現したものを濃度変換参照テーブル</a:t>
            </a:r>
            <a:r>
              <a:rPr lang="en-US" altLang="ja-JP" sz="2800" dirty="0"/>
              <a:t>(</a:t>
            </a:r>
            <a:r>
              <a:rPr lang="en-US" altLang="ja-JP" sz="2800" b="1" dirty="0"/>
              <a:t>LUT</a:t>
            </a:r>
            <a:r>
              <a:rPr lang="ja-JP" altLang="en-US" sz="2800" dirty="0"/>
              <a:t>：</a:t>
            </a:r>
            <a:r>
              <a:rPr lang="en-US" altLang="ja-JP" sz="2800" dirty="0"/>
              <a:t>Look</a:t>
            </a:r>
            <a:r>
              <a:rPr lang="ja-JP" altLang="en-US" sz="2800" dirty="0"/>
              <a:t> </a:t>
            </a:r>
            <a:r>
              <a:rPr lang="en-US" altLang="ja-JP" sz="2800" dirty="0"/>
              <a:t>Up</a:t>
            </a:r>
            <a:r>
              <a:rPr lang="ja-JP" altLang="en-US" sz="2800" dirty="0"/>
              <a:t> </a:t>
            </a:r>
            <a:r>
              <a:rPr lang="en-US" altLang="ja-JP" sz="2800" dirty="0"/>
              <a:t>Table)</a:t>
            </a:r>
            <a:r>
              <a:rPr lang="ja-JP" altLang="en-US" sz="2800" dirty="0"/>
              <a:t>という</a:t>
            </a:r>
            <a:endParaRPr lang="en-US" altLang="ja-JP" sz="2800" dirty="0"/>
          </a:p>
          <a:p>
            <a:pPr marL="0" indent="0">
              <a:buNone/>
            </a:pPr>
            <a:endParaRPr kumimoji="1" lang="en-US" altLang="ja-JP" dirty="0"/>
          </a:p>
          <a:p>
            <a:pPr marL="0" indent="0">
              <a:buNone/>
            </a:pPr>
            <a:r>
              <a:rPr lang="ja-JP" altLang="en-US" dirty="0"/>
              <a:t>変換時の曲線を</a:t>
            </a:r>
            <a:endParaRPr lang="en-US" altLang="ja-JP" dirty="0"/>
          </a:p>
          <a:p>
            <a:pPr marL="0" indent="0">
              <a:buNone/>
            </a:pPr>
            <a:r>
              <a:rPr kumimoji="1" lang="ja-JP" altLang="en-US" dirty="0"/>
              <a:t>濃度変換曲線という</a:t>
            </a:r>
          </a:p>
        </p:txBody>
      </p:sp>
      <p:pic>
        <p:nvPicPr>
          <p:cNvPr id="4" name="図 3">
            <a:extLst>
              <a:ext uri="{FF2B5EF4-FFF2-40B4-BE49-F238E27FC236}">
                <a16:creationId xmlns:a16="http://schemas.microsoft.com/office/drawing/2014/main" id="{E15A9A15-BFB0-9598-13F2-F1BB0CF8C354}"/>
              </a:ext>
            </a:extLst>
          </p:cNvPr>
          <p:cNvPicPr>
            <a:picLocks noChangeAspect="1"/>
          </p:cNvPicPr>
          <p:nvPr/>
        </p:nvPicPr>
        <p:blipFill>
          <a:blip r:embed="rId2"/>
          <a:stretch>
            <a:fillRect/>
          </a:stretch>
        </p:blipFill>
        <p:spPr>
          <a:xfrm>
            <a:off x="4216387" y="2345574"/>
            <a:ext cx="4457275" cy="4116424"/>
          </a:xfrm>
          <a:prstGeom prst="rect">
            <a:avLst/>
          </a:prstGeom>
        </p:spPr>
      </p:pic>
      <p:pic>
        <p:nvPicPr>
          <p:cNvPr id="5" name="図 4">
            <a:extLst>
              <a:ext uri="{FF2B5EF4-FFF2-40B4-BE49-F238E27FC236}">
                <a16:creationId xmlns:a16="http://schemas.microsoft.com/office/drawing/2014/main" id="{AA4DBC65-4427-9064-5504-C3A4E98A012B}"/>
              </a:ext>
            </a:extLst>
          </p:cNvPr>
          <p:cNvPicPr>
            <a:picLocks noChangeAspect="1"/>
          </p:cNvPicPr>
          <p:nvPr/>
        </p:nvPicPr>
        <p:blipFill>
          <a:blip r:embed="rId3"/>
          <a:stretch>
            <a:fillRect/>
          </a:stretch>
        </p:blipFill>
        <p:spPr>
          <a:xfrm>
            <a:off x="9747335" y="2345574"/>
            <a:ext cx="1606465" cy="4147301"/>
          </a:xfrm>
          <a:prstGeom prst="rect">
            <a:avLst/>
          </a:prstGeom>
        </p:spPr>
      </p:pic>
      <p:cxnSp>
        <p:nvCxnSpPr>
          <p:cNvPr id="6" name="直線矢印コネクタ 5">
            <a:extLst>
              <a:ext uri="{FF2B5EF4-FFF2-40B4-BE49-F238E27FC236}">
                <a16:creationId xmlns:a16="http://schemas.microsoft.com/office/drawing/2014/main" id="{81056980-B1EC-1A1A-3DB6-5F0806278A6C}"/>
              </a:ext>
            </a:extLst>
          </p:cNvPr>
          <p:cNvCxnSpPr>
            <a:cxnSpLocks/>
          </p:cNvCxnSpPr>
          <p:nvPr/>
        </p:nvCxnSpPr>
        <p:spPr>
          <a:xfrm flipH="1">
            <a:off x="5948855" y="4760245"/>
            <a:ext cx="3798479" cy="1178100"/>
          </a:xfrm>
          <a:prstGeom prst="straightConnector1">
            <a:avLst/>
          </a:prstGeom>
          <a:ln w="28575">
            <a:solidFill>
              <a:srgbClr val="15608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F248A81C-78E5-FDD0-E51C-91355AFF5192}"/>
              </a:ext>
            </a:extLst>
          </p:cNvPr>
          <p:cNvSpPr txBox="1"/>
          <p:nvPr/>
        </p:nvSpPr>
        <p:spPr>
          <a:xfrm>
            <a:off x="10103877" y="1976242"/>
            <a:ext cx="893380" cy="369332"/>
          </a:xfrm>
          <a:prstGeom prst="rect">
            <a:avLst/>
          </a:prstGeom>
          <a:noFill/>
        </p:spPr>
        <p:txBody>
          <a:bodyPr wrap="square" rtlCol="0">
            <a:spAutoFit/>
          </a:bodyPr>
          <a:lstStyle/>
          <a:p>
            <a:pPr algn="ctr"/>
            <a:r>
              <a:rPr kumimoji="1" lang="en-US" altLang="ja-JP" b="1" dirty="0"/>
              <a:t>LUT</a:t>
            </a:r>
            <a:endParaRPr kumimoji="1" lang="ja-JP" altLang="en-US" b="1" dirty="0"/>
          </a:p>
        </p:txBody>
      </p:sp>
      <p:sp>
        <p:nvSpPr>
          <p:cNvPr id="10" name="テキスト ボックス 9">
            <a:extLst>
              <a:ext uri="{FF2B5EF4-FFF2-40B4-BE49-F238E27FC236}">
                <a16:creationId xmlns:a16="http://schemas.microsoft.com/office/drawing/2014/main" id="{A60587BE-7BC8-2AD9-8D8A-EC7DA56C6784}"/>
              </a:ext>
            </a:extLst>
          </p:cNvPr>
          <p:cNvSpPr txBox="1"/>
          <p:nvPr/>
        </p:nvSpPr>
        <p:spPr>
          <a:xfrm>
            <a:off x="6551380" y="4290544"/>
            <a:ext cx="1583627" cy="369332"/>
          </a:xfrm>
          <a:prstGeom prst="rect">
            <a:avLst/>
          </a:prstGeom>
          <a:noFill/>
        </p:spPr>
        <p:txBody>
          <a:bodyPr wrap="square" rtlCol="0">
            <a:spAutoFit/>
          </a:bodyPr>
          <a:lstStyle/>
          <a:p>
            <a:pPr algn="ctr"/>
            <a:r>
              <a:rPr kumimoji="1" lang="ja-JP" altLang="en-US" b="1" dirty="0"/>
              <a:t>濃度変換曲線</a:t>
            </a:r>
          </a:p>
        </p:txBody>
      </p:sp>
      <p:sp>
        <p:nvSpPr>
          <p:cNvPr id="7" name="フッター プレースホルダー 6">
            <a:extLst>
              <a:ext uri="{FF2B5EF4-FFF2-40B4-BE49-F238E27FC236}">
                <a16:creationId xmlns:a16="http://schemas.microsoft.com/office/drawing/2014/main" id="{C1CEB3DD-0E76-BC30-CDF1-8487DDD7D5FF}"/>
              </a:ext>
            </a:extLst>
          </p:cNvPr>
          <p:cNvSpPr>
            <a:spLocks noGrp="1"/>
          </p:cNvSpPr>
          <p:nvPr>
            <p:ph type="ftr" sz="quarter" idx="11"/>
          </p:nvPr>
        </p:nvSpPr>
        <p:spPr/>
        <p:txBody>
          <a:bodyPr/>
          <a:lstStyle/>
          <a:p>
            <a:r>
              <a:rPr kumimoji="1" lang="ja-JP" altLang="en-US"/>
              <a:t>ポリテクセンター栃木</a:t>
            </a:r>
          </a:p>
        </p:txBody>
      </p:sp>
      <p:sp>
        <p:nvSpPr>
          <p:cNvPr id="8" name="スライド番号プレースホルダー 7">
            <a:extLst>
              <a:ext uri="{FF2B5EF4-FFF2-40B4-BE49-F238E27FC236}">
                <a16:creationId xmlns:a16="http://schemas.microsoft.com/office/drawing/2014/main" id="{18BCE827-6A88-FBA4-AB3D-7A0358440F46}"/>
              </a:ext>
            </a:extLst>
          </p:cNvPr>
          <p:cNvSpPr>
            <a:spLocks noGrp="1"/>
          </p:cNvSpPr>
          <p:nvPr>
            <p:ph type="sldNum" sz="quarter" idx="12"/>
          </p:nvPr>
        </p:nvSpPr>
        <p:spPr/>
        <p:txBody>
          <a:bodyPr/>
          <a:lstStyle/>
          <a:p>
            <a:fld id="{82EE47C2-3066-499F-97BE-8094ED607EB5}" type="slidenum">
              <a:rPr kumimoji="1" lang="ja-JP" altLang="en-US" smtClean="0"/>
              <a:t>11</a:t>
            </a:fld>
            <a:endParaRPr kumimoji="1" lang="ja-JP" altLang="en-US"/>
          </a:p>
        </p:txBody>
      </p:sp>
    </p:spTree>
    <p:extLst>
      <p:ext uri="{BB962C8B-B14F-4D97-AF65-F5344CB8AC3E}">
        <p14:creationId xmlns:p14="http://schemas.microsoft.com/office/powerpoint/2010/main" val="258899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6A055-E9E9-672D-C1D5-063289A69227}"/>
              </a:ext>
            </a:extLst>
          </p:cNvPr>
          <p:cNvSpPr>
            <a:spLocks noGrp="1"/>
          </p:cNvSpPr>
          <p:nvPr>
            <p:ph type="title"/>
          </p:nvPr>
        </p:nvSpPr>
        <p:spPr>
          <a:xfrm>
            <a:off x="838200" y="365125"/>
            <a:ext cx="10515600" cy="1022241"/>
          </a:xfrm>
        </p:spPr>
        <p:txBody>
          <a:bodyPr/>
          <a:lstStyle/>
          <a:p>
            <a:r>
              <a:rPr kumimoji="1" lang="ja-JP" altLang="en-US" b="1" dirty="0"/>
              <a:t>例：コントラスト調整　</a:t>
            </a:r>
            <a:r>
              <a:rPr kumimoji="1" lang="en-US" altLang="ja-JP" b="1" dirty="0"/>
              <a:t>lut_contrast.py</a:t>
            </a:r>
            <a:endParaRPr kumimoji="1" lang="ja-JP" altLang="en-US" b="1" dirty="0"/>
          </a:p>
        </p:txBody>
      </p:sp>
      <p:sp>
        <p:nvSpPr>
          <p:cNvPr id="3" name="コンテンツ プレースホルダー 2">
            <a:extLst>
              <a:ext uri="{FF2B5EF4-FFF2-40B4-BE49-F238E27FC236}">
                <a16:creationId xmlns:a16="http://schemas.microsoft.com/office/drawing/2014/main" id="{045F003C-B7A6-72DD-83BD-0E9AD0512C8A}"/>
              </a:ext>
            </a:extLst>
          </p:cNvPr>
          <p:cNvSpPr>
            <a:spLocks noGrp="1"/>
          </p:cNvSpPr>
          <p:nvPr>
            <p:ph idx="1"/>
          </p:nvPr>
        </p:nvSpPr>
        <p:spPr>
          <a:xfrm>
            <a:off x="838200" y="1387367"/>
            <a:ext cx="10515600" cy="541040"/>
          </a:xfrm>
        </p:spPr>
        <p:txBody>
          <a:bodyPr/>
          <a:lstStyle/>
          <a:p>
            <a:pPr marL="0" indent="0">
              <a:buNone/>
            </a:pPr>
            <a:r>
              <a:rPr kumimoji="1" lang="ja-JP" altLang="en-US" dirty="0"/>
              <a:t>コントラストの調整には次のような関数を利用します</a:t>
            </a:r>
          </a:p>
        </p:txBody>
      </p:sp>
      <p:pic>
        <p:nvPicPr>
          <p:cNvPr id="4" name="図 3">
            <a:extLst>
              <a:ext uri="{FF2B5EF4-FFF2-40B4-BE49-F238E27FC236}">
                <a16:creationId xmlns:a16="http://schemas.microsoft.com/office/drawing/2014/main" id="{F223EAB5-0D6D-49F3-7792-C9EF48168934}"/>
              </a:ext>
            </a:extLst>
          </p:cNvPr>
          <p:cNvPicPr>
            <a:picLocks noChangeAspect="1"/>
          </p:cNvPicPr>
          <p:nvPr/>
        </p:nvPicPr>
        <p:blipFill>
          <a:blip r:embed="rId2"/>
          <a:stretch>
            <a:fillRect/>
          </a:stretch>
        </p:blipFill>
        <p:spPr>
          <a:xfrm>
            <a:off x="7686340" y="2311495"/>
            <a:ext cx="4185539" cy="3865468"/>
          </a:xfrm>
          <a:prstGeom prst="rect">
            <a:avLst/>
          </a:prstGeom>
        </p:spPr>
      </p:pic>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17D64574-1B41-AE7D-6AD9-5233460CA331}"/>
                  </a:ext>
                </a:extLst>
              </p:cNvPr>
              <p:cNvSpPr txBox="1"/>
              <p:nvPr/>
            </p:nvSpPr>
            <p:spPr>
              <a:xfrm>
                <a:off x="523643" y="2282638"/>
                <a:ext cx="6789683" cy="1340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i="1" smtClean="0">
                              <a:solidFill>
                                <a:schemeClr val="tx1"/>
                              </a:solidFill>
                              <a:latin typeface="Cambria Math" panose="02040503050406030204" pitchFamily="18" charset="0"/>
                            </a:rPr>
                          </m:ctrlPr>
                        </m:sSubPr>
                        <m:e>
                          <m:r>
                            <a:rPr lang="en-US" altLang="ja-JP" sz="1800" b="0" i="1" smtClean="0">
                              <a:solidFill>
                                <a:schemeClr val="tx1"/>
                              </a:solidFill>
                              <a:latin typeface="Cambria Math" panose="02040503050406030204" pitchFamily="18" charset="0"/>
                            </a:rPr>
                            <m:t>𝐼</m:t>
                          </m:r>
                        </m:e>
                        <m:sub>
                          <m:r>
                            <a:rPr lang="en-US" altLang="ja-JP" sz="1800" b="0" i="1" smtClean="0">
                              <a:solidFill>
                                <a:schemeClr val="tx1"/>
                              </a:solidFill>
                              <a:latin typeface="Cambria Math" panose="02040503050406030204" pitchFamily="18" charset="0"/>
                            </a:rPr>
                            <m:t>𝑑𝑠𝑡</m:t>
                          </m:r>
                        </m:sub>
                      </m:sSub>
                      <m:d>
                        <m:dPr>
                          <m:ctrlPr>
                            <a:rPr lang="en-US" altLang="ja-JP" sz="1800" b="0" i="1" smtClean="0">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𝑥</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𝑦</m:t>
                          </m:r>
                        </m:e>
                      </m:d>
                      <m:r>
                        <a:rPr lang="en-US" altLang="ja-JP" sz="1800" b="0" i="1" smtClean="0">
                          <a:solidFill>
                            <a:schemeClr val="tx1"/>
                          </a:solidFill>
                          <a:latin typeface="Cambria Math" panose="02040503050406030204" pitchFamily="18" charset="0"/>
                        </a:rPr>
                        <m:t>=</m:t>
                      </m:r>
                      <m:d>
                        <m:dPr>
                          <m:begChr m:val="{"/>
                          <m:endChr m:val=""/>
                          <m:ctrlPr>
                            <a:rPr lang="en-US" altLang="ja-JP" sz="1800" b="0" i="1" smtClean="0">
                              <a:solidFill>
                                <a:schemeClr val="tx1"/>
                              </a:solidFill>
                              <a:latin typeface="Cambria Math" panose="02040503050406030204" pitchFamily="18" charset="0"/>
                            </a:rPr>
                          </m:ctrlPr>
                        </m:dPr>
                        <m:e>
                          <m:eqArr>
                            <m:eqArrPr>
                              <m:ctrlPr>
                                <a:rPr lang="en-US" altLang="ja-JP" sz="1800" b="0" i="1" smtClean="0">
                                  <a:solidFill>
                                    <a:schemeClr val="tx1"/>
                                  </a:solidFill>
                                  <a:latin typeface="Cambria Math" panose="02040503050406030204" pitchFamily="18" charset="0"/>
                                </a:rPr>
                              </m:ctrlPr>
                            </m:eqArrPr>
                            <m:e>
                              <m:r>
                                <a:rPr lang="en-US" altLang="ja-JP" sz="1800" b="0" i="1" smtClean="0">
                                  <a:solidFill>
                                    <a:schemeClr val="tx1"/>
                                  </a:solidFill>
                                  <a:latin typeface="Cambria Math" panose="02040503050406030204" pitchFamily="18" charset="0"/>
                                </a:rPr>
                                <m:t>0</m:t>
                              </m:r>
                              <m:r>
                                <a:rPr lang="en-US" altLang="ja-JP" sz="1800" b="0" i="1" smtClean="0">
                                  <a:solidFill>
                                    <a:schemeClr val="tx1"/>
                                  </a:solidFill>
                                  <a:latin typeface="Cambria Math" panose="02040503050406030204" pitchFamily="18" charset="0"/>
                                </a:rPr>
                                <m:t>                            </m:t>
                              </m:r>
                              <m:r>
                                <a:rPr lang="en-US" altLang="ja-JP" sz="1800" b="0" i="1" smtClean="0">
                                  <a:solidFill>
                                    <a:schemeClr val="tx1"/>
                                  </a:solidFill>
                                  <a:latin typeface="Cambria Math" panose="02040503050406030204" pitchFamily="18" charset="0"/>
                                </a:rPr>
                                <m:t>,(</m:t>
                              </m:r>
                              <m:sSub>
                                <m:sSubPr>
                                  <m:ctrlPr>
                                    <a:rPr lang="en-US" altLang="ja-JP" sz="1800" b="0" i="1" smtClean="0">
                                      <a:solidFill>
                                        <a:schemeClr val="tx1"/>
                                      </a:solidFill>
                                      <a:latin typeface="Cambria Math" panose="02040503050406030204" pitchFamily="18" charset="0"/>
                                    </a:rPr>
                                  </m:ctrlPr>
                                </m:sSubPr>
                                <m:e>
                                  <m:r>
                                    <a:rPr lang="en-US" altLang="ja-JP" sz="1800" b="0" i="1" smtClean="0">
                                      <a:solidFill>
                                        <a:schemeClr val="tx1"/>
                                      </a:solidFill>
                                      <a:latin typeface="Cambria Math" panose="02040503050406030204" pitchFamily="18" charset="0"/>
                                    </a:rPr>
                                    <m:t>𝐼</m:t>
                                  </m:r>
                                </m:e>
                                <m:sub>
                                  <m:r>
                                    <a:rPr lang="en-US" altLang="ja-JP" sz="1800" b="0" i="1" smtClean="0">
                                      <a:solidFill>
                                        <a:schemeClr val="tx1"/>
                                      </a:solidFill>
                                      <a:latin typeface="Cambria Math" panose="02040503050406030204" pitchFamily="18" charset="0"/>
                                    </a:rPr>
                                    <m:t>𝑠𝑟𝑐</m:t>
                                  </m:r>
                                </m:sub>
                              </m:sSub>
                              <m:d>
                                <m:dPr>
                                  <m:ctrlPr>
                                    <a:rPr lang="en-US" altLang="ja-JP" sz="1800" b="0" i="1" smtClean="0">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𝑥</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𝑦</m:t>
                                  </m:r>
                                </m:e>
                              </m:d>
                              <m:r>
                                <a:rPr lang="en-US" altLang="ja-JP" sz="1800" b="0" i="1" smtClean="0">
                                  <a:solidFill>
                                    <a:schemeClr val="tx1"/>
                                  </a:solidFill>
                                  <a:latin typeface="Cambria Math" panose="02040503050406030204" pitchFamily="18" charset="0"/>
                                </a:rPr>
                                <m:t>&lt;</m:t>
                              </m:r>
                              <m:r>
                                <a:rPr lang="en-US" altLang="ja-JP" sz="1800" b="0" i="1" smtClean="0">
                                  <a:solidFill>
                                    <a:schemeClr val="tx1"/>
                                  </a:solidFill>
                                  <a:latin typeface="Cambria Math" panose="02040503050406030204" pitchFamily="18" charset="0"/>
                                </a:rPr>
                                <m:t>𝑀𝐼𝑁</m:t>
                              </m:r>
                              <m:r>
                                <a:rPr lang="en-US" altLang="ja-JP" sz="1800" b="0" i="1" smtClean="0">
                                  <a:solidFill>
                                    <a:schemeClr val="tx1"/>
                                  </a:solidFill>
                                  <a:latin typeface="Cambria Math" panose="02040503050406030204" pitchFamily="18" charset="0"/>
                                </a:rPr>
                                <m:t>)</m:t>
                              </m:r>
                            </m:e>
                            <m:e>
                              <m:r>
                                <a:rPr lang="en-US" altLang="ja-JP" sz="1800" b="0" i="1" smtClean="0">
                                  <a:solidFill>
                                    <a:schemeClr val="tx1"/>
                                  </a:solidFill>
                                  <a:latin typeface="Cambria Math" panose="02040503050406030204" pitchFamily="18" charset="0"/>
                                </a:rPr>
                                <m:t>255</m:t>
                              </m:r>
                              <m:r>
                                <a:rPr lang="en-US" altLang="ja-JP" sz="1800" b="0" i="1" smtClean="0">
                                  <a:solidFill>
                                    <a:schemeClr val="tx1"/>
                                  </a:solidFill>
                                  <a:latin typeface="Cambria Math" panose="02040503050406030204" pitchFamily="18" charset="0"/>
                                  <a:ea typeface="Cambria Math" panose="02040503050406030204" pitchFamily="18" charset="0"/>
                                </a:rPr>
                                <m:t>×</m:t>
                              </m:r>
                              <m:f>
                                <m:fPr>
                                  <m:ctrlPr>
                                    <a:rPr lang="en-US" altLang="ja-JP" sz="1800" b="0" i="1" smtClean="0">
                                      <a:solidFill>
                                        <a:schemeClr val="tx1"/>
                                      </a:solidFill>
                                      <a:latin typeface="Cambria Math" panose="02040503050406030204" pitchFamily="18" charset="0"/>
                                    </a:rPr>
                                  </m:ctrlPr>
                                </m:fPr>
                                <m:num>
                                  <m:sSub>
                                    <m:sSubPr>
                                      <m:ctrlPr>
                                        <a:rPr lang="en-US" altLang="ja-JP" sz="1800" b="0" i="1" smtClean="0">
                                          <a:solidFill>
                                            <a:schemeClr val="tx1"/>
                                          </a:solidFill>
                                          <a:latin typeface="Cambria Math" panose="02040503050406030204" pitchFamily="18" charset="0"/>
                                        </a:rPr>
                                      </m:ctrlPr>
                                    </m:sSubPr>
                                    <m:e>
                                      <m:r>
                                        <a:rPr lang="en-US" altLang="ja-JP" sz="1800" b="0" i="1" smtClean="0">
                                          <a:solidFill>
                                            <a:schemeClr val="tx1"/>
                                          </a:solidFill>
                                          <a:latin typeface="Cambria Math" panose="02040503050406030204" pitchFamily="18" charset="0"/>
                                        </a:rPr>
                                        <m:t>𝐼</m:t>
                                      </m:r>
                                    </m:e>
                                    <m:sub>
                                      <m:r>
                                        <a:rPr lang="en-US" altLang="ja-JP" sz="1800" b="0" i="1" smtClean="0">
                                          <a:solidFill>
                                            <a:schemeClr val="tx1"/>
                                          </a:solidFill>
                                          <a:latin typeface="Cambria Math" panose="02040503050406030204" pitchFamily="18" charset="0"/>
                                        </a:rPr>
                                        <m:t>𝑠𝑟𝑐</m:t>
                                      </m:r>
                                    </m:sub>
                                  </m:sSub>
                                  <m:d>
                                    <m:dPr>
                                      <m:ctrlPr>
                                        <a:rPr lang="en-US" altLang="ja-JP" sz="1800" b="0" i="1" smtClean="0">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𝑥</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𝑦</m:t>
                                      </m:r>
                                    </m:e>
                                  </m:d>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𝑀𝐼𝑁</m:t>
                                  </m:r>
                                </m:num>
                                <m:den>
                                  <m:r>
                                    <a:rPr lang="en-US" altLang="ja-JP" sz="1800" b="0" i="1" smtClean="0">
                                      <a:solidFill>
                                        <a:schemeClr val="tx1"/>
                                      </a:solidFill>
                                      <a:latin typeface="Cambria Math" panose="02040503050406030204" pitchFamily="18" charset="0"/>
                                    </a:rPr>
                                    <m:t>𝑀𝐴𝑋</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𝑀𝐼𝑁</m:t>
                                  </m:r>
                                </m:den>
                              </m:f>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𝑀𝐼𝑁</m:t>
                              </m:r>
                              <m:r>
                                <a:rPr lang="en-US" altLang="ja-JP" sz="1800" b="0" i="1" smtClean="0">
                                  <a:solidFill>
                                    <a:schemeClr val="tx1"/>
                                  </a:solidFill>
                                  <a:latin typeface="Cambria Math" panose="02040503050406030204" pitchFamily="18" charset="0"/>
                                  <a:ea typeface="Cambria Math" panose="02040503050406030204" pitchFamily="18" charset="0"/>
                                </a:rPr>
                                <m:t>≤</m:t>
                              </m:r>
                              <m:sSub>
                                <m:sSubPr>
                                  <m:ctrlPr>
                                    <a:rPr lang="en-US" altLang="ja-JP" sz="1800" b="0" i="1" smtClean="0">
                                      <a:solidFill>
                                        <a:schemeClr val="tx1"/>
                                      </a:solidFill>
                                      <a:latin typeface="Cambria Math" panose="02040503050406030204" pitchFamily="18" charset="0"/>
                                      <a:ea typeface="Cambria Math" panose="02040503050406030204" pitchFamily="18" charset="0"/>
                                    </a:rPr>
                                  </m:ctrlPr>
                                </m:sSubPr>
                                <m:e>
                                  <m:r>
                                    <a:rPr lang="en-US" altLang="ja-JP" sz="1800" b="0" i="1" smtClean="0">
                                      <a:solidFill>
                                        <a:schemeClr val="tx1"/>
                                      </a:solidFill>
                                      <a:latin typeface="Cambria Math" panose="02040503050406030204" pitchFamily="18" charset="0"/>
                                      <a:ea typeface="Cambria Math" panose="02040503050406030204" pitchFamily="18" charset="0"/>
                                    </a:rPr>
                                    <m:t>𝐼</m:t>
                                  </m:r>
                                </m:e>
                                <m:sub>
                                  <m:r>
                                    <a:rPr lang="en-US" altLang="ja-JP" sz="1800" b="0" i="1" smtClean="0">
                                      <a:solidFill>
                                        <a:schemeClr val="tx1"/>
                                      </a:solidFill>
                                      <a:latin typeface="Cambria Math" panose="02040503050406030204" pitchFamily="18" charset="0"/>
                                      <a:ea typeface="Cambria Math" panose="02040503050406030204" pitchFamily="18" charset="0"/>
                                    </a:rPr>
                                    <m:t>𝑠𝑟𝑐</m:t>
                                  </m:r>
                                </m:sub>
                              </m:sSub>
                              <m:r>
                                <a:rPr lang="en-US" altLang="ja-JP" sz="1800" b="0" i="1" smtClean="0">
                                  <a:solidFill>
                                    <a:schemeClr val="tx1"/>
                                  </a:solidFill>
                                  <a:latin typeface="Cambria Math" panose="02040503050406030204" pitchFamily="18" charset="0"/>
                                  <a:ea typeface="Cambria Math" panose="02040503050406030204" pitchFamily="18" charset="0"/>
                                </a:rPr>
                                <m:t>(</m:t>
                              </m:r>
                              <m:r>
                                <a:rPr lang="en-US" altLang="ja-JP" sz="1800" b="0" i="1" smtClean="0">
                                  <a:solidFill>
                                    <a:schemeClr val="tx1"/>
                                  </a:solidFill>
                                  <a:latin typeface="Cambria Math" panose="02040503050406030204" pitchFamily="18" charset="0"/>
                                  <a:ea typeface="Cambria Math" panose="02040503050406030204" pitchFamily="18" charset="0"/>
                                </a:rPr>
                                <m:t>𝑥</m:t>
                              </m:r>
                              <m:r>
                                <a:rPr lang="en-US" altLang="ja-JP" sz="1800" b="0" i="1" smtClean="0">
                                  <a:solidFill>
                                    <a:schemeClr val="tx1"/>
                                  </a:solidFill>
                                  <a:latin typeface="Cambria Math" panose="02040503050406030204" pitchFamily="18" charset="0"/>
                                  <a:ea typeface="Cambria Math" panose="02040503050406030204" pitchFamily="18" charset="0"/>
                                </a:rPr>
                                <m:t>,</m:t>
                              </m:r>
                              <m:r>
                                <a:rPr lang="en-US" altLang="ja-JP" sz="1800" b="0" i="1" smtClean="0">
                                  <a:solidFill>
                                    <a:schemeClr val="tx1"/>
                                  </a:solidFill>
                                  <a:latin typeface="Cambria Math" panose="02040503050406030204" pitchFamily="18" charset="0"/>
                                  <a:ea typeface="Cambria Math" panose="02040503050406030204" pitchFamily="18" charset="0"/>
                                </a:rPr>
                                <m:t>𝑦</m:t>
                              </m:r>
                              <m:r>
                                <a:rPr lang="en-US" altLang="ja-JP" sz="1800" b="0" i="1" smtClean="0">
                                  <a:solidFill>
                                    <a:schemeClr val="tx1"/>
                                  </a:solidFill>
                                  <a:latin typeface="Cambria Math" panose="02040503050406030204" pitchFamily="18" charset="0"/>
                                  <a:ea typeface="Cambria Math" panose="02040503050406030204" pitchFamily="18" charset="0"/>
                                </a:rPr>
                                <m:t>)≤</m:t>
                              </m:r>
                              <m:r>
                                <a:rPr lang="en-US" altLang="ja-JP" sz="1800" b="0" i="1" smtClean="0">
                                  <a:solidFill>
                                    <a:schemeClr val="tx1"/>
                                  </a:solidFill>
                                  <a:latin typeface="Cambria Math" panose="02040503050406030204" pitchFamily="18" charset="0"/>
                                  <a:ea typeface="Cambria Math" panose="02040503050406030204" pitchFamily="18" charset="0"/>
                                </a:rPr>
                                <m:t>𝑀𝐴𝑋</m:t>
                              </m:r>
                              <m:r>
                                <a:rPr lang="en-US" altLang="ja-JP" sz="1800" b="0" i="1" smtClean="0">
                                  <a:solidFill>
                                    <a:schemeClr val="tx1"/>
                                  </a:solidFill>
                                  <a:latin typeface="Cambria Math" panose="02040503050406030204" pitchFamily="18" charset="0"/>
                                  <a:ea typeface="Cambria Math" panose="02040503050406030204" pitchFamily="18" charset="0"/>
                                </a:rPr>
                                <m:t>)</m:t>
                              </m:r>
                            </m:e>
                            <m:e>
                              <m:r>
                                <a:rPr lang="en-US" altLang="ja-JP" sz="1800" b="0" i="1" smtClean="0">
                                  <a:solidFill>
                                    <a:schemeClr val="tx1"/>
                                  </a:solidFill>
                                  <a:latin typeface="Cambria Math" panose="02040503050406030204" pitchFamily="18" charset="0"/>
                                </a:rPr>
                                <m:t>255</m:t>
                              </m:r>
                              <m:r>
                                <a:rPr lang="en-US" altLang="ja-JP" sz="1800" b="0" i="1" smtClean="0">
                                  <a:solidFill>
                                    <a:schemeClr val="tx1"/>
                                  </a:solidFill>
                                  <a:latin typeface="Cambria Math" panose="02040503050406030204" pitchFamily="18" charset="0"/>
                                </a:rPr>
                                <m:t>                       </m:t>
                              </m:r>
                              <m:r>
                                <a:rPr lang="en-US" altLang="ja-JP" sz="1800" b="0" i="1" smtClean="0">
                                  <a:solidFill>
                                    <a:schemeClr val="tx1"/>
                                  </a:solidFill>
                                  <a:latin typeface="Cambria Math" panose="02040503050406030204" pitchFamily="18" charset="0"/>
                                </a:rPr>
                                <m:t>,(</m:t>
                              </m:r>
                              <m:sSub>
                                <m:sSubPr>
                                  <m:ctrlPr>
                                    <a:rPr lang="en-US" altLang="ja-JP" sz="1800" b="0" i="1" smtClean="0">
                                      <a:solidFill>
                                        <a:schemeClr val="tx1"/>
                                      </a:solidFill>
                                      <a:latin typeface="Cambria Math" panose="02040503050406030204" pitchFamily="18" charset="0"/>
                                    </a:rPr>
                                  </m:ctrlPr>
                                </m:sSubPr>
                                <m:e>
                                  <m:r>
                                    <a:rPr lang="en-US" altLang="ja-JP" sz="1800" b="0" i="1" smtClean="0">
                                      <a:solidFill>
                                        <a:schemeClr val="tx1"/>
                                      </a:solidFill>
                                      <a:latin typeface="Cambria Math" panose="02040503050406030204" pitchFamily="18" charset="0"/>
                                    </a:rPr>
                                    <m:t>𝐼</m:t>
                                  </m:r>
                                </m:e>
                                <m:sub>
                                  <m:r>
                                    <a:rPr lang="en-US" altLang="ja-JP" sz="1800" b="0" i="1" smtClean="0">
                                      <a:solidFill>
                                        <a:schemeClr val="tx1"/>
                                      </a:solidFill>
                                      <a:latin typeface="Cambria Math" panose="02040503050406030204" pitchFamily="18" charset="0"/>
                                    </a:rPr>
                                    <m:t>𝑠𝑟𝑐</m:t>
                                  </m:r>
                                </m:sub>
                              </m:sSub>
                              <m:d>
                                <m:dPr>
                                  <m:ctrlPr>
                                    <a:rPr lang="en-US" altLang="ja-JP" sz="1800" b="0" i="1" smtClean="0">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𝑥</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𝑦</m:t>
                                  </m:r>
                                </m:e>
                              </m:d>
                              <m:r>
                                <a:rPr lang="en-US" altLang="ja-JP" sz="1800" b="0" i="1" smtClean="0">
                                  <a:solidFill>
                                    <a:schemeClr val="tx1"/>
                                  </a:solidFill>
                                  <a:latin typeface="Cambria Math" panose="02040503050406030204" pitchFamily="18" charset="0"/>
                                </a:rPr>
                                <m:t>&gt;</m:t>
                              </m:r>
                              <m:r>
                                <a:rPr lang="en-US" altLang="ja-JP" sz="1800" b="0" i="1" smtClean="0">
                                  <a:solidFill>
                                    <a:schemeClr val="tx1"/>
                                  </a:solidFill>
                                  <a:latin typeface="Cambria Math" panose="02040503050406030204" pitchFamily="18" charset="0"/>
                                </a:rPr>
                                <m:t>𝑀𝐴𝑋</m:t>
                              </m:r>
                              <m:r>
                                <a:rPr lang="en-US" altLang="ja-JP" sz="1800" b="0" i="1" smtClean="0">
                                  <a:solidFill>
                                    <a:schemeClr val="tx1"/>
                                  </a:solidFill>
                                  <a:latin typeface="Cambria Math" panose="02040503050406030204" pitchFamily="18" charset="0"/>
                                </a:rPr>
                                <m:t>)</m:t>
                              </m:r>
                            </m:e>
                          </m:eqArr>
                        </m:e>
                      </m:d>
                    </m:oMath>
                  </m:oMathPara>
                </a14:m>
                <a:endParaRPr lang="ja-JP" altLang="en-US" dirty="0"/>
              </a:p>
            </p:txBody>
          </p:sp>
        </mc:Choice>
        <mc:Fallback>
          <p:sp>
            <p:nvSpPr>
              <p:cNvPr id="6" name="テキスト ボックス 5">
                <a:extLst>
                  <a:ext uri="{FF2B5EF4-FFF2-40B4-BE49-F238E27FC236}">
                    <a16:creationId xmlns:a16="http://schemas.microsoft.com/office/drawing/2014/main" id="{17D64574-1B41-AE7D-6AD9-5233460CA331}"/>
                  </a:ext>
                </a:extLst>
              </p:cNvPr>
              <p:cNvSpPr txBox="1">
                <a:spLocks noRot="1" noChangeAspect="1" noMove="1" noResize="1" noEditPoints="1" noAdjustHandles="1" noChangeArrowheads="1" noChangeShapeType="1" noTextEdit="1"/>
              </p:cNvSpPr>
              <p:nvPr/>
            </p:nvSpPr>
            <p:spPr>
              <a:xfrm>
                <a:off x="523643" y="2282638"/>
                <a:ext cx="6789683" cy="1340880"/>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27066CB-1A06-764B-D314-393E65445449}"/>
                  </a:ext>
                </a:extLst>
              </p:cNvPr>
              <p:cNvSpPr txBox="1"/>
              <p:nvPr/>
            </p:nvSpPr>
            <p:spPr>
              <a:xfrm>
                <a:off x="1162197" y="3890286"/>
                <a:ext cx="6096000" cy="707886"/>
              </a:xfrm>
              <a:prstGeom prst="rect">
                <a:avLst/>
              </a:prstGeom>
              <a:noFill/>
            </p:spPr>
            <p:txBody>
              <a:bodyPr wrap="square">
                <a:spAutoFit/>
              </a:bodyPr>
              <a:lstStyle/>
              <a:p>
                <a14:m>
                  <m:oMath xmlns:m="http://schemas.openxmlformats.org/officeDocument/2006/math">
                    <m:sSub>
                      <m:sSubPr>
                        <m:ctrlPr>
                          <a:rPr lang="en-US" altLang="ja-JP" sz="2000" b="0" i="1" smtClean="0">
                            <a:solidFill>
                              <a:schemeClr val="tx1"/>
                            </a:solidFill>
                            <a:latin typeface="Cambria Math" panose="02040503050406030204" pitchFamily="18" charset="0"/>
                          </a:rPr>
                        </m:ctrlPr>
                      </m:sSubPr>
                      <m:e>
                        <m:r>
                          <a:rPr lang="en-US" altLang="ja-JP" sz="2000" b="0" i="1" smtClean="0">
                            <a:solidFill>
                              <a:schemeClr val="tx1"/>
                            </a:solidFill>
                            <a:latin typeface="Cambria Math" panose="02040503050406030204" pitchFamily="18" charset="0"/>
                          </a:rPr>
                          <m:t>𝐼</m:t>
                        </m:r>
                      </m:e>
                      <m:sub>
                        <m:r>
                          <a:rPr lang="en-US" altLang="ja-JP" sz="2000" b="0" i="1" smtClean="0">
                            <a:solidFill>
                              <a:schemeClr val="tx1"/>
                            </a:solidFill>
                            <a:latin typeface="Cambria Math" panose="02040503050406030204" pitchFamily="18" charset="0"/>
                          </a:rPr>
                          <m:t>𝑠𝑟𝑐</m:t>
                        </m:r>
                      </m:sub>
                    </m:sSub>
                    <m:d>
                      <m:dPr>
                        <m:ctrlPr>
                          <a:rPr lang="en-US" altLang="ja-JP" sz="2000" b="0" i="1" smtClean="0">
                            <a:solidFill>
                              <a:schemeClr val="tx1"/>
                            </a:solidFill>
                            <a:latin typeface="Cambria Math" panose="02040503050406030204" pitchFamily="18" charset="0"/>
                          </a:rPr>
                        </m:ctrlPr>
                      </m:dPr>
                      <m:e>
                        <m:r>
                          <a:rPr lang="en-US" altLang="ja-JP" sz="2000" b="0" i="1" smtClean="0">
                            <a:solidFill>
                              <a:schemeClr val="tx1"/>
                            </a:solidFill>
                            <a:latin typeface="Cambria Math" panose="02040503050406030204" pitchFamily="18" charset="0"/>
                          </a:rPr>
                          <m:t>𝑥</m:t>
                        </m:r>
                        <m:r>
                          <a:rPr lang="en-US" altLang="ja-JP" sz="2000" b="0" i="1" smtClean="0">
                            <a:solidFill>
                              <a:schemeClr val="tx1"/>
                            </a:solidFill>
                            <a:latin typeface="Cambria Math" panose="02040503050406030204" pitchFamily="18" charset="0"/>
                          </a:rPr>
                          <m:t>,</m:t>
                        </m:r>
                        <m:r>
                          <a:rPr lang="en-US" altLang="ja-JP" sz="2000" b="0" i="1" smtClean="0">
                            <a:solidFill>
                              <a:schemeClr val="tx1"/>
                            </a:solidFill>
                            <a:latin typeface="Cambria Math" panose="02040503050406030204" pitchFamily="18" charset="0"/>
                          </a:rPr>
                          <m:t>𝑦</m:t>
                        </m:r>
                      </m:e>
                    </m:d>
                  </m:oMath>
                </a14:m>
                <a:r>
                  <a:rPr lang="ja-JP" altLang="en-US" sz="2000" dirty="0"/>
                  <a:t> </a:t>
                </a:r>
                <a:r>
                  <a:rPr lang="en-US" altLang="ja-JP" sz="2000" dirty="0"/>
                  <a:t>… </a:t>
                </a:r>
                <a:r>
                  <a:rPr lang="ja-JP" altLang="en-US" sz="2000" dirty="0"/>
                  <a:t>元画像の座標</a:t>
                </a:r>
                <a:r>
                  <a:rPr lang="en-US" altLang="ja-JP" sz="2000" dirty="0"/>
                  <a:t>(</a:t>
                </a:r>
                <a:r>
                  <a:rPr lang="en-US" altLang="ja-JP" sz="2000" dirty="0" err="1"/>
                  <a:t>x,y</a:t>
                </a:r>
                <a:r>
                  <a:rPr lang="en-US" altLang="ja-JP" sz="2000" dirty="0"/>
                  <a:t>)</a:t>
                </a:r>
                <a:r>
                  <a:rPr lang="ja-JP" altLang="en-US" sz="2000" dirty="0"/>
                  <a:t>の濃度</a:t>
                </a:r>
                <a:endParaRPr lang="en-US" altLang="ja-JP" sz="2000" i="1" dirty="0">
                  <a:solidFill>
                    <a:schemeClr val="tx1"/>
                  </a:solidFill>
                  <a:latin typeface="Cambria Math" panose="02040503050406030204" pitchFamily="18" charset="0"/>
                </a:endParaRPr>
              </a:p>
              <a:p>
                <a14:m>
                  <m:oMath xmlns:m="http://schemas.openxmlformats.org/officeDocument/2006/math">
                    <m:sSub>
                      <m:sSubPr>
                        <m:ctrlPr>
                          <a:rPr lang="en-US" altLang="ja-JP" sz="2000" i="1" smtClean="0">
                            <a:solidFill>
                              <a:schemeClr val="tx1"/>
                            </a:solidFill>
                            <a:latin typeface="Cambria Math" panose="02040503050406030204" pitchFamily="18" charset="0"/>
                          </a:rPr>
                        </m:ctrlPr>
                      </m:sSubPr>
                      <m:e>
                        <m:r>
                          <a:rPr lang="en-US" altLang="ja-JP" sz="2000" b="0" i="1" smtClean="0">
                            <a:solidFill>
                              <a:schemeClr val="tx1"/>
                            </a:solidFill>
                            <a:latin typeface="Cambria Math" panose="02040503050406030204" pitchFamily="18" charset="0"/>
                          </a:rPr>
                          <m:t>𝐼</m:t>
                        </m:r>
                      </m:e>
                      <m:sub>
                        <m:r>
                          <a:rPr lang="en-US" altLang="ja-JP" sz="2000" b="0" i="1" smtClean="0">
                            <a:solidFill>
                              <a:schemeClr val="tx1"/>
                            </a:solidFill>
                            <a:latin typeface="Cambria Math" panose="02040503050406030204" pitchFamily="18" charset="0"/>
                          </a:rPr>
                          <m:t>𝑑𝑠𝑡</m:t>
                        </m:r>
                      </m:sub>
                    </m:sSub>
                    <m:d>
                      <m:dPr>
                        <m:ctrlPr>
                          <a:rPr lang="en-US" altLang="ja-JP" sz="2000" b="0" i="1" smtClean="0">
                            <a:solidFill>
                              <a:schemeClr val="tx1"/>
                            </a:solidFill>
                            <a:latin typeface="Cambria Math" panose="02040503050406030204" pitchFamily="18" charset="0"/>
                          </a:rPr>
                        </m:ctrlPr>
                      </m:dPr>
                      <m:e>
                        <m:r>
                          <a:rPr lang="en-US" altLang="ja-JP" sz="2000" b="0" i="1" smtClean="0">
                            <a:solidFill>
                              <a:schemeClr val="tx1"/>
                            </a:solidFill>
                            <a:latin typeface="Cambria Math" panose="02040503050406030204" pitchFamily="18" charset="0"/>
                          </a:rPr>
                          <m:t>𝑥</m:t>
                        </m:r>
                        <m:r>
                          <a:rPr lang="en-US" altLang="ja-JP" sz="2000" b="0" i="1" smtClean="0">
                            <a:solidFill>
                              <a:schemeClr val="tx1"/>
                            </a:solidFill>
                            <a:latin typeface="Cambria Math" panose="02040503050406030204" pitchFamily="18" charset="0"/>
                          </a:rPr>
                          <m:t>,</m:t>
                        </m:r>
                        <m:r>
                          <a:rPr lang="en-US" altLang="ja-JP" sz="2000" b="0" i="1" smtClean="0">
                            <a:solidFill>
                              <a:schemeClr val="tx1"/>
                            </a:solidFill>
                            <a:latin typeface="Cambria Math" panose="02040503050406030204" pitchFamily="18" charset="0"/>
                          </a:rPr>
                          <m:t>𝑦</m:t>
                        </m:r>
                      </m:e>
                    </m:d>
                  </m:oMath>
                </a14:m>
                <a:r>
                  <a:rPr lang="ja-JP" altLang="en-US" sz="2000" dirty="0"/>
                  <a:t> </a:t>
                </a:r>
                <a:r>
                  <a:rPr lang="en-US" altLang="ja-JP" sz="2000" dirty="0"/>
                  <a:t>… </a:t>
                </a:r>
                <a:r>
                  <a:rPr lang="ja-JP" altLang="en-US" sz="2000" dirty="0"/>
                  <a:t>濃度変換後の座標</a:t>
                </a:r>
                <a:r>
                  <a:rPr lang="en-US" altLang="ja-JP" sz="2000" dirty="0"/>
                  <a:t>(</a:t>
                </a:r>
                <a:r>
                  <a:rPr lang="en-US" altLang="ja-JP" sz="2000" dirty="0" err="1"/>
                  <a:t>x,y</a:t>
                </a:r>
                <a:r>
                  <a:rPr lang="en-US" altLang="ja-JP" sz="2000" dirty="0"/>
                  <a:t>)</a:t>
                </a:r>
                <a:r>
                  <a:rPr lang="ja-JP" altLang="en-US" sz="2000" dirty="0"/>
                  <a:t>の濃度</a:t>
                </a:r>
                <a:endParaRPr lang="en-US" altLang="ja-JP" sz="2000" dirty="0"/>
              </a:p>
            </p:txBody>
          </p:sp>
        </mc:Choice>
        <mc:Fallback xmlns="">
          <p:sp>
            <p:nvSpPr>
              <p:cNvPr id="8" name="テキスト ボックス 7">
                <a:extLst>
                  <a:ext uri="{FF2B5EF4-FFF2-40B4-BE49-F238E27FC236}">
                    <a16:creationId xmlns:a16="http://schemas.microsoft.com/office/drawing/2014/main" id="{A27066CB-1A06-764B-D314-393E65445449}"/>
                  </a:ext>
                </a:extLst>
              </p:cNvPr>
              <p:cNvSpPr txBox="1">
                <a:spLocks noRot="1" noChangeAspect="1" noMove="1" noResize="1" noEditPoints="1" noAdjustHandles="1" noChangeArrowheads="1" noChangeShapeType="1" noTextEdit="1"/>
              </p:cNvSpPr>
              <p:nvPr/>
            </p:nvSpPr>
            <p:spPr>
              <a:xfrm>
                <a:off x="1162197" y="3890286"/>
                <a:ext cx="6096000" cy="707886"/>
              </a:xfrm>
              <a:prstGeom prst="rect">
                <a:avLst/>
              </a:prstGeom>
              <a:blipFill>
                <a:blip r:embed="rId4"/>
                <a:stretch>
                  <a:fillRect t="-3448" b="-15517"/>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45F0707B-6AE3-1682-D0FD-A86A953C4ACF}"/>
              </a:ext>
            </a:extLst>
          </p:cNvPr>
          <p:cNvSpPr txBox="1"/>
          <p:nvPr/>
        </p:nvSpPr>
        <p:spPr>
          <a:xfrm>
            <a:off x="10328701" y="4412873"/>
            <a:ext cx="826882" cy="369332"/>
          </a:xfrm>
          <a:prstGeom prst="rect">
            <a:avLst/>
          </a:prstGeom>
          <a:noFill/>
        </p:spPr>
        <p:txBody>
          <a:bodyPr wrap="square" rtlCol="0">
            <a:spAutoFit/>
          </a:bodyPr>
          <a:lstStyle/>
          <a:p>
            <a:pPr algn="ctr"/>
            <a:r>
              <a:rPr kumimoji="1" lang="en-US" altLang="ja-JP" b="1" dirty="0"/>
              <a:t>MAX</a:t>
            </a:r>
            <a:endParaRPr kumimoji="1" lang="ja-JP" altLang="en-US" b="1" dirty="0"/>
          </a:p>
        </p:txBody>
      </p:sp>
      <p:sp>
        <p:nvSpPr>
          <p:cNvPr id="10" name="テキスト ボックス 9">
            <a:extLst>
              <a:ext uri="{FF2B5EF4-FFF2-40B4-BE49-F238E27FC236}">
                <a16:creationId xmlns:a16="http://schemas.microsoft.com/office/drawing/2014/main" id="{ABE54648-5D01-FF49-CCC6-34C567920C59}"/>
              </a:ext>
            </a:extLst>
          </p:cNvPr>
          <p:cNvSpPr txBox="1"/>
          <p:nvPr/>
        </p:nvSpPr>
        <p:spPr>
          <a:xfrm>
            <a:off x="8800800" y="4418129"/>
            <a:ext cx="826882" cy="369332"/>
          </a:xfrm>
          <a:prstGeom prst="rect">
            <a:avLst/>
          </a:prstGeom>
          <a:noFill/>
        </p:spPr>
        <p:txBody>
          <a:bodyPr wrap="square" rtlCol="0">
            <a:spAutoFit/>
          </a:bodyPr>
          <a:lstStyle/>
          <a:p>
            <a:pPr algn="ctr"/>
            <a:r>
              <a:rPr kumimoji="1" lang="en-US" altLang="ja-JP" b="1" dirty="0"/>
              <a:t>MIN</a:t>
            </a:r>
            <a:endParaRPr kumimoji="1" lang="ja-JP" altLang="en-US" b="1" dirty="0"/>
          </a:p>
        </p:txBody>
      </p:sp>
      <p:cxnSp>
        <p:nvCxnSpPr>
          <p:cNvPr id="12" name="直線コネクタ 11">
            <a:extLst>
              <a:ext uri="{FF2B5EF4-FFF2-40B4-BE49-F238E27FC236}">
                <a16:creationId xmlns:a16="http://schemas.microsoft.com/office/drawing/2014/main" id="{352D3123-8E0A-A88C-2F6A-DC0B10C904A1}"/>
              </a:ext>
            </a:extLst>
          </p:cNvPr>
          <p:cNvCxnSpPr/>
          <p:nvPr/>
        </p:nvCxnSpPr>
        <p:spPr>
          <a:xfrm>
            <a:off x="10373710" y="2669628"/>
            <a:ext cx="0" cy="3153103"/>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A1B66090-0C99-6258-6301-1B6DA5D9C19B}"/>
              </a:ext>
            </a:extLst>
          </p:cNvPr>
          <p:cNvCxnSpPr>
            <a:cxnSpLocks/>
          </p:cNvCxnSpPr>
          <p:nvPr/>
        </p:nvCxnSpPr>
        <p:spPr>
          <a:xfrm>
            <a:off x="9311959" y="4834759"/>
            <a:ext cx="0" cy="987972"/>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15" name="コンテンツ プレースホルダー 2">
            <a:extLst>
              <a:ext uri="{FF2B5EF4-FFF2-40B4-BE49-F238E27FC236}">
                <a16:creationId xmlns:a16="http://schemas.microsoft.com/office/drawing/2014/main" id="{A4DF4635-D233-4DF2-E14A-13EC795C1446}"/>
              </a:ext>
            </a:extLst>
          </p:cNvPr>
          <p:cNvSpPr txBox="1">
            <a:spLocks/>
          </p:cNvSpPr>
          <p:nvPr/>
        </p:nvSpPr>
        <p:spPr>
          <a:xfrm>
            <a:off x="599090" y="4834759"/>
            <a:ext cx="7214701" cy="16089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t>明るすぎる</a:t>
            </a:r>
            <a:r>
              <a:rPr lang="en-US" altLang="ja-JP" dirty="0"/>
              <a:t>(MAX</a:t>
            </a:r>
            <a:r>
              <a:rPr lang="ja-JP" altLang="en-US" dirty="0"/>
              <a:t>より大きい</a:t>
            </a:r>
            <a:r>
              <a:rPr lang="en-US" altLang="ja-JP" dirty="0"/>
              <a:t>)</a:t>
            </a:r>
            <a:r>
              <a:rPr lang="ja-JP" altLang="en-US" dirty="0"/>
              <a:t>色と、</a:t>
            </a:r>
            <a:endParaRPr lang="en-US" altLang="ja-JP" dirty="0"/>
          </a:p>
          <a:p>
            <a:pPr marL="0" indent="0">
              <a:buFont typeface="Arial" panose="020B0604020202020204" pitchFamily="34" charset="0"/>
              <a:buNone/>
            </a:pPr>
            <a:r>
              <a:rPr lang="ja-JP" altLang="en-US" dirty="0"/>
              <a:t>暗すぎる</a:t>
            </a:r>
            <a:r>
              <a:rPr lang="en-US" altLang="ja-JP" dirty="0"/>
              <a:t>(MIN</a:t>
            </a:r>
            <a:r>
              <a:rPr lang="ja-JP" altLang="en-US" dirty="0"/>
              <a:t>未満</a:t>
            </a:r>
            <a:r>
              <a:rPr lang="en-US" altLang="ja-JP" dirty="0"/>
              <a:t>)</a:t>
            </a:r>
            <a:r>
              <a:rPr lang="ja-JP" altLang="en-US" dirty="0"/>
              <a:t>色を、真っ白・真っ黒に。</a:t>
            </a:r>
            <a:endParaRPr lang="en-US" altLang="ja-JP" dirty="0"/>
          </a:p>
          <a:p>
            <a:pPr marL="0" indent="0">
              <a:buFont typeface="Arial" panose="020B0604020202020204" pitchFamily="34" charset="0"/>
              <a:buNone/>
            </a:pPr>
            <a:r>
              <a:rPr lang="ja-JP" altLang="en-US" dirty="0"/>
              <a:t>中間色</a:t>
            </a:r>
            <a:r>
              <a:rPr lang="en-US" altLang="ja-JP" dirty="0"/>
              <a:t>(MIN</a:t>
            </a:r>
            <a:r>
              <a:rPr lang="ja-JP" altLang="en-US" dirty="0"/>
              <a:t>以上</a:t>
            </a:r>
            <a:r>
              <a:rPr lang="en-US" altLang="ja-JP" dirty="0"/>
              <a:t>MAX</a:t>
            </a:r>
            <a:r>
              <a:rPr lang="ja-JP" altLang="en-US" dirty="0"/>
              <a:t>以下</a:t>
            </a:r>
            <a:r>
              <a:rPr lang="en-US" altLang="ja-JP" dirty="0"/>
              <a:t>)</a:t>
            </a:r>
            <a:r>
              <a:rPr lang="ja-JP" altLang="en-US" dirty="0"/>
              <a:t>を</a:t>
            </a:r>
            <a:r>
              <a:rPr lang="en-US" altLang="ja-JP" dirty="0"/>
              <a:t>0</a:t>
            </a:r>
            <a:r>
              <a:rPr lang="ja-JP" altLang="en-US" dirty="0"/>
              <a:t>～</a:t>
            </a:r>
            <a:r>
              <a:rPr lang="en-US" altLang="ja-JP" dirty="0"/>
              <a:t>255</a:t>
            </a:r>
            <a:r>
              <a:rPr lang="ja-JP" altLang="en-US" dirty="0"/>
              <a:t>に分布。</a:t>
            </a:r>
            <a:endParaRPr lang="en-US" altLang="ja-JP" dirty="0"/>
          </a:p>
        </p:txBody>
      </p:sp>
      <p:sp>
        <p:nvSpPr>
          <p:cNvPr id="5" name="フッター プレースホルダー 4">
            <a:extLst>
              <a:ext uri="{FF2B5EF4-FFF2-40B4-BE49-F238E27FC236}">
                <a16:creationId xmlns:a16="http://schemas.microsoft.com/office/drawing/2014/main" id="{B4E9DC12-4B49-1085-82A6-437CB8774919}"/>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7E0466EC-21EB-5A1D-F970-665892CFE6E8}"/>
              </a:ext>
            </a:extLst>
          </p:cNvPr>
          <p:cNvSpPr>
            <a:spLocks noGrp="1"/>
          </p:cNvSpPr>
          <p:nvPr>
            <p:ph type="sldNum" sz="quarter" idx="12"/>
          </p:nvPr>
        </p:nvSpPr>
        <p:spPr/>
        <p:txBody>
          <a:bodyPr/>
          <a:lstStyle/>
          <a:p>
            <a:fld id="{82EE47C2-3066-499F-97BE-8094ED607EB5}" type="slidenum">
              <a:rPr kumimoji="1" lang="ja-JP" altLang="en-US" smtClean="0"/>
              <a:t>12</a:t>
            </a:fld>
            <a:endParaRPr kumimoji="1" lang="ja-JP" altLang="en-US"/>
          </a:p>
        </p:txBody>
      </p:sp>
    </p:spTree>
    <p:extLst>
      <p:ext uri="{BB962C8B-B14F-4D97-AF65-F5344CB8AC3E}">
        <p14:creationId xmlns:p14="http://schemas.microsoft.com/office/powerpoint/2010/main" val="3109585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E8B0CF-E4EB-2A6C-186C-D07AEC762500}"/>
              </a:ext>
            </a:extLst>
          </p:cNvPr>
          <p:cNvSpPr>
            <a:spLocks noGrp="1"/>
          </p:cNvSpPr>
          <p:nvPr>
            <p:ph type="title"/>
          </p:nvPr>
        </p:nvSpPr>
        <p:spPr>
          <a:xfrm>
            <a:off x="838200" y="365125"/>
            <a:ext cx="10515600" cy="843565"/>
          </a:xfrm>
        </p:spPr>
        <p:txBody>
          <a:bodyPr/>
          <a:lstStyle/>
          <a:p>
            <a:r>
              <a:rPr lang="ja-JP" altLang="en-US" b="1" dirty="0"/>
              <a:t>例：ガンマ補正　</a:t>
            </a:r>
            <a:r>
              <a:rPr lang="en-US" altLang="ja-JP" b="1" dirty="0"/>
              <a:t>lut_gamma.py</a:t>
            </a:r>
            <a:endParaRPr kumimoji="1" lang="ja-JP" altLang="en-US" b="1" dirty="0"/>
          </a:p>
        </p:txBody>
      </p:sp>
      <p:sp>
        <p:nvSpPr>
          <p:cNvPr id="3" name="コンテンツ プレースホルダー 2">
            <a:extLst>
              <a:ext uri="{FF2B5EF4-FFF2-40B4-BE49-F238E27FC236}">
                <a16:creationId xmlns:a16="http://schemas.microsoft.com/office/drawing/2014/main" id="{899EFEA5-3A35-58D6-8311-EA228791F6B1}"/>
              </a:ext>
            </a:extLst>
          </p:cNvPr>
          <p:cNvSpPr>
            <a:spLocks noGrp="1"/>
          </p:cNvSpPr>
          <p:nvPr>
            <p:ph idx="1"/>
          </p:nvPr>
        </p:nvSpPr>
        <p:spPr>
          <a:xfrm>
            <a:off x="838199" y="1283881"/>
            <a:ext cx="10901855" cy="4893081"/>
          </a:xfrm>
        </p:spPr>
        <p:txBody>
          <a:bodyPr/>
          <a:lstStyle/>
          <a:p>
            <a:pPr marL="0" indent="0">
              <a:buNone/>
            </a:pPr>
            <a:r>
              <a:rPr kumimoji="1" lang="ja-JP" altLang="en-US" dirty="0"/>
              <a:t>画像を自然に明るめ・暗めに調整するにはガンマ補正を利用します</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B5975BD-0A13-398E-CB5A-F06ABF311C5C}"/>
                  </a:ext>
                </a:extLst>
              </p:cNvPr>
              <p:cNvSpPr txBox="1"/>
              <p:nvPr/>
            </p:nvSpPr>
            <p:spPr>
              <a:xfrm>
                <a:off x="3972554" y="1797671"/>
                <a:ext cx="3857297" cy="629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i="1" smtClean="0">
                              <a:solidFill>
                                <a:schemeClr val="tx1"/>
                              </a:solidFill>
                              <a:latin typeface="Cambria Math" panose="02040503050406030204" pitchFamily="18" charset="0"/>
                            </a:rPr>
                          </m:ctrlPr>
                        </m:sSubPr>
                        <m:e>
                          <m:r>
                            <a:rPr lang="en-US" altLang="ja-JP" sz="1800" b="0" i="1" smtClean="0">
                              <a:solidFill>
                                <a:schemeClr val="tx1"/>
                              </a:solidFill>
                              <a:latin typeface="Cambria Math" panose="02040503050406030204" pitchFamily="18" charset="0"/>
                            </a:rPr>
                            <m:t>𝐼</m:t>
                          </m:r>
                        </m:e>
                        <m:sub>
                          <m:r>
                            <a:rPr lang="en-US" altLang="ja-JP" sz="1800" b="0" i="1" smtClean="0">
                              <a:solidFill>
                                <a:schemeClr val="tx1"/>
                              </a:solidFill>
                              <a:latin typeface="Cambria Math" panose="02040503050406030204" pitchFamily="18" charset="0"/>
                            </a:rPr>
                            <m:t>𝑑𝑠𝑡</m:t>
                          </m:r>
                        </m:sub>
                      </m:sSub>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𝑥</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𝑦</m:t>
                      </m:r>
                      <m:r>
                        <a:rPr lang="en-US" altLang="ja-JP" sz="1800" b="0" i="1" smtClean="0">
                          <a:solidFill>
                            <a:schemeClr val="tx1"/>
                          </a:solidFill>
                          <a:latin typeface="Cambria Math" panose="02040503050406030204" pitchFamily="18" charset="0"/>
                        </a:rPr>
                        <m:t>)=255×</m:t>
                      </m:r>
                      <m:sSup>
                        <m:sSupPr>
                          <m:ctrlPr>
                            <a:rPr lang="en-US" altLang="ja-JP" sz="1800" b="0" i="1" smtClean="0">
                              <a:solidFill>
                                <a:schemeClr val="tx1"/>
                              </a:solidFill>
                              <a:latin typeface="Cambria Math" panose="02040503050406030204" pitchFamily="18" charset="0"/>
                              <a:ea typeface="Cambria Math" panose="02040503050406030204" pitchFamily="18" charset="0"/>
                            </a:rPr>
                          </m:ctrlPr>
                        </m:sSupPr>
                        <m:e>
                          <m:r>
                            <a:rPr lang="en-US" altLang="ja-JP" sz="1800" i="1">
                              <a:solidFill>
                                <a:schemeClr val="tx1"/>
                              </a:solidFill>
                              <a:latin typeface="Cambria Math" panose="02040503050406030204" pitchFamily="18" charset="0"/>
                              <a:ea typeface="Cambria Math" panose="02040503050406030204" pitchFamily="18" charset="0"/>
                            </a:rPr>
                            <m:t>(</m:t>
                          </m:r>
                          <m:f>
                            <m:fPr>
                              <m:ctrlPr>
                                <a:rPr lang="en-US" altLang="ja-JP" sz="1800" i="1">
                                  <a:solidFill>
                                    <a:schemeClr val="tx1"/>
                                  </a:solidFill>
                                  <a:latin typeface="Cambria Math" panose="02040503050406030204" pitchFamily="18" charset="0"/>
                                  <a:ea typeface="Cambria Math" panose="02040503050406030204" pitchFamily="18" charset="0"/>
                                </a:rPr>
                              </m:ctrlPr>
                            </m:fPr>
                            <m:num>
                              <m:sSub>
                                <m:sSubPr>
                                  <m:ctrlPr>
                                    <a:rPr lang="en-US" altLang="ja-JP" sz="1800" i="1">
                                      <a:solidFill>
                                        <a:schemeClr val="tx1"/>
                                      </a:solidFill>
                                      <a:latin typeface="Cambria Math" panose="02040503050406030204" pitchFamily="18" charset="0"/>
                                      <a:ea typeface="Cambria Math" panose="02040503050406030204" pitchFamily="18" charset="0"/>
                                    </a:rPr>
                                  </m:ctrlPr>
                                </m:sSubPr>
                                <m:e>
                                  <m:r>
                                    <a:rPr lang="en-US" altLang="ja-JP" sz="1800" i="1">
                                      <a:solidFill>
                                        <a:schemeClr val="tx1"/>
                                      </a:solidFill>
                                      <a:latin typeface="Cambria Math" panose="02040503050406030204" pitchFamily="18" charset="0"/>
                                      <a:ea typeface="Cambria Math" panose="02040503050406030204" pitchFamily="18" charset="0"/>
                                    </a:rPr>
                                    <m:t>𝐼</m:t>
                                  </m:r>
                                </m:e>
                                <m:sub>
                                  <m:r>
                                    <a:rPr lang="en-US" altLang="ja-JP" sz="1800" i="1">
                                      <a:solidFill>
                                        <a:schemeClr val="tx1"/>
                                      </a:solidFill>
                                      <a:latin typeface="Cambria Math" panose="02040503050406030204" pitchFamily="18" charset="0"/>
                                      <a:ea typeface="Cambria Math" panose="02040503050406030204" pitchFamily="18" charset="0"/>
                                    </a:rPr>
                                    <m:t>𝑠𝑟𝑐</m:t>
                                  </m:r>
                                </m:sub>
                              </m:sSub>
                              <m:d>
                                <m:dPr>
                                  <m:ctrlPr>
                                    <a:rPr lang="en-US" altLang="ja-JP" sz="1800" i="1">
                                      <a:solidFill>
                                        <a:schemeClr val="tx1"/>
                                      </a:solidFill>
                                      <a:latin typeface="Cambria Math" panose="02040503050406030204" pitchFamily="18" charset="0"/>
                                      <a:ea typeface="Cambria Math" panose="02040503050406030204" pitchFamily="18" charset="0"/>
                                    </a:rPr>
                                  </m:ctrlPr>
                                </m:dPr>
                                <m:e>
                                  <m:r>
                                    <a:rPr lang="en-US" altLang="ja-JP" sz="1800" i="1">
                                      <a:solidFill>
                                        <a:schemeClr val="tx1"/>
                                      </a:solidFill>
                                      <a:latin typeface="Cambria Math" panose="02040503050406030204" pitchFamily="18" charset="0"/>
                                      <a:ea typeface="Cambria Math" panose="02040503050406030204" pitchFamily="18" charset="0"/>
                                    </a:rPr>
                                    <m:t>𝑥</m:t>
                                  </m:r>
                                  <m:r>
                                    <a:rPr lang="en-US" altLang="ja-JP" sz="1800" i="1">
                                      <a:solidFill>
                                        <a:schemeClr val="tx1"/>
                                      </a:solidFill>
                                      <a:latin typeface="Cambria Math" panose="02040503050406030204" pitchFamily="18" charset="0"/>
                                      <a:ea typeface="Cambria Math" panose="02040503050406030204" pitchFamily="18" charset="0"/>
                                    </a:rPr>
                                    <m:t>,</m:t>
                                  </m:r>
                                  <m:r>
                                    <a:rPr lang="en-US" altLang="ja-JP" sz="1800" i="1">
                                      <a:solidFill>
                                        <a:schemeClr val="tx1"/>
                                      </a:solidFill>
                                      <a:latin typeface="Cambria Math" panose="02040503050406030204" pitchFamily="18" charset="0"/>
                                      <a:ea typeface="Cambria Math" panose="02040503050406030204" pitchFamily="18" charset="0"/>
                                    </a:rPr>
                                    <m:t>𝑦</m:t>
                                  </m:r>
                                </m:e>
                              </m:d>
                            </m:num>
                            <m:den>
                              <m:r>
                                <a:rPr lang="en-US" altLang="ja-JP" sz="1800" i="1">
                                  <a:solidFill>
                                    <a:schemeClr val="tx1"/>
                                  </a:solidFill>
                                  <a:latin typeface="Cambria Math" panose="02040503050406030204" pitchFamily="18" charset="0"/>
                                  <a:ea typeface="Cambria Math" panose="02040503050406030204" pitchFamily="18" charset="0"/>
                                </a:rPr>
                                <m:t>255</m:t>
                              </m:r>
                            </m:den>
                          </m:f>
                          <m:r>
                            <a:rPr lang="en-US" altLang="ja-JP" sz="1800" i="1">
                              <a:solidFill>
                                <a:schemeClr val="tx1"/>
                              </a:solidFill>
                              <a:latin typeface="Cambria Math" panose="02040503050406030204" pitchFamily="18" charset="0"/>
                              <a:ea typeface="Cambria Math" panose="02040503050406030204" pitchFamily="18" charset="0"/>
                            </a:rPr>
                            <m:t>)</m:t>
                          </m:r>
                        </m:e>
                        <m:sup>
                          <m:r>
                            <a:rPr lang="en-US" altLang="ja-JP" sz="1800" b="0" i="1" smtClean="0">
                              <a:solidFill>
                                <a:schemeClr val="tx1"/>
                              </a:solidFill>
                              <a:latin typeface="Cambria Math" panose="02040503050406030204" pitchFamily="18" charset="0"/>
                              <a:ea typeface="Cambria Math" panose="02040503050406030204" pitchFamily="18" charset="0"/>
                            </a:rPr>
                            <m:t>1/</m:t>
                          </m:r>
                          <m:r>
                            <a:rPr lang="ja-JP" altLang="en-US" sz="1800" b="0" i="1" smtClean="0">
                              <a:solidFill>
                                <a:schemeClr val="tx1"/>
                              </a:solidFill>
                              <a:latin typeface="Cambria Math" panose="02040503050406030204" pitchFamily="18" charset="0"/>
                              <a:ea typeface="Cambria Math" panose="02040503050406030204" pitchFamily="18" charset="0"/>
                            </a:rPr>
                            <m:t>𝛾</m:t>
                          </m:r>
                        </m:sup>
                      </m:sSup>
                    </m:oMath>
                  </m:oMathPara>
                </a14:m>
                <a:endParaRPr lang="ja-JP" altLang="en-US" dirty="0"/>
              </a:p>
            </p:txBody>
          </p:sp>
        </mc:Choice>
        <mc:Fallback xmlns="">
          <p:sp>
            <p:nvSpPr>
              <p:cNvPr id="5" name="テキスト ボックス 4">
                <a:extLst>
                  <a:ext uri="{FF2B5EF4-FFF2-40B4-BE49-F238E27FC236}">
                    <a16:creationId xmlns:a16="http://schemas.microsoft.com/office/drawing/2014/main" id="{1B5975BD-0A13-398E-CB5A-F06ABF311C5C}"/>
                  </a:ext>
                </a:extLst>
              </p:cNvPr>
              <p:cNvSpPr txBox="1">
                <a:spLocks noRot="1" noChangeAspect="1" noMove="1" noResize="1" noEditPoints="1" noAdjustHandles="1" noChangeArrowheads="1" noChangeShapeType="1" noTextEdit="1"/>
              </p:cNvSpPr>
              <p:nvPr/>
            </p:nvSpPr>
            <p:spPr>
              <a:xfrm>
                <a:off x="3972554" y="1797671"/>
                <a:ext cx="3857297" cy="629916"/>
              </a:xfrm>
              <a:prstGeom prst="rect">
                <a:avLst/>
              </a:prstGeom>
              <a:blipFill>
                <a:blip r:embed="rId2"/>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8296CBB7-0E3F-E3FB-0318-D769556966CE}"/>
              </a:ext>
            </a:extLst>
          </p:cNvPr>
          <p:cNvPicPr>
            <a:picLocks noChangeAspect="1"/>
          </p:cNvPicPr>
          <p:nvPr/>
        </p:nvPicPr>
        <p:blipFill>
          <a:blip r:embed="rId3"/>
          <a:stretch>
            <a:fillRect/>
          </a:stretch>
        </p:blipFill>
        <p:spPr>
          <a:xfrm>
            <a:off x="1666191" y="2581717"/>
            <a:ext cx="4235012" cy="3911158"/>
          </a:xfrm>
          <a:prstGeom prst="rect">
            <a:avLst/>
          </a:prstGeom>
        </p:spPr>
      </p:pic>
      <p:pic>
        <p:nvPicPr>
          <p:cNvPr id="7" name="図 6">
            <a:extLst>
              <a:ext uri="{FF2B5EF4-FFF2-40B4-BE49-F238E27FC236}">
                <a16:creationId xmlns:a16="http://schemas.microsoft.com/office/drawing/2014/main" id="{9E457641-6734-8490-A3D4-F9DAA30E51BF}"/>
              </a:ext>
            </a:extLst>
          </p:cNvPr>
          <p:cNvPicPr>
            <a:picLocks noChangeAspect="1"/>
          </p:cNvPicPr>
          <p:nvPr/>
        </p:nvPicPr>
        <p:blipFill>
          <a:blip r:embed="rId4"/>
          <a:stretch>
            <a:fillRect/>
          </a:stretch>
        </p:blipFill>
        <p:spPr>
          <a:xfrm>
            <a:off x="6096000" y="2580667"/>
            <a:ext cx="4235012" cy="3911158"/>
          </a:xfrm>
          <a:prstGeom prst="rect">
            <a:avLst/>
          </a:prstGeom>
        </p:spPr>
      </p:pic>
      <p:sp>
        <p:nvSpPr>
          <p:cNvPr id="8" name="吹き出し: 四角形 7">
            <a:extLst>
              <a:ext uri="{FF2B5EF4-FFF2-40B4-BE49-F238E27FC236}">
                <a16:creationId xmlns:a16="http://schemas.microsoft.com/office/drawing/2014/main" id="{C08945A6-A511-1E2C-7291-4CC6137D5BC1}"/>
              </a:ext>
            </a:extLst>
          </p:cNvPr>
          <p:cNvSpPr/>
          <p:nvPr/>
        </p:nvSpPr>
        <p:spPr>
          <a:xfrm>
            <a:off x="2953971" y="4020897"/>
            <a:ext cx="1527810" cy="688897"/>
          </a:xfrm>
          <a:prstGeom prst="wedgeRectCallout">
            <a:avLst>
              <a:gd name="adj1" fmla="val -33063"/>
              <a:gd name="adj2" fmla="val -92921"/>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kumimoji="1" lang="ja-JP" altLang="en-US" dirty="0"/>
              <a:t>画像を</a:t>
            </a:r>
            <a:endParaRPr kumimoji="1" lang="en-US" altLang="ja-JP" dirty="0"/>
          </a:p>
          <a:p>
            <a:pPr algn="ctr"/>
            <a:r>
              <a:rPr kumimoji="1" lang="ja-JP" altLang="en-US" dirty="0"/>
              <a:t>明るくする</a:t>
            </a:r>
          </a:p>
        </p:txBody>
      </p:sp>
      <p:sp>
        <p:nvSpPr>
          <p:cNvPr id="9" name="吹き出し: 四角形 8">
            <a:extLst>
              <a:ext uri="{FF2B5EF4-FFF2-40B4-BE49-F238E27FC236}">
                <a16:creationId xmlns:a16="http://schemas.microsoft.com/office/drawing/2014/main" id="{E8C18F84-8357-8714-9034-E3AE84E06082}"/>
              </a:ext>
            </a:extLst>
          </p:cNvPr>
          <p:cNvSpPr/>
          <p:nvPr/>
        </p:nvSpPr>
        <p:spPr>
          <a:xfrm>
            <a:off x="7891731" y="4020896"/>
            <a:ext cx="1527810" cy="688897"/>
          </a:xfrm>
          <a:prstGeom prst="wedgeRectCallout">
            <a:avLst>
              <a:gd name="adj1" fmla="val 32274"/>
              <a:gd name="adj2" fmla="val 108393"/>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kumimoji="1" lang="ja-JP" altLang="en-US" dirty="0"/>
              <a:t>画像を</a:t>
            </a:r>
            <a:endParaRPr kumimoji="1" lang="en-US" altLang="ja-JP" dirty="0"/>
          </a:p>
          <a:p>
            <a:pPr algn="ctr"/>
            <a:r>
              <a:rPr kumimoji="1" lang="ja-JP" altLang="en-US" dirty="0"/>
              <a:t>暗くする</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44BF558-BF1E-7CBF-3B24-39A188154C18}"/>
                  </a:ext>
                </a:extLst>
              </p:cNvPr>
              <p:cNvSpPr txBox="1"/>
              <p:nvPr/>
            </p:nvSpPr>
            <p:spPr>
              <a:xfrm>
                <a:off x="2784884" y="5204786"/>
                <a:ext cx="2375339" cy="369332"/>
              </a:xfrm>
              <a:prstGeom prst="rect">
                <a:avLst/>
              </a:prstGeom>
              <a:noFill/>
            </p:spPr>
            <p:txBody>
              <a:bodyPr wrap="square">
                <a:spAutoFit/>
              </a:bodyPr>
              <a:lstStyle/>
              <a:p>
                <a14:m>
                  <m:oMath xmlns:m="http://schemas.openxmlformats.org/officeDocument/2006/math">
                    <m:r>
                      <a:rPr lang="ja-JP" altLang="en-US" sz="1800" b="0" i="1" smtClean="0">
                        <a:solidFill>
                          <a:schemeClr val="tx1"/>
                        </a:solidFill>
                        <a:latin typeface="Cambria Math" panose="02040503050406030204" pitchFamily="18" charset="0"/>
                        <a:ea typeface="Cambria Math" panose="02040503050406030204" pitchFamily="18" charset="0"/>
                      </a:rPr>
                      <m:t>𝛾</m:t>
                    </m:r>
                  </m:oMath>
                </a14:m>
                <a:r>
                  <a:rPr lang="ja-JP" altLang="en-US" dirty="0"/>
                  <a:t> が</a:t>
                </a:r>
                <a:r>
                  <a:rPr lang="en-US" altLang="ja-JP" dirty="0"/>
                  <a:t>1</a:t>
                </a:r>
                <a:r>
                  <a:rPr lang="ja-JP" altLang="en-US" dirty="0"/>
                  <a:t>より小さい場合</a:t>
                </a:r>
              </a:p>
            </p:txBody>
          </p:sp>
        </mc:Choice>
        <mc:Fallback xmlns="">
          <p:sp>
            <p:nvSpPr>
              <p:cNvPr id="11" name="テキスト ボックス 10">
                <a:extLst>
                  <a:ext uri="{FF2B5EF4-FFF2-40B4-BE49-F238E27FC236}">
                    <a16:creationId xmlns:a16="http://schemas.microsoft.com/office/drawing/2014/main" id="{344BF558-BF1E-7CBF-3B24-39A188154C18}"/>
                  </a:ext>
                </a:extLst>
              </p:cNvPr>
              <p:cNvSpPr txBox="1">
                <a:spLocks noRot="1" noChangeAspect="1" noMove="1" noResize="1" noEditPoints="1" noAdjustHandles="1" noChangeArrowheads="1" noChangeShapeType="1" noTextEdit="1"/>
              </p:cNvSpPr>
              <p:nvPr/>
            </p:nvSpPr>
            <p:spPr>
              <a:xfrm>
                <a:off x="2784884" y="5204786"/>
                <a:ext cx="2375339" cy="369332"/>
              </a:xfrm>
              <a:prstGeom prst="rect">
                <a:avLst/>
              </a:prstGeom>
              <a:blipFill>
                <a:blip r:embed="rId5"/>
                <a:stretch>
                  <a:fillRect t="-8333" r="-1285"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D60EB630-3EC2-69C5-2226-1248B0D0F27D}"/>
                  </a:ext>
                </a:extLst>
              </p:cNvPr>
              <p:cNvSpPr txBox="1"/>
              <p:nvPr/>
            </p:nvSpPr>
            <p:spPr>
              <a:xfrm>
                <a:off x="7146677" y="3369835"/>
                <a:ext cx="2375339" cy="369332"/>
              </a:xfrm>
              <a:prstGeom prst="rect">
                <a:avLst/>
              </a:prstGeom>
              <a:noFill/>
            </p:spPr>
            <p:txBody>
              <a:bodyPr wrap="square">
                <a:spAutoFit/>
              </a:bodyPr>
              <a:lstStyle/>
              <a:p>
                <a14:m>
                  <m:oMath xmlns:m="http://schemas.openxmlformats.org/officeDocument/2006/math">
                    <m:r>
                      <a:rPr lang="ja-JP" altLang="en-US" sz="1800" b="0" i="1" smtClean="0">
                        <a:solidFill>
                          <a:schemeClr val="tx1"/>
                        </a:solidFill>
                        <a:latin typeface="Cambria Math" panose="02040503050406030204" pitchFamily="18" charset="0"/>
                        <a:ea typeface="Cambria Math" panose="02040503050406030204" pitchFamily="18" charset="0"/>
                      </a:rPr>
                      <m:t>𝛾</m:t>
                    </m:r>
                  </m:oMath>
                </a14:m>
                <a:r>
                  <a:rPr lang="ja-JP" altLang="en-US" dirty="0"/>
                  <a:t> が</a:t>
                </a:r>
                <a:r>
                  <a:rPr lang="en-US" altLang="ja-JP" dirty="0"/>
                  <a:t>1</a:t>
                </a:r>
                <a:r>
                  <a:rPr lang="ja-JP" altLang="en-US" dirty="0"/>
                  <a:t>より大きい場合</a:t>
                </a:r>
              </a:p>
            </p:txBody>
          </p:sp>
        </mc:Choice>
        <mc:Fallback xmlns="">
          <p:sp>
            <p:nvSpPr>
              <p:cNvPr id="12" name="テキスト ボックス 11">
                <a:extLst>
                  <a:ext uri="{FF2B5EF4-FFF2-40B4-BE49-F238E27FC236}">
                    <a16:creationId xmlns:a16="http://schemas.microsoft.com/office/drawing/2014/main" id="{D60EB630-3EC2-69C5-2226-1248B0D0F27D}"/>
                  </a:ext>
                </a:extLst>
              </p:cNvPr>
              <p:cNvSpPr txBox="1">
                <a:spLocks noRot="1" noChangeAspect="1" noMove="1" noResize="1" noEditPoints="1" noAdjustHandles="1" noChangeArrowheads="1" noChangeShapeType="1" noTextEdit="1"/>
              </p:cNvSpPr>
              <p:nvPr/>
            </p:nvSpPr>
            <p:spPr>
              <a:xfrm>
                <a:off x="7146677" y="3369835"/>
                <a:ext cx="2375339" cy="369332"/>
              </a:xfrm>
              <a:prstGeom prst="rect">
                <a:avLst/>
              </a:prstGeom>
              <a:blipFill>
                <a:blip r:embed="rId6"/>
                <a:stretch>
                  <a:fillRect t="-8333" r="-1282" b="-28333"/>
                </a:stretch>
              </a:blipFill>
            </p:spPr>
            <p:txBody>
              <a:bodyPr/>
              <a:lstStyle/>
              <a:p>
                <a:r>
                  <a:rPr lang="ja-JP" altLang="en-US">
                    <a:noFill/>
                  </a:rPr>
                  <a:t> </a:t>
                </a:r>
              </a:p>
            </p:txBody>
          </p:sp>
        </mc:Fallback>
      </mc:AlternateContent>
      <p:sp>
        <p:nvSpPr>
          <p:cNvPr id="4" name="フッター プレースホルダー 3">
            <a:extLst>
              <a:ext uri="{FF2B5EF4-FFF2-40B4-BE49-F238E27FC236}">
                <a16:creationId xmlns:a16="http://schemas.microsoft.com/office/drawing/2014/main" id="{5681E9A7-C7A7-BC31-0B6A-2EE72105533E}"/>
              </a:ext>
            </a:extLst>
          </p:cNvPr>
          <p:cNvSpPr>
            <a:spLocks noGrp="1"/>
          </p:cNvSpPr>
          <p:nvPr>
            <p:ph type="ftr" sz="quarter" idx="11"/>
          </p:nvPr>
        </p:nvSpPr>
        <p:spPr/>
        <p:txBody>
          <a:bodyPr/>
          <a:lstStyle/>
          <a:p>
            <a:r>
              <a:rPr kumimoji="1" lang="ja-JP" altLang="en-US"/>
              <a:t>ポリテクセンター栃木</a:t>
            </a:r>
          </a:p>
        </p:txBody>
      </p:sp>
      <p:sp>
        <p:nvSpPr>
          <p:cNvPr id="10" name="スライド番号プレースホルダー 9">
            <a:extLst>
              <a:ext uri="{FF2B5EF4-FFF2-40B4-BE49-F238E27FC236}">
                <a16:creationId xmlns:a16="http://schemas.microsoft.com/office/drawing/2014/main" id="{13A0A926-F36E-A37D-C9A2-86FDF4B7E8C9}"/>
              </a:ext>
            </a:extLst>
          </p:cNvPr>
          <p:cNvSpPr>
            <a:spLocks noGrp="1"/>
          </p:cNvSpPr>
          <p:nvPr>
            <p:ph type="sldNum" sz="quarter" idx="12"/>
          </p:nvPr>
        </p:nvSpPr>
        <p:spPr/>
        <p:txBody>
          <a:bodyPr/>
          <a:lstStyle/>
          <a:p>
            <a:fld id="{82EE47C2-3066-499F-97BE-8094ED607EB5}" type="slidenum">
              <a:rPr kumimoji="1" lang="ja-JP" altLang="en-US" smtClean="0"/>
              <a:t>13</a:t>
            </a:fld>
            <a:endParaRPr kumimoji="1" lang="ja-JP" altLang="en-US"/>
          </a:p>
        </p:txBody>
      </p:sp>
    </p:spTree>
    <p:extLst>
      <p:ext uri="{BB962C8B-B14F-4D97-AF65-F5344CB8AC3E}">
        <p14:creationId xmlns:p14="http://schemas.microsoft.com/office/powerpoint/2010/main" val="134523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28B1A3-E900-69B4-92F1-47B6F0F2B5E2}"/>
              </a:ext>
            </a:extLst>
          </p:cNvPr>
          <p:cNvSpPr>
            <a:spLocks noGrp="1"/>
          </p:cNvSpPr>
          <p:nvPr>
            <p:ph type="title"/>
          </p:nvPr>
        </p:nvSpPr>
        <p:spPr>
          <a:xfrm>
            <a:off x="838200" y="365126"/>
            <a:ext cx="10515600" cy="812034"/>
          </a:xfrm>
        </p:spPr>
        <p:txBody>
          <a:bodyPr/>
          <a:lstStyle/>
          <a:p>
            <a:r>
              <a:rPr kumimoji="1" lang="en-US" altLang="ja-JP" dirty="0"/>
              <a:t>LUT</a:t>
            </a:r>
            <a:r>
              <a:rPr kumimoji="1" lang="ja-JP" altLang="en-US" dirty="0"/>
              <a:t>の使い方まとめ</a:t>
            </a:r>
          </a:p>
        </p:txBody>
      </p:sp>
      <p:sp>
        <p:nvSpPr>
          <p:cNvPr id="3" name="コンテンツ プレースホルダー 2">
            <a:extLst>
              <a:ext uri="{FF2B5EF4-FFF2-40B4-BE49-F238E27FC236}">
                <a16:creationId xmlns:a16="http://schemas.microsoft.com/office/drawing/2014/main" id="{AB36710A-DACE-ECD2-B4E1-B7495E1748E2}"/>
              </a:ext>
            </a:extLst>
          </p:cNvPr>
          <p:cNvSpPr>
            <a:spLocks noGrp="1"/>
          </p:cNvSpPr>
          <p:nvPr>
            <p:ph idx="1"/>
          </p:nvPr>
        </p:nvSpPr>
        <p:spPr>
          <a:xfrm>
            <a:off x="838200" y="1408989"/>
            <a:ext cx="10515600" cy="4999803"/>
          </a:xfrm>
        </p:spPr>
        <p:txBody>
          <a:bodyPr>
            <a:normAutofit fontScale="92500" lnSpcReduction="10000"/>
          </a:bodyPr>
          <a:lstStyle/>
          <a:p>
            <a:pPr marL="0" indent="0">
              <a:buNone/>
            </a:pPr>
            <a:r>
              <a:rPr kumimoji="1" lang="ja-JP" altLang="en-US" sz="2400" dirty="0"/>
              <a:t>① </a:t>
            </a:r>
            <a:r>
              <a:rPr kumimoji="1" lang="en-US" altLang="ja-JP" sz="2400" dirty="0" err="1"/>
              <a:t>Numpy</a:t>
            </a:r>
            <a:r>
              <a:rPr kumimoji="1" lang="ja-JP" altLang="en-US" sz="2400" dirty="0"/>
              <a:t>配列で</a:t>
            </a:r>
            <a:r>
              <a:rPr kumimoji="1" lang="en-US" altLang="ja-JP" sz="2400" dirty="0"/>
              <a:t>LUT</a:t>
            </a:r>
            <a:r>
              <a:rPr kumimoji="1" lang="ja-JP" altLang="en-US" sz="2400" dirty="0"/>
              <a:t>を作成するために</a:t>
            </a:r>
            <a:endParaRPr kumimoji="1" lang="en-US" altLang="ja-JP" sz="2400" dirty="0"/>
          </a:p>
          <a:p>
            <a:pPr marL="0" indent="0" algn="ctr">
              <a:buNone/>
            </a:pPr>
            <a:r>
              <a:rPr lang="en-US" altLang="ja-JP" b="0" dirty="0">
                <a:solidFill>
                  <a:srgbClr val="AF00DB"/>
                </a:solidFill>
                <a:effectLst/>
                <a:latin typeface="Consolas" panose="020B0609020204030204" pitchFamily="49" charset="0"/>
              </a:rPr>
              <a:t>import</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numpy</a:t>
            </a:r>
            <a:r>
              <a:rPr lang="en-US" altLang="ja-JP" b="0" dirty="0">
                <a:solidFill>
                  <a:srgbClr val="000000"/>
                </a:solidFill>
                <a:effectLst/>
                <a:latin typeface="Consolas" panose="020B0609020204030204" pitchFamily="49" charset="0"/>
              </a:rPr>
              <a:t> </a:t>
            </a:r>
            <a:r>
              <a:rPr lang="en-US" altLang="ja-JP" b="0" dirty="0">
                <a:solidFill>
                  <a:srgbClr val="AF00DB"/>
                </a:solidFill>
                <a:effectLst/>
                <a:latin typeface="Consolas" panose="020B0609020204030204" pitchFamily="49" charset="0"/>
              </a:rPr>
              <a:t>as</a:t>
            </a:r>
            <a:r>
              <a:rPr lang="en-US" altLang="ja-JP" b="0" dirty="0">
                <a:solidFill>
                  <a:srgbClr val="000000"/>
                </a:solidFill>
                <a:effectLst/>
                <a:latin typeface="Consolas" panose="020B0609020204030204" pitchFamily="49" charset="0"/>
              </a:rPr>
              <a:t> np</a:t>
            </a:r>
          </a:p>
          <a:p>
            <a:pPr marL="0" indent="0">
              <a:buNone/>
            </a:pPr>
            <a:endParaRPr lang="en-US" altLang="ja-JP" sz="2400" dirty="0"/>
          </a:p>
          <a:p>
            <a:pPr marL="0" indent="0">
              <a:buNone/>
            </a:pPr>
            <a:r>
              <a:rPr lang="ja-JP" altLang="en-US" sz="2400" dirty="0"/>
              <a:t>② 変換後の濃度値を格納する</a:t>
            </a:r>
            <a:r>
              <a:rPr lang="en-US" altLang="ja-JP" sz="2400" dirty="0" err="1"/>
              <a:t>Numpy</a:t>
            </a:r>
            <a:r>
              <a:rPr lang="ja-JP" altLang="en-US" sz="2400" dirty="0"/>
              <a:t>配列を準備</a:t>
            </a:r>
            <a:endParaRPr lang="en-US" altLang="ja-JP" sz="2400" dirty="0"/>
          </a:p>
          <a:p>
            <a:pPr marL="0" indent="0" algn="ctr">
              <a:buNone/>
            </a:pPr>
            <a:r>
              <a:rPr lang="en-US" altLang="ja-JP" b="0" dirty="0" err="1">
                <a:solidFill>
                  <a:srgbClr val="000000"/>
                </a:solidFill>
                <a:effectLst/>
                <a:latin typeface="Consolas" panose="020B0609020204030204" pitchFamily="49" charset="0"/>
              </a:rPr>
              <a:t>lut</a:t>
            </a:r>
            <a:r>
              <a:rPr lang="en-US" altLang="ja-JP" b="0" dirty="0">
                <a:solidFill>
                  <a:srgbClr val="000000"/>
                </a:solidFill>
                <a:effectLst/>
                <a:latin typeface="Consolas" panose="020B0609020204030204" pitchFamily="49" charset="0"/>
              </a:rPr>
              <a:t> = </a:t>
            </a:r>
            <a:r>
              <a:rPr lang="en-US" altLang="ja-JP" b="0" dirty="0" err="1">
                <a:solidFill>
                  <a:srgbClr val="000000"/>
                </a:solidFill>
                <a:effectLst/>
                <a:latin typeface="Consolas" panose="020B0609020204030204" pitchFamily="49" charset="0"/>
              </a:rPr>
              <a:t>np.zeros</a:t>
            </a:r>
            <a:r>
              <a:rPr lang="en-US" altLang="ja-JP" b="0" dirty="0">
                <a:solidFill>
                  <a:srgbClr val="000000"/>
                </a:solidFill>
                <a:effectLst/>
                <a:latin typeface="Consolas" panose="020B0609020204030204" pitchFamily="49" charset="0"/>
              </a:rPr>
              <a:t>(</a:t>
            </a:r>
            <a:r>
              <a:rPr lang="en-US" altLang="ja-JP" b="0" dirty="0">
                <a:solidFill>
                  <a:srgbClr val="098658"/>
                </a:solidFill>
                <a:effectLst/>
                <a:latin typeface="Consolas" panose="020B0609020204030204" pitchFamily="49" charset="0"/>
              </a:rPr>
              <a:t>256</a:t>
            </a:r>
            <a:r>
              <a:rPr lang="en-US" altLang="ja-JP" b="0" dirty="0">
                <a:solidFill>
                  <a:srgbClr val="000000"/>
                </a:solidFill>
                <a:effectLst/>
                <a:latin typeface="Consolas" panose="020B0609020204030204" pitchFamily="49" charset="0"/>
              </a:rPr>
              <a:t>, </a:t>
            </a:r>
            <a:r>
              <a:rPr lang="en-US" altLang="ja-JP" b="0" dirty="0" err="1">
                <a:solidFill>
                  <a:srgbClr val="001080"/>
                </a:solidFill>
                <a:effectLst/>
                <a:latin typeface="Consolas" panose="020B0609020204030204" pitchFamily="49" charset="0"/>
              </a:rPr>
              <a:t>dtype</a:t>
            </a:r>
            <a:r>
              <a:rPr lang="en-US" altLang="ja-JP" b="0" dirty="0">
                <a:solidFill>
                  <a:srgbClr val="000000"/>
                </a:solidFill>
                <a:effectLst/>
                <a:latin typeface="Consolas" panose="020B0609020204030204" pitchFamily="49" charset="0"/>
              </a:rPr>
              <a:t>=np.uint8)</a:t>
            </a:r>
          </a:p>
          <a:p>
            <a:pPr marL="0" indent="0">
              <a:buNone/>
            </a:pPr>
            <a:endParaRPr lang="en-US" altLang="ja-JP" sz="2400" dirty="0"/>
          </a:p>
          <a:p>
            <a:pPr marL="0" indent="0">
              <a:buNone/>
            </a:pPr>
            <a:r>
              <a:rPr lang="ja-JP" altLang="en-US" sz="2400" dirty="0"/>
              <a:t>③ 元画像の濃度 </a:t>
            </a:r>
            <a:r>
              <a:rPr lang="en-US" altLang="ja-JP" sz="2400" b="0" dirty="0" err="1">
                <a:solidFill>
                  <a:srgbClr val="000000"/>
                </a:solidFill>
                <a:effectLst/>
                <a:latin typeface="Consolas" panose="020B0609020204030204" pitchFamily="49" charset="0"/>
              </a:rPr>
              <a:t>i</a:t>
            </a:r>
            <a:r>
              <a:rPr lang="ja-JP" altLang="en-US" sz="2400" dirty="0"/>
              <a:t> に対応する </a:t>
            </a:r>
            <a:r>
              <a:rPr lang="en-US" altLang="ja-JP" sz="2400" b="0" dirty="0" err="1">
                <a:solidFill>
                  <a:srgbClr val="000000"/>
                </a:solidFill>
                <a:effectLst/>
                <a:latin typeface="Consolas" panose="020B0609020204030204" pitchFamily="49" charset="0"/>
              </a:rPr>
              <a:t>lut</a:t>
            </a:r>
            <a:r>
              <a:rPr lang="en-US" altLang="ja-JP" sz="2400" b="0" dirty="0">
                <a:solidFill>
                  <a:srgbClr val="000000"/>
                </a:solidFill>
                <a:effectLst/>
                <a:latin typeface="Consolas" panose="020B0609020204030204" pitchFamily="49" charset="0"/>
              </a:rPr>
              <a:t>[</a:t>
            </a:r>
            <a:r>
              <a:rPr lang="en-US" altLang="ja-JP" sz="2400" b="0" dirty="0" err="1">
                <a:solidFill>
                  <a:srgbClr val="000000"/>
                </a:solidFill>
                <a:effectLst/>
                <a:latin typeface="Consolas" panose="020B0609020204030204" pitchFamily="49" charset="0"/>
              </a:rPr>
              <a:t>i</a:t>
            </a:r>
            <a:r>
              <a:rPr lang="en-US" altLang="ja-JP" sz="2400" b="0" dirty="0">
                <a:solidFill>
                  <a:srgbClr val="000000"/>
                </a:solidFill>
                <a:effectLst/>
                <a:latin typeface="Consolas" panose="020B0609020204030204" pitchFamily="49" charset="0"/>
              </a:rPr>
              <a:t>] </a:t>
            </a:r>
            <a:r>
              <a:rPr lang="ja-JP" altLang="en-US" sz="2400" dirty="0"/>
              <a:t>を順次格納</a:t>
            </a:r>
            <a:endParaRPr lang="en-US" altLang="ja-JP" sz="2400" dirty="0"/>
          </a:p>
          <a:p>
            <a:pPr marL="0" indent="0">
              <a:buNone/>
            </a:pPr>
            <a:r>
              <a:rPr lang="ja-JP" altLang="en-US" b="0" dirty="0">
                <a:solidFill>
                  <a:srgbClr val="AF00DB"/>
                </a:solidFill>
                <a:effectLst/>
                <a:latin typeface="Consolas" panose="020B0609020204030204" pitchFamily="49" charset="0"/>
              </a:rPr>
              <a:t>　　　　　　</a:t>
            </a:r>
            <a:r>
              <a:rPr lang="nn-NO" altLang="ja-JP" b="0" dirty="0">
                <a:solidFill>
                  <a:srgbClr val="AF00DB"/>
                </a:solidFill>
                <a:effectLst/>
                <a:latin typeface="Consolas" panose="020B0609020204030204" pitchFamily="49" charset="0"/>
              </a:rPr>
              <a:t>for</a:t>
            </a:r>
            <a:r>
              <a:rPr lang="nn-NO" altLang="ja-JP" b="0" dirty="0">
                <a:solidFill>
                  <a:srgbClr val="000000"/>
                </a:solidFill>
                <a:effectLst/>
                <a:latin typeface="Consolas" panose="020B0609020204030204" pitchFamily="49" charset="0"/>
              </a:rPr>
              <a:t> i </a:t>
            </a:r>
            <a:r>
              <a:rPr lang="nn-NO" altLang="ja-JP" b="0" dirty="0">
                <a:solidFill>
                  <a:srgbClr val="AF00DB"/>
                </a:solidFill>
                <a:effectLst/>
                <a:latin typeface="Consolas" panose="020B0609020204030204" pitchFamily="49" charset="0"/>
              </a:rPr>
              <a:t>in</a:t>
            </a:r>
            <a:r>
              <a:rPr lang="nn-NO" altLang="ja-JP" b="0" dirty="0">
                <a:solidFill>
                  <a:srgbClr val="000000"/>
                </a:solidFill>
                <a:effectLst/>
                <a:latin typeface="Consolas" panose="020B0609020204030204" pitchFamily="49" charset="0"/>
              </a:rPr>
              <a:t> </a:t>
            </a:r>
            <a:r>
              <a:rPr lang="nn-NO" altLang="ja-JP" b="0" dirty="0">
                <a:solidFill>
                  <a:srgbClr val="795E26"/>
                </a:solidFill>
                <a:effectLst/>
                <a:latin typeface="Consolas" panose="020B0609020204030204" pitchFamily="49" charset="0"/>
              </a:rPr>
              <a:t>range</a:t>
            </a:r>
            <a:r>
              <a:rPr lang="nn-NO" altLang="ja-JP" b="0" dirty="0">
                <a:solidFill>
                  <a:srgbClr val="000000"/>
                </a:solidFill>
                <a:effectLst/>
                <a:latin typeface="Consolas" panose="020B0609020204030204" pitchFamily="49" charset="0"/>
              </a:rPr>
              <a:t>(</a:t>
            </a:r>
            <a:r>
              <a:rPr lang="nn-NO" altLang="ja-JP" b="0" dirty="0">
                <a:solidFill>
                  <a:srgbClr val="098658"/>
                </a:solidFill>
                <a:effectLst/>
                <a:latin typeface="Consolas" panose="020B0609020204030204" pitchFamily="49" charset="0"/>
              </a:rPr>
              <a:t>256</a:t>
            </a:r>
            <a:r>
              <a:rPr lang="nn-NO" altLang="ja-JP" b="0" dirty="0">
                <a:solidFill>
                  <a:srgbClr val="000000"/>
                </a:solidFill>
                <a:effectLst/>
                <a:latin typeface="Consolas" panose="020B0609020204030204" pitchFamily="49" charset="0"/>
              </a:rPr>
              <a:t>):</a:t>
            </a:r>
          </a:p>
          <a:p>
            <a:pPr marL="0" indent="0" algn="ctr">
              <a:buNone/>
            </a:pPr>
            <a:r>
              <a:rPr lang="nn-NO" altLang="ja-JP" b="0" dirty="0">
                <a:solidFill>
                  <a:srgbClr val="000000"/>
                </a:solidFill>
                <a:effectLst/>
                <a:latin typeface="Consolas" panose="020B0609020204030204" pitchFamily="49" charset="0"/>
              </a:rPr>
              <a:t>    lut[i] = </a:t>
            </a:r>
            <a:r>
              <a:rPr lang="nn-NO" altLang="ja-JP" b="0" dirty="0">
                <a:solidFill>
                  <a:srgbClr val="098658"/>
                </a:solidFill>
                <a:effectLst/>
                <a:latin typeface="Consolas" panose="020B0609020204030204" pitchFamily="49" charset="0"/>
              </a:rPr>
              <a:t>...(</a:t>
            </a:r>
            <a:r>
              <a:rPr lang="ja-JP" altLang="en-US" b="0" dirty="0">
                <a:solidFill>
                  <a:srgbClr val="098658"/>
                </a:solidFill>
                <a:effectLst/>
                <a:latin typeface="Consolas" panose="020B0609020204030204" pitchFamily="49" charset="0"/>
              </a:rPr>
              <a:t>具体的な式</a:t>
            </a:r>
            <a:r>
              <a:rPr lang="nn-NO" altLang="ja-JP" b="0" dirty="0">
                <a:solidFill>
                  <a:srgbClr val="098658"/>
                </a:solidFill>
                <a:effectLst/>
                <a:latin typeface="Consolas" panose="020B0609020204030204" pitchFamily="49" charset="0"/>
              </a:rPr>
              <a:t>)</a:t>
            </a:r>
            <a:endParaRPr lang="nn-NO" altLang="ja-JP" b="0" dirty="0">
              <a:solidFill>
                <a:srgbClr val="000000"/>
              </a:solidFill>
              <a:effectLst/>
              <a:latin typeface="Consolas" panose="020B0609020204030204" pitchFamily="49" charset="0"/>
            </a:endParaRPr>
          </a:p>
          <a:p>
            <a:pPr marL="0" indent="0">
              <a:buNone/>
            </a:pPr>
            <a:endParaRPr lang="en-US" altLang="ja-JP" sz="2400" dirty="0"/>
          </a:p>
          <a:p>
            <a:pPr marL="0" indent="0">
              <a:buNone/>
            </a:pPr>
            <a:r>
              <a:rPr lang="ja-JP" altLang="en-US" sz="2400" dirty="0"/>
              <a:t>④ </a:t>
            </a:r>
            <a:r>
              <a:rPr lang="en-US" altLang="ja-JP" sz="2400" dirty="0"/>
              <a:t>LUT</a:t>
            </a:r>
            <a:r>
              <a:rPr lang="ja-JP" altLang="en-US" sz="2400" dirty="0"/>
              <a:t>を画像に適用</a:t>
            </a:r>
            <a:endParaRPr lang="en-US" altLang="ja-JP" sz="2400" dirty="0"/>
          </a:p>
          <a:p>
            <a:pPr marL="0" indent="0" algn="ctr">
              <a:buNone/>
            </a:pPr>
            <a:r>
              <a:rPr lang="fr-FR" altLang="ja-JP" b="0" dirty="0">
                <a:solidFill>
                  <a:srgbClr val="000000"/>
                </a:solidFill>
                <a:effectLst/>
                <a:latin typeface="Consolas" panose="020B0609020204030204" pitchFamily="49" charset="0"/>
              </a:rPr>
              <a:t>img_dst = cv2.LUT(img_src, lut)</a:t>
            </a:r>
            <a:endParaRPr lang="en-US" altLang="ja-JP" dirty="0"/>
          </a:p>
          <a:p>
            <a:pPr marL="0" indent="0">
              <a:buNone/>
            </a:pPr>
            <a:endParaRPr kumimoji="1" lang="ja-JP" altLang="en-US" dirty="0"/>
          </a:p>
        </p:txBody>
      </p:sp>
      <p:sp>
        <p:nvSpPr>
          <p:cNvPr id="4" name="フッター プレースホルダー 3">
            <a:extLst>
              <a:ext uri="{FF2B5EF4-FFF2-40B4-BE49-F238E27FC236}">
                <a16:creationId xmlns:a16="http://schemas.microsoft.com/office/drawing/2014/main" id="{4FA83632-FB55-1DFB-1EB4-9A5B9F3EF471}"/>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2AB6C8A3-7755-25E8-06A8-502C615EFB02}"/>
              </a:ext>
            </a:extLst>
          </p:cNvPr>
          <p:cNvSpPr>
            <a:spLocks noGrp="1"/>
          </p:cNvSpPr>
          <p:nvPr>
            <p:ph type="sldNum" sz="quarter" idx="12"/>
          </p:nvPr>
        </p:nvSpPr>
        <p:spPr/>
        <p:txBody>
          <a:bodyPr/>
          <a:lstStyle/>
          <a:p>
            <a:fld id="{82EE47C2-3066-499F-97BE-8094ED607EB5}" type="slidenum">
              <a:rPr kumimoji="1" lang="ja-JP" altLang="en-US" smtClean="0"/>
              <a:t>14</a:t>
            </a:fld>
            <a:endParaRPr kumimoji="1" lang="ja-JP" altLang="en-US"/>
          </a:p>
        </p:txBody>
      </p:sp>
    </p:spTree>
    <p:extLst>
      <p:ext uri="{BB962C8B-B14F-4D97-AF65-F5344CB8AC3E}">
        <p14:creationId xmlns:p14="http://schemas.microsoft.com/office/powerpoint/2010/main" val="1948092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D1518-6B9B-347C-A323-BEF8690883FD}"/>
              </a:ext>
            </a:extLst>
          </p:cNvPr>
          <p:cNvSpPr>
            <a:spLocks noGrp="1"/>
          </p:cNvSpPr>
          <p:nvPr>
            <p:ph type="title"/>
          </p:nvPr>
        </p:nvSpPr>
        <p:spPr/>
        <p:txBody>
          <a:bodyPr/>
          <a:lstStyle/>
          <a:p>
            <a:r>
              <a:rPr kumimoji="1" lang="ja-JP" altLang="en-US" dirty="0"/>
              <a:t>練習</a:t>
            </a:r>
          </a:p>
        </p:txBody>
      </p:sp>
      <p:sp>
        <p:nvSpPr>
          <p:cNvPr id="3" name="コンテンツ プレースホルダー 2">
            <a:extLst>
              <a:ext uri="{FF2B5EF4-FFF2-40B4-BE49-F238E27FC236}">
                <a16:creationId xmlns:a16="http://schemas.microsoft.com/office/drawing/2014/main" id="{39A7E88C-C6B9-A93C-EA9B-2C61888F3C6B}"/>
              </a:ext>
            </a:extLst>
          </p:cNvPr>
          <p:cNvSpPr>
            <a:spLocks noGrp="1"/>
          </p:cNvSpPr>
          <p:nvPr>
            <p:ph idx="1"/>
          </p:nvPr>
        </p:nvSpPr>
        <p:spPr>
          <a:xfrm>
            <a:off x="838200" y="1625665"/>
            <a:ext cx="10515600" cy="4351338"/>
          </a:xfrm>
        </p:spPr>
        <p:txBody>
          <a:bodyPr/>
          <a:lstStyle/>
          <a:p>
            <a:r>
              <a:rPr kumimoji="1" lang="ja-JP" altLang="en-US" dirty="0"/>
              <a:t>右の</a:t>
            </a:r>
            <a:r>
              <a:rPr kumimoji="1" lang="en-US" altLang="ja-JP" dirty="0"/>
              <a:t>LUT</a:t>
            </a:r>
            <a:r>
              <a:rPr kumimoji="1" lang="ja-JP" altLang="en-US" dirty="0"/>
              <a:t>で画像はどうなるか考えてみましょう</a:t>
            </a:r>
            <a:endParaRPr kumimoji="1" lang="en-US" altLang="ja-JP" dirty="0"/>
          </a:p>
          <a:p>
            <a:r>
              <a:rPr lang="ja-JP" altLang="en-US" dirty="0"/>
              <a:t>右の</a:t>
            </a:r>
            <a:r>
              <a:rPr lang="en-US" altLang="ja-JP" dirty="0"/>
              <a:t>LUT</a:t>
            </a:r>
            <a:r>
              <a:rPr lang="ja-JP" altLang="en-US" dirty="0"/>
              <a:t>を書いた</a:t>
            </a:r>
            <a:r>
              <a:rPr lang="en-US" altLang="ja-JP" dirty="0"/>
              <a:t>lut_np.py</a:t>
            </a:r>
            <a:r>
              <a:rPr lang="ja-JP" altLang="en-US" dirty="0"/>
              <a:t>を作成してください</a:t>
            </a:r>
            <a:endParaRPr kumimoji="1" lang="ja-JP" altLang="en-US" dirty="0"/>
          </a:p>
        </p:txBody>
      </p:sp>
      <p:pic>
        <p:nvPicPr>
          <p:cNvPr id="4" name="図 3">
            <a:extLst>
              <a:ext uri="{FF2B5EF4-FFF2-40B4-BE49-F238E27FC236}">
                <a16:creationId xmlns:a16="http://schemas.microsoft.com/office/drawing/2014/main" id="{13C33724-72BF-4D75-3FEC-5EFB0EBD60B0}"/>
              </a:ext>
            </a:extLst>
          </p:cNvPr>
          <p:cNvPicPr>
            <a:picLocks noChangeAspect="1"/>
          </p:cNvPicPr>
          <p:nvPr/>
        </p:nvPicPr>
        <p:blipFill>
          <a:blip r:embed="rId2"/>
          <a:stretch>
            <a:fillRect/>
          </a:stretch>
        </p:blipFill>
        <p:spPr>
          <a:xfrm>
            <a:off x="4974990" y="2615978"/>
            <a:ext cx="4037811" cy="3729037"/>
          </a:xfrm>
          <a:prstGeom prst="rect">
            <a:avLst/>
          </a:prstGeom>
        </p:spPr>
      </p:pic>
      <p:pic>
        <p:nvPicPr>
          <p:cNvPr id="5" name="図 4">
            <a:extLst>
              <a:ext uri="{FF2B5EF4-FFF2-40B4-BE49-F238E27FC236}">
                <a16:creationId xmlns:a16="http://schemas.microsoft.com/office/drawing/2014/main" id="{F5C4530B-D30C-B17A-E9E3-DA8F98795876}"/>
              </a:ext>
            </a:extLst>
          </p:cNvPr>
          <p:cNvPicPr>
            <a:picLocks noChangeAspect="1"/>
          </p:cNvPicPr>
          <p:nvPr/>
        </p:nvPicPr>
        <p:blipFill>
          <a:blip r:embed="rId3"/>
          <a:stretch>
            <a:fillRect/>
          </a:stretch>
        </p:blipFill>
        <p:spPr>
          <a:xfrm>
            <a:off x="9305275" y="1306483"/>
            <a:ext cx="2409133" cy="4965764"/>
          </a:xfrm>
          <a:prstGeom prst="rect">
            <a:avLst/>
          </a:prstGeom>
        </p:spPr>
      </p:pic>
      <p:sp>
        <p:nvSpPr>
          <p:cNvPr id="6" name="フッター プレースホルダー 5">
            <a:extLst>
              <a:ext uri="{FF2B5EF4-FFF2-40B4-BE49-F238E27FC236}">
                <a16:creationId xmlns:a16="http://schemas.microsoft.com/office/drawing/2014/main" id="{C24D01E8-B360-5119-6FB6-E3E54B6BEA93}"/>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94845DBA-C5EF-179E-5924-5349EEE3D5FE}"/>
              </a:ext>
            </a:extLst>
          </p:cNvPr>
          <p:cNvSpPr>
            <a:spLocks noGrp="1"/>
          </p:cNvSpPr>
          <p:nvPr>
            <p:ph type="sldNum" sz="quarter" idx="12"/>
          </p:nvPr>
        </p:nvSpPr>
        <p:spPr/>
        <p:txBody>
          <a:bodyPr/>
          <a:lstStyle/>
          <a:p>
            <a:fld id="{82EE47C2-3066-499F-97BE-8094ED607EB5}" type="slidenum">
              <a:rPr kumimoji="1" lang="ja-JP" altLang="en-US" smtClean="0"/>
              <a:t>15</a:t>
            </a:fld>
            <a:endParaRPr kumimoji="1" lang="ja-JP" altLang="en-US"/>
          </a:p>
        </p:txBody>
      </p:sp>
    </p:spTree>
    <p:extLst>
      <p:ext uri="{BB962C8B-B14F-4D97-AF65-F5344CB8AC3E}">
        <p14:creationId xmlns:p14="http://schemas.microsoft.com/office/powerpoint/2010/main" val="810506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lang="ja-JP" altLang="en-US" b="1" dirty="0"/>
              <a:t>フィルタリング</a:t>
            </a:r>
            <a:endParaRPr kumimoji="1" lang="ja-JP" altLang="en-US" b="1" dirty="0"/>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lstStyle/>
          <a:p>
            <a:r>
              <a:rPr kumimoji="1" lang="ja-JP" altLang="en-US" dirty="0"/>
              <a:t>入力画像に何かしらのフィルタ処理を行うことを、画像の</a:t>
            </a:r>
            <a:r>
              <a:rPr kumimoji="1" lang="ja-JP" altLang="en-US" b="1" dirty="0"/>
              <a:t>フィルタリング</a:t>
            </a:r>
            <a:r>
              <a:rPr kumimoji="1" lang="ja-JP" altLang="en-US" dirty="0"/>
              <a:t>という</a:t>
            </a:r>
            <a:endParaRPr kumimoji="1" lang="en-US" altLang="ja-JP" dirty="0"/>
          </a:p>
          <a:p>
            <a:r>
              <a:rPr lang="ja-JP" altLang="en-US" dirty="0"/>
              <a:t>ノイズ除去、輪郭</a:t>
            </a:r>
            <a:r>
              <a:rPr lang="en-US" altLang="ja-JP" dirty="0"/>
              <a:t>(</a:t>
            </a:r>
            <a:r>
              <a:rPr lang="ja-JP" altLang="en-US" dirty="0"/>
              <a:t>エッジ</a:t>
            </a:r>
            <a:r>
              <a:rPr lang="en-US" altLang="ja-JP" dirty="0"/>
              <a:t>)</a:t>
            </a:r>
            <a:r>
              <a:rPr lang="ja-JP" altLang="en-US" dirty="0"/>
              <a:t>検出、鮮明化 などができる</a:t>
            </a:r>
            <a:endParaRPr lang="en-US" altLang="ja-JP" dirty="0"/>
          </a:p>
          <a:p>
            <a:r>
              <a:rPr kumimoji="1" lang="ja-JP" altLang="en-US" dirty="0"/>
              <a:t>フィルタリングには周波数領域</a:t>
            </a:r>
            <a:r>
              <a:rPr lang="ja-JP" altLang="en-US" dirty="0"/>
              <a:t>でのフィルタリングと、空間領域でのフィルタリングの２種類がある</a:t>
            </a:r>
            <a:endParaRPr lang="en-US" altLang="ja-JP" dirty="0"/>
          </a:p>
          <a:p>
            <a:endParaRPr kumimoji="1" lang="en-US" altLang="ja-JP" dirty="0"/>
          </a:p>
          <a:p>
            <a:r>
              <a:rPr lang="ja-JP" altLang="en-US" dirty="0"/>
              <a:t>今回は空間領域でのフィルタリングのみを実施</a:t>
            </a:r>
            <a:endParaRPr lang="en-US" altLang="ja-JP" dirty="0"/>
          </a:p>
          <a:p>
            <a:r>
              <a:rPr kumimoji="1" lang="ja-JP" altLang="en-US" dirty="0"/>
              <a:t>周波数フィルタリングは資料だけ用意しているので、時間が余れば説明します</a:t>
            </a:r>
          </a:p>
        </p:txBody>
      </p:sp>
      <p:sp>
        <p:nvSpPr>
          <p:cNvPr id="4" name="フッター プレースホルダー 3">
            <a:extLst>
              <a:ext uri="{FF2B5EF4-FFF2-40B4-BE49-F238E27FC236}">
                <a16:creationId xmlns:a16="http://schemas.microsoft.com/office/drawing/2014/main" id="{DA17F098-D33F-1F47-30E2-3E3F0A9DD68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5D75D6DB-B061-6552-AC2D-A5E66F8980B2}"/>
              </a:ext>
            </a:extLst>
          </p:cNvPr>
          <p:cNvSpPr>
            <a:spLocks noGrp="1"/>
          </p:cNvSpPr>
          <p:nvPr>
            <p:ph type="sldNum" sz="quarter" idx="12"/>
          </p:nvPr>
        </p:nvSpPr>
        <p:spPr/>
        <p:txBody>
          <a:bodyPr/>
          <a:lstStyle/>
          <a:p>
            <a:fld id="{82EE47C2-3066-499F-97BE-8094ED607EB5}" type="slidenum">
              <a:rPr kumimoji="1" lang="ja-JP" altLang="en-US" smtClean="0"/>
              <a:t>16</a:t>
            </a:fld>
            <a:endParaRPr kumimoji="1" lang="ja-JP" altLang="en-US"/>
          </a:p>
        </p:txBody>
      </p:sp>
    </p:spTree>
    <p:extLst>
      <p:ext uri="{BB962C8B-B14F-4D97-AF65-F5344CB8AC3E}">
        <p14:creationId xmlns:p14="http://schemas.microsoft.com/office/powerpoint/2010/main" val="1086461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lang="ja-JP" altLang="en-US" b="1" dirty="0"/>
              <a:t>空間フィルタリング</a:t>
            </a:r>
            <a:endParaRPr kumimoji="1" lang="ja-JP" altLang="en-US" b="1" dirty="0"/>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lstStyle/>
          <a:p>
            <a:r>
              <a:rPr kumimoji="1" lang="ja-JP" altLang="en-US" dirty="0"/>
              <a:t>入力画像に二次元のフィルタ</a:t>
            </a:r>
            <a:r>
              <a:rPr kumimoji="1" lang="en-US" altLang="ja-JP" dirty="0"/>
              <a:t>(</a:t>
            </a:r>
            <a:r>
              <a:rPr kumimoji="1" lang="ja-JP" altLang="en-US" dirty="0"/>
              <a:t>空間フィルタ</a:t>
            </a:r>
            <a:r>
              <a:rPr kumimoji="1" lang="en-US" altLang="ja-JP" dirty="0"/>
              <a:t>or</a:t>
            </a:r>
            <a:r>
              <a:rPr kumimoji="1" lang="ja-JP" altLang="en-US" dirty="0"/>
              <a:t>オペレータ</a:t>
            </a:r>
            <a:r>
              <a:rPr kumimoji="1" lang="en-US" altLang="ja-JP" dirty="0"/>
              <a:t>)</a:t>
            </a:r>
            <a:r>
              <a:rPr kumimoji="1" lang="ja-JP" altLang="en-US" dirty="0"/>
              <a:t>と積和演算</a:t>
            </a:r>
            <a:r>
              <a:rPr kumimoji="1" lang="en-US" altLang="ja-JP" dirty="0"/>
              <a:t>(</a:t>
            </a:r>
            <a:r>
              <a:rPr kumimoji="1" lang="ja-JP" altLang="en-US" dirty="0"/>
              <a:t>コンボリューション</a:t>
            </a:r>
            <a:r>
              <a:rPr kumimoji="1" lang="en-US" altLang="ja-JP" dirty="0"/>
              <a:t>)</a:t>
            </a:r>
            <a:r>
              <a:rPr kumimoji="1" lang="ja-JP" altLang="en-US" dirty="0"/>
              <a:t>等を用いる作業</a:t>
            </a:r>
            <a:endParaRPr kumimoji="1" lang="en-US" altLang="ja-JP" dirty="0"/>
          </a:p>
          <a:p>
            <a:r>
              <a:rPr kumimoji="1" lang="ja-JP" altLang="en-US" dirty="0"/>
              <a:t>主に下記の３種類</a:t>
            </a:r>
          </a:p>
        </p:txBody>
      </p:sp>
      <p:sp>
        <p:nvSpPr>
          <p:cNvPr id="4" name="テキスト ボックス 3">
            <a:extLst>
              <a:ext uri="{FF2B5EF4-FFF2-40B4-BE49-F238E27FC236}">
                <a16:creationId xmlns:a16="http://schemas.microsoft.com/office/drawing/2014/main" id="{60C1E344-139E-EDCB-83C9-E2BD4E2AE517}"/>
              </a:ext>
            </a:extLst>
          </p:cNvPr>
          <p:cNvSpPr txBox="1"/>
          <p:nvPr/>
        </p:nvSpPr>
        <p:spPr>
          <a:xfrm flipH="1">
            <a:off x="1948419" y="2805672"/>
            <a:ext cx="1592581" cy="369332"/>
          </a:xfrm>
          <a:prstGeom prst="rect">
            <a:avLst/>
          </a:prstGeom>
          <a:solidFill>
            <a:srgbClr val="92D050"/>
          </a:solidFill>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1" lang="ja-JP" altLang="en-US" dirty="0"/>
              <a:t>空間フィルタ</a:t>
            </a:r>
          </a:p>
        </p:txBody>
      </p:sp>
      <p:sp>
        <p:nvSpPr>
          <p:cNvPr id="5" name="テキスト ボックス 4">
            <a:extLst>
              <a:ext uri="{FF2B5EF4-FFF2-40B4-BE49-F238E27FC236}">
                <a16:creationId xmlns:a16="http://schemas.microsoft.com/office/drawing/2014/main" id="{4F1AB8B6-6823-EE8C-6808-7F21680156DA}"/>
              </a:ext>
            </a:extLst>
          </p:cNvPr>
          <p:cNvSpPr txBox="1"/>
          <p:nvPr/>
        </p:nvSpPr>
        <p:spPr>
          <a:xfrm flipH="1">
            <a:off x="2939018" y="3555563"/>
            <a:ext cx="2459358" cy="369332"/>
          </a:xfrm>
          <a:prstGeom prst="rect">
            <a:avLst/>
          </a:prstGeom>
          <a:solidFill>
            <a:srgbClr val="00B0F0"/>
          </a:solidFill>
          <a:ln w="19050"/>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kumimoji="1" lang="ja-JP" altLang="en-US" dirty="0"/>
              <a:t>平滑化フィルタ</a:t>
            </a:r>
          </a:p>
        </p:txBody>
      </p:sp>
      <p:sp>
        <p:nvSpPr>
          <p:cNvPr id="6" name="テキスト ボックス 5">
            <a:extLst>
              <a:ext uri="{FF2B5EF4-FFF2-40B4-BE49-F238E27FC236}">
                <a16:creationId xmlns:a16="http://schemas.microsoft.com/office/drawing/2014/main" id="{A98F713E-FEA6-B4A4-EFB4-8DD7B304BADC}"/>
              </a:ext>
            </a:extLst>
          </p:cNvPr>
          <p:cNvSpPr txBox="1"/>
          <p:nvPr/>
        </p:nvSpPr>
        <p:spPr>
          <a:xfrm flipH="1">
            <a:off x="2939018" y="4305454"/>
            <a:ext cx="2459358" cy="369332"/>
          </a:xfrm>
          <a:prstGeom prst="rect">
            <a:avLst/>
          </a:prstGeom>
          <a:solidFill>
            <a:srgbClr val="00B0F0"/>
          </a:solidFill>
          <a:ln w="19050"/>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kumimoji="1" lang="ja-JP" altLang="en-US" dirty="0"/>
              <a:t>エッジ検出フィルタ</a:t>
            </a:r>
          </a:p>
        </p:txBody>
      </p:sp>
      <p:sp>
        <p:nvSpPr>
          <p:cNvPr id="7" name="テキスト ボックス 6">
            <a:extLst>
              <a:ext uri="{FF2B5EF4-FFF2-40B4-BE49-F238E27FC236}">
                <a16:creationId xmlns:a16="http://schemas.microsoft.com/office/drawing/2014/main" id="{7A39117B-F178-60A6-286C-779C02C9ECDA}"/>
              </a:ext>
            </a:extLst>
          </p:cNvPr>
          <p:cNvSpPr txBox="1"/>
          <p:nvPr/>
        </p:nvSpPr>
        <p:spPr>
          <a:xfrm flipH="1">
            <a:off x="2939018" y="5055345"/>
            <a:ext cx="2459358" cy="369332"/>
          </a:xfrm>
          <a:prstGeom prst="rect">
            <a:avLst/>
          </a:prstGeom>
          <a:solidFill>
            <a:srgbClr val="00B0F0"/>
          </a:solidFill>
          <a:ln w="19050"/>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kumimoji="1" lang="ja-JP" altLang="en-US" dirty="0"/>
              <a:t>鮮明化フィルタ</a:t>
            </a:r>
          </a:p>
        </p:txBody>
      </p:sp>
      <p:cxnSp>
        <p:nvCxnSpPr>
          <p:cNvPr id="8" name="コネクタ: カギ線 7">
            <a:extLst>
              <a:ext uri="{FF2B5EF4-FFF2-40B4-BE49-F238E27FC236}">
                <a16:creationId xmlns:a16="http://schemas.microsoft.com/office/drawing/2014/main" id="{C104D379-F965-91A1-1CB3-F41580D70BF6}"/>
              </a:ext>
            </a:extLst>
          </p:cNvPr>
          <p:cNvCxnSpPr>
            <a:stCxn id="4" idx="2"/>
            <a:endCxn id="5" idx="3"/>
          </p:cNvCxnSpPr>
          <p:nvPr/>
        </p:nvCxnSpPr>
        <p:spPr>
          <a:xfrm rot="16200000" flipH="1">
            <a:off x="2559251" y="3360461"/>
            <a:ext cx="565225" cy="194309"/>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コネクタ: カギ線 8">
            <a:extLst>
              <a:ext uri="{FF2B5EF4-FFF2-40B4-BE49-F238E27FC236}">
                <a16:creationId xmlns:a16="http://schemas.microsoft.com/office/drawing/2014/main" id="{1C6D0B76-36E1-A0E7-6CD2-D652A9C13952}"/>
              </a:ext>
            </a:extLst>
          </p:cNvPr>
          <p:cNvCxnSpPr>
            <a:cxnSpLocks/>
            <a:stCxn id="4" idx="2"/>
            <a:endCxn id="6" idx="3"/>
          </p:cNvCxnSpPr>
          <p:nvPr/>
        </p:nvCxnSpPr>
        <p:spPr>
          <a:xfrm rot="16200000" flipH="1">
            <a:off x="2184305" y="3735407"/>
            <a:ext cx="1315116" cy="194309"/>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コネクタ: カギ線 9">
            <a:extLst>
              <a:ext uri="{FF2B5EF4-FFF2-40B4-BE49-F238E27FC236}">
                <a16:creationId xmlns:a16="http://schemas.microsoft.com/office/drawing/2014/main" id="{AFED11B7-06C6-6FBA-8232-A3574C70DA3C}"/>
              </a:ext>
            </a:extLst>
          </p:cNvPr>
          <p:cNvCxnSpPr>
            <a:cxnSpLocks/>
            <a:stCxn id="4" idx="2"/>
            <a:endCxn id="7" idx="3"/>
          </p:cNvCxnSpPr>
          <p:nvPr/>
        </p:nvCxnSpPr>
        <p:spPr>
          <a:xfrm rot="16200000" flipH="1">
            <a:off x="1809360" y="4110352"/>
            <a:ext cx="2065007" cy="194309"/>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0D5AB09C-6F66-7E7F-1BD4-47B9FD364649}"/>
              </a:ext>
            </a:extLst>
          </p:cNvPr>
          <p:cNvSpPr txBox="1"/>
          <p:nvPr/>
        </p:nvSpPr>
        <p:spPr>
          <a:xfrm flipH="1">
            <a:off x="5530771" y="3555563"/>
            <a:ext cx="2982279" cy="369332"/>
          </a:xfrm>
          <a:prstGeom prst="rect">
            <a:avLst/>
          </a:prstGeom>
          <a:ln w="19050">
            <a:noFill/>
          </a:ln>
        </p:spPr>
        <p:style>
          <a:lnRef idx="2">
            <a:schemeClr val="dk1"/>
          </a:lnRef>
          <a:fillRef idx="1">
            <a:schemeClr val="lt1"/>
          </a:fillRef>
          <a:effectRef idx="0">
            <a:schemeClr val="dk1"/>
          </a:effectRef>
          <a:fontRef idx="minor">
            <a:schemeClr val="dk1"/>
          </a:fontRef>
        </p:style>
        <p:txBody>
          <a:bodyPr wrap="square" rtlCol="0" anchor="ctr">
            <a:spAutoFit/>
          </a:bodyPr>
          <a:lstStyle/>
          <a:p>
            <a:r>
              <a:rPr kumimoji="1" lang="ja-JP" altLang="en-US" dirty="0"/>
              <a:t>画像のノイズを除去する</a:t>
            </a:r>
          </a:p>
        </p:txBody>
      </p:sp>
      <p:sp>
        <p:nvSpPr>
          <p:cNvPr id="12" name="テキスト ボックス 11">
            <a:extLst>
              <a:ext uri="{FF2B5EF4-FFF2-40B4-BE49-F238E27FC236}">
                <a16:creationId xmlns:a16="http://schemas.microsoft.com/office/drawing/2014/main" id="{3E5078A2-2BF6-DEC1-0D84-E156BD056B03}"/>
              </a:ext>
            </a:extLst>
          </p:cNvPr>
          <p:cNvSpPr txBox="1"/>
          <p:nvPr/>
        </p:nvSpPr>
        <p:spPr>
          <a:xfrm flipH="1">
            <a:off x="5530771" y="4305454"/>
            <a:ext cx="2982279" cy="369332"/>
          </a:xfrm>
          <a:prstGeom prst="rect">
            <a:avLst/>
          </a:prstGeom>
          <a:ln w="19050">
            <a:noFill/>
          </a:ln>
        </p:spPr>
        <p:style>
          <a:lnRef idx="2">
            <a:schemeClr val="dk1"/>
          </a:lnRef>
          <a:fillRef idx="1">
            <a:schemeClr val="lt1"/>
          </a:fillRef>
          <a:effectRef idx="0">
            <a:schemeClr val="dk1"/>
          </a:effectRef>
          <a:fontRef idx="minor">
            <a:schemeClr val="dk1"/>
          </a:fontRef>
        </p:style>
        <p:txBody>
          <a:bodyPr wrap="square" rtlCol="0" anchor="ctr">
            <a:spAutoFit/>
          </a:bodyPr>
          <a:lstStyle/>
          <a:p>
            <a:r>
              <a:rPr kumimoji="1" lang="ja-JP" altLang="en-US" dirty="0"/>
              <a:t>輪郭を検出する</a:t>
            </a:r>
          </a:p>
        </p:txBody>
      </p:sp>
      <p:sp>
        <p:nvSpPr>
          <p:cNvPr id="13" name="テキスト ボックス 12">
            <a:extLst>
              <a:ext uri="{FF2B5EF4-FFF2-40B4-BE49-F238E27FC236}">
                <a16:creationId xmlns:a16="http://schemas.microsoft.com/office/drawing/2014/main" id="{9B0450AD-352B-0140-B5FB-8C1B0EA5015A}"/>
              </a:ext>
            </a:extLst>
          </p:cNvPr>
          <p:cNvSpPr txBox="1"/>
          <p:nvPr/>
        </p:nvSpPr>
        <p:spPr>
          <a:xfrm flipH="1">
            <a:off x="5530770" y="5055345"/>
            <a:ext cx="4144330" cy="369332"/>
          </a:xfrm>
          <a:prstGeom prst="rect">
            <a:avLst/>
          </a:prstGeom>
          <a:ln w="19050">
            <a:noFill/>
          </a:ln>
        </p:spPr>
        <p:style>
          <a:lnRef idx="2">
            <a:schemeClr val="dk1"/>
          </a:lnRef>
          <a:fillRef idx="1">
            <a:schemeClr val="lt1"/>
          </a:fillRef>
          <a:effectRef idx="0">
            <a:schemeClr val="dk1"/>
          </a:effectRef>
          <a:fontRef idx="minor">
            <a:schemeClr val="dk1"/>
          </a:fontRef>
        </p:style>
        <p:txBody>
          <a:bodyPr wrap="square" rtlCol="0" anchor="ctr">
            <a:spAutoFit/>
          </a:bodyPr>
          <a:lstStyle/>
          <a:p>
            <a:r>
              <a:rPr kumimoji="1" lang="ja-JP" altLang="en-US" dirty="0"/>
              <a:t>ピントのぼけた画像をシャープにする</a:t>
            </a:r>
          </a:p>
        </p:txBody>
      </p:sp>
      <p:sp>
        <p:nvSpPr>
          <p:cNvPr id="14" name="フッター プレースホルダー 13">
            <a:extLst>
              <a:ext uri="{FF2B5EF4-FFF2-40B4-BE49-F238E27FC236}">
                <a16:creationId xmlns:a16="http://schemas.microsoft.com/office/drawing/2014/main" id="{13BE0BA8-CD89-44A3-F3A6-BFC4D8814124}"/>
              </a:ext>
            </a:extLst>
          </p:cNvPr>
          <p:cNvSpPr>
            <a:spLocks noGrp="1"/>
          </p:cNvSpPr>
          <p:nvPr>
            <p:ph type="ftr" sz="quarter" idx="11"/>
          </p:nvPr>
        </p:nvSpPr>
        <p:spPr/>
        <p:txBody>
          <a:bodyPr/>
          <a:lstStyle/>
          <a:p>
            <a:r>
              <a:rPr kumimoji="1" lang="ja-JP" altLang="en-US"/>
              <a:t>ポリテクセンター栃木</a:t>
            </a:r>
          </a:p>
        </p:txBody>
      </p:sp>
      <p:sp>
        <p:nvSpPr>
          <p:cNvPr id="15" name="スライド番号プレースホルダー 14">
            <a:extLst>
              <a:ext uri="{FF2B5EF4-FFF2-40B4-BE49-F238E27FC236}">
                <a16:creationId xmlns:a16="http://schemas.microsoft.com/office/drawing/2014/main" id="{BB67D93E-10B4-1B7F-819B-143ECE0A82D3}"/>
              </a:ext>
            </a:extLst>
          </p:cNvPr>
          <p:cNvSpPr>
            <a:spLocks noGrp="1"/>
          </p:cNvSpPr>
          <p:nvPr>
            <p:ph type="sldNum" sz="quarter" idx="12"/>
          </p:nvPr>
        </p:nvSpPr>
        <p:spPr/>
        <p:txBody>
          <a:bodyPr/>
          <a:lstStyle/>
          <a:p>
            <a:fld id="{82EE47C2-3066-499F-97BE-8094ED607EB5}" type="slidenum">
              <a:rPr kumimoji="1" lang="ja-JP" altLang="en-US" smtClean="0"/>
              <a:t>17</a:t>
            </a:fld>
            <a:endParaRPr kumimoji="1" lang="ja-JP" altLang="en-US"/>
          </a:p>
        </p:txBody>
      </p:sp>
    </p:spTree>
    <p:extLst>
      <p:ext uri="{BB962C8B-B14F-4D97-AF65-F5344CB8AC3E}">
        <p14:creationId xmlns:p14="http://schemas.microsoft.com/office/powerpoint/2010/main" val="3881674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lang="ja-JP" altLang="en-US" b="1" dirty="0"/>
              <a:t>コンボリューション</a:t>
            </a:r>
            <a:endParaRPr kumimoji="1" lang="ja-JP" altLang="en-US" b="1" dirty="0"/>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lstStyle/>
          <a:p>
            <a:r>
              <a:rPr kumimoji="1" lang="ja-JP" altLang="en-US" dirty="0"/>
              <a:t>注目画素と近傍画素から新たな値を計算する</a:t>
            </a:r>
          </a:p>
        </p:txBody>
      </p:sp>
      <p:pic>
        <p:nvPicPr>
          <p:cNvPr id="14" name="図 13">
            <a:extLst>
              <a:ext uri="{FF2B5EF4-FFF2-40B4-BE49-F238E27FC236}">
                <a16:creationId xmlns:a16="http://schemas.microsoft.com/office/drawing/2014/main" id="{3FBA864F-70EF-E1D3-6E0F-0A1F6365F387}"/>
              </a:ext>
            </a:extLst>
          </p:cNvPr>
          <p:cNvPicPr>
            <a:picLocks noChangeAspect="1"/>
          </p:cNvPicPr>
          <p:nvPr/>
        </p:nvPicPr>
        <p:blipFill>
          <a:blip r:embed="rId2"/>
          <a:stretch>
            <a:fillRect/>
          </a:stretch>
        </p:blipFill>
        <p:spPr>
          <a:xfrm>
            <a:off x="2473708" y="1701851"/>
            <a:ext cx="5584442" cy="4791024"/>
          </a:xfrm>
          <a:prstGeom prst="rect">
            <a:avLst/>
          </a:prstGeom>
        </p:spPr>
      </p:pic>
      <p:sp>
        <p:nvSpPr>
          <p:cNvPr id="15" name="テキスト ボックス 14">
            <a:extLst>
              <a:ext uri="{FF2B5EF4-FFF2-40B4-BE49-F238E27FC236}">
                <a16:creationId xmlns:a16="http://schemas.microsoft.com/office/drawing/2014/main" id="{4A97728C-D4F5-9632-6442-E17F16C0B157}"/>
              </a:ext>
            </a:extLst>
          </p:cNvPr>
          <p:cNvSpPr txBox="1"/>
          <p:nvPr/>
        </p:nvSpPr>
        <p:spPr>
          <a:xfrm flipH="1">
            <a:off x="8370505" y="4025410"/>
            <a:ext cx="3295650" cy="1077218"/>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spAutoFit/>
          </a:bodyPr>
          <a:lstStyle/>
          <a:p>
            <a:pPr algn="ctr"/>
            <a:r>
              <a:rPr kumimoji="1" lang="ja-JP" altLang="en-US" sz="1600" b="1" dirty="0"/>
              <a:t>コンボリューションは数学用語で、日本語では「畳み込み」という。積和演算のことと思って</a:t>
            </a:r>
            <a:r>
              <a:rPr kumimoji="1" lang="en-US" altLang="ja-JP" sz="1600" b="1" dirty="0"/>
              <a:t>OK</a:t>
            </a:r>
          </a:p>
          <a:p>
            <a:pPr algn="ctr"/>
            <a:r>
              <a:rPr kumimoji="1" lang="en-US" altLang="ja-JP" sz="1600" b="1" dirty="0"/>
              <a:t>(</a:t>
            </a:r>
            <a:r>
              <a:rPr kumimoji="1" lang="ja-JP" altLang="en-US" sz="1600" b="1" dirty="0"/>
              <a:t>掛け算して足す計算のこと</a:t>
            </a:r>
            <a:r>
              <a:rPr kumimoji="1" lang="en-US" altLang="ja-JP" sz="1600" b="1" dirty="0"/>
              <a:t>)</a:t>
            </a:r>
            <a:endParaRPr kumimoji="1" lang="ja-JP" altLang="en-US" sz="1600" b="1" dirty="0"/>
          </a:p>
        </p:txBody>
      </p:sp>
      <p:sp>
        <p:nvSpPr>
          <p:cNvPr id="4" name="フッター プレースホルダー 3">
            <a:extLst>
              <a:ext uri="{FF2B5EF4-FFF2-40B4-BE49-F238E27FC236}">
                <a16:creationId xmlns:a16="http://schemas.microsoft.com/office/drawing/2014/main" id="{27673A0E-57D5-DBF2-6450-C08DC6039F37}"/>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D840B364-553B-B72F-2E25-4CB03F9DF9C7}"/>
              </a:ext>
            </a:extLst>
          </p:cNvPr>
          <p:cNvSpPr>
            <a:spLocks noGrp="1"/>
          </p:cNvSpPr>
          <p:nvPr>
            <p:ph type="sldNum" sz="quarter" idx="12"/>
          </p:nvPr>
        </p:nvSpPr>
        <p:spPr/>
        <p:txBody>
          <a:bodyPr/>
          <a:lstStyle/>
          <a:p>
            <a:fld id="{82EE47C2-3066-499F-97BE-8094ED607EB5}" type="slidenum">
              <a:rPr kumimoji="1" lang="ja-JP" altLang="en-US" smtClean="0"/>
              <a:t>18</a:t>
            </a:fld>
            <a:endParaRPr kumimoji="1" lang="ja-JP" altLang="en-US"/>
          </a:p>
        </p:txBody>
      </p:sp>
      <p:sp>
        <p:nvSpPr>
          <p:cNvPr id="6" name="正方形/長方形 5">
            <a:extLst>
              <a:ext uri="{FF2B5EF4-FFF2-40B4-BE49-F238E27FC236}">
                <a16:creationId xmlns:a16="http://schemas.microsoft.com/office/drawing/2014/main" id="{3FD3988B-2C94-593E-96AC-CB295732C06A}"/>
              </a:ext>
            </a:extLst>
          </p:cNvPr>
          <p:cNvSpPr/>
          <p:nvPr/>
        </p:nvSpPr>
        <p:spPr>
          <a:xfrm>
            <a:off x="2551176" y="4837176"/>
            <a:ext cx="1901952" cy="39319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カーネル </a:t>
            </a:r>
            <a:r>
              <a:rPr kumimoji="1" lang="en-US" altLang="ja-JP" b="1" dirty="0"/>
              <a:t>(3×3)</a:t>
            </a:r>
            <a:endParaRPr kumimoji="1" lang="ja-JP" altLang="en-US" b="1" dirty="0"/>
          </a:p>
        </p:txBody>
      </p:sp>
      <p:sp>
        <p:nvSpPr>
          <p:cNvPr id="7" name="吹き出し: 四角形 6">
            <a:extLst>
              <a:ext uri="{FF2B5EF4-FFF2-40B4-BE49-F238E27FC236}">
                <a16:creationId xmlns:a16="http://schemas.microsoft.com/office/drawing/2014/main" id="{D03A548B-5F8B-5F2C-A8C1-6B09BE8DC11F}"/>
              </a:ext>
            </a:extLst>
          </p:cNvPr>
          <p:cNvSpPr/>
          <p:nvPr/>
        </p:nvSpPr>
        <p:spPr>
          <a:xfrm>
            <a:off x="219456" y="4434840"/>
            <a:ext cx="2019365" cy="1742123"/>
          </a:xfrm>
          <a:prstGeom prst="wedgeRectCallout">
            <a:avLst>
              <a:gd name="adj1" fmla="val 72447"/>
              <a:gd name="adj2" fmla="val 2943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フィルタ処理に使う行列を</a:t>
            </a:r>
            <a:endParaRPr lang="en-US" altLang="ja-JP" dirty="0"/>
          </a:p>
          <a:p>
            <a:pPr algn="ctr"/>
            <a:r>
              <a:rPr kumimoji="1" lang="ja-JP" altLang="en-US" b="1" dirty="0"/>
              <a:t>カーネル</a:t>
            </a:r>
            <a:r>
              <a:rPr kumimoji="1" lang="en-US" altLang="ja-JP" b="1" dirty="0"/>
              <a:t>(kernel)</a:t>
            </a:r>
          </a:p>
          <a:p>
            <a:pPr algn="ctr"/>
            <a:r>
              <a:rPr lang="ja-JP" altLang="en-US" dirty="0"/>
              <a:t>という</a:t>
            </a:r>
            <a:endParaRPr kumimoji="1" lang="ja-JP" altLang="en-US" dirty="0"/>
          </a:p>
        </p:txBody>
      </p:sp>
    </p:spTree>
    <p:extLst>
      <p:ext uri="{BB962C8B-B14F-4D97-AF65-F5344CB8AC3E}">
        <p14:creationId xmlns:p14="http://schemas.microsoft.com/office/powerpoint/2010/main" val="2136251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平滑化フィルタ</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normAutofit/>
          </a:bodyPr>
          <a:lstStyle/>
          <a:p>
            <a:r>
              <a:rPr kumimoji="1" lang="ja-JP" altLang="en-US" dirty="0"/>
              <a:t>平滑化フィルタはノイズ除去のためのフィルタ</a:t>
            </a:r>
            <a:endParaRPr kumimoji="1" lang="en-US" altLang="ja-JP" dirty="0"/>
          </a:p>
          <a:p>
            <a:r>
              <a:rPr lang="ja-JP" altLang="en-US" dirty="0"/>
              <a:t>下記が代表的な平滑化フィルタ</a:t>
            </a:r>
            <a:endParaRPr kumimoji="1" lang="en-US" altLang="ja-JP" dirty="0"/>
          </a:p>
          <a:p>
            <a:pPr marL="0" indent="0">
              <a:buNone/>
            </a:pPr>
            <a:endParaRPr lang="en-US" altLang="ja-JP" dirty="0"/>
          </a:p>
          <a:p>
            <a:pPr marL="0" indent="0" algn="ctr">
              <a:buNone/>
            </a:pPr>
            <a:r>
              <a:rPr lang="ja-JP" altLang="en-US" dirty="0"/>
              <a:t>平均値フィルタ</a:t>
            </a:r>
            <a:endParaRPr lang="en-US" altLang="ja-JP" dirty="0"/>
          </a:p>
          <a:p>
            <a:pPr marL="0" indent="0" algn="ctr">
              <a:buNone/>
            </a:pPr>
            <a:r>
              <a:rPr lang="ja-JP" altLang="en-US" dirty="0"/>
              <a:t>加重平均フィルタ</a:t>
            </a:r>
            <a:endParaRPr lang="en-US" altLang="ja-JP" dirty="0"/>
          </a:p>
          <a:p>
            <a:pPr marL="0" indent="0" algn="ctr">
              <a:buNone/>
            </a:pPr>
            <a:r>
              <a:rPr lang="ja-JP" altLang="en-US" dirty="0"/>
              <a:t>ガウシアンフィルタ</a:t>
            </a:r>
            <a:endParaRPr lang="en-US" altLang="ja-JP" dirty="0"/>
          </a:p>
          <a:p>
            <a:pPr marL="0" indent="0" algn="ctr">
              <a:buNone/>
            </a:pPr>
            <a:r>
              <a:rPr lang="ja-JP" altLang="en-US" dirty="0"/>
              <a:t>中央値フィルタ</a:t>
            </a:r>
            <a:endParaRPr lang="en-US" altLang="ja-JP" dirty="0"/>
          </a:p>
          <a:p>
            <a:pPr marL="0" indent="0" algn="ctr">
              <a:buNone/>
            </a:pPr>
            <a:r>
              <a:rPr lang="ja-JP" altLang="en-US" dirty="0"/>
              <a:t>バイラテアルフィルタ</a:t>
            </a:r>
            <a:endParaRPr lang="en-US" altLang="ja-JP" dirty="0"/>
          </a:p>
          <a:p>
            <a:pPr marL="0" indent="0" algn="ctr">
              <a:buNone/>
            </a:pPr>
            <a:r>
              <a:rPr lang="ja-JP" altLang="en-US" dirty="0"/>
              <a:t>非局所平均フィルタ</a:t>
            </a:r>
            <a:endParaRPr lang="en-US" altLang="ja-JP" dirty="0"/>
          </a:p>
        </p:txBody>
      </p:sp>
      <p:sp>
        <p:nvSpPr>
          <p:cNvPr id="4" name="フッター プレースホルダー 3">
            <a:extLst>
              <a:ext uri="{FF2B5EF4-FFF2-40B4-BE49-F238E27FC236}">
                <a16:creationId xmlns:a16="http://schemas.microsoft.com/office/drawing/2014/main" id="{79F6A989-6A1C-DA61-BCA3-3AA5B4A35FC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37DA7A90-AB3F-5183-F7A1-9B42BE11DBE6}"/>
              </a:ext>
            </a:extLst>
          </p:cNvPr>
          <p:cNvSpPr>
            <a:spLocks noGrp="1"/>
          </p:cNvSpPr>
          <p:nvPr>
            <p:ph type="sldNum" sz="quarter" idx="12"/>
          </p:nvPr>
        </p:nvSpPr>
        <p:spPr/>
        <p:txBody>
          <a:bodyPr/>
          <a:lstStyle/>
          <a:p>
            <a:fld id="{82EE47C2-3066-499F-97BE-8094ED607EB5}" type="slidenum">
              <a:rPr kumimoji="1" lang="ja-JP" altLang="en-US" smtClean="0"/>
              <a:t>19</a:t>
            </a:fld>
            <a:endParaRPr kumimoji="1" lang="ja-JP" altLang="en-US"/>
          </a:p>
        </p:txBody>
      </p:sp>
    </p:spTree>
    <p:extLst>
      <p:ext uri="{BB962C8B-B14F-4D97-AF65-F5344CB8AC3E}">
        <p14:creationId xmlns:p14="http://schemas.microsoft.com/office/powerpoint/2010/main" val="3741006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平均値フィルタ</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lstStyle/>
          <a:p>
            <a:pPr marL="0" indent="0">
              <a:buNone/>
            </a:pPr>
            <a:r>
              <a:rPr kumimoji="1" lang="ja-JP" altLang="en-US" dirty="0"/>
              <a:t>もっとも単純なフィルタ、計算が高速だがエッジがぼやける</a:t>
            </a:r>
          </a:p>
        </p:txBody>
      </p:sp>
      <p:pic>
        <p:nvPicPr>
          <p:cNvPr id="5" name="図 4">
            <a:extLst>
              <a:ext uri="{FF2B5EF4-FFF2-40B4-BE49-F238E27FC236}">
                <a16:creationId xmlns:a16="http://schemas.microsoft.com/office/drawing/2014/main" id="{E944B983-464A-16D2-B01E-3815D48736CA}"/>
              </a:ext>
            </a:extLst>
          </p:cNvPr>
          <p:cNvPicPr>
            <a:picLocks noChangeAspect="1"/>
          </p:cNvPicPr>
          <p:nvPr/>
        </p:nvPicPr>
        <p:blipFill>
          <a:blip r:embed="rId2"/>
          <a:stretch>
            <a:fillRect/>
          </a:stretch>
        </p:blipFill>
        <p:spPr>
          <a:xfrm>
            <a:off x="3541120" y="1765686"/>
            <a:ext cx="5823268" cy="5092314"/>
          </a:xfrm>
          <a:prstGeom prst="rect">
            <a:avLst/>
          </a:prstGeom>
        </p:spPr>
      </p:pic>
      <p:pic>
        <p:nvPicPr>
          <p:cNvPr id="6" name="図 5">
            <a:extLst>
              <a:ext uri="{FF2B5EF4-FFF2-40B4-BE49-F238E27FC236}">
                <a16:creationId xmlns:a16="http://schemas.microsoft.com/office/drawing/2014/main" id="{010D9A6A-233F-3B74-D2E7-FD02FD601D96}"/>
              </a:ext>
            </a:extLst>
          </p:cNvPr>
          <p:cNvPicPr>
            <a:picLocks noChangeAspect="1"/>
          </p:cNvPicPr>
          <p:nvPr/>
        </p:nvPicPr>
        <p:blipFill>
          <a:blip r:embed="rId3"/>
          <a:stretch>
            <a:fillRect/>
          </a:stretch>
        </p:blipFill>
        <p:spPr>
          <a:xfrm>
            <a:off x="3418818" y="4217994"/>
            <a:ext cx="1551580" cy="1806904"/>
          </a:xfrm>
          <a:prstGeom prst="rect">
            <a:avLst/>
          </a:prstGeom>
        </p:spPr>
      </p:pic>
      <p:sp>
        <p:nvSpPr>
          <p:cNvPr id="4" name="フッター プレースホルダー 3">
            <a:extLst>
              <a:ext uri="{FF2B5EF4-FFF2-40B4-BE49-F238E27FC236}">
                <a16:creationId xmlns:a16="http://schemas.microsoft.com/office/drawing/2014/main" id="{F8D763FE-7758-1DBD-DE77-B6E49EFEED57}"/>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388067DC-3DFB-4390-0574-8BD0F76C0AB4}"/>
              </a:ext>
            </a:extLst>
          </p:cNvPr>
          <p:cNvSpPr>
            <a:spLocks noGrp="1"/>
          </p:cNvSpPr>
          <p:nvPr>
            <p:ph type="sldNum" sz="quarter" idx="12"/>
          </p:nvPr>
        </p:nvSpPr>
        <p:spPr/>
        <p:txBody>
          <a:bodyPr/>
          <a:lstStyle/>
          <a:p>
            <a:fld id="{82EE47C2-3066-499F-97BE-8094ED607EB5}" type="slidenum">
              <a:rPr kumimoji="1" lang="ja-JP" altLang="en-US" smtClean="0"/>
              <a:t>20</a:t>
            </a:fld>
            <a:endParaRPr kumimoji="1" lang="ja-JP" altLang="en-US"/>
          </a:p>
        </p:txBody>
      </p:sp>
      <p:sp>
        <p:nvSpPr>
          <p:cNvPr id="8" name="吹き出し: 四角形 7">
            <a:extLst>
              <a:ext uri="{FF2B5EF4-FFF2-40B4-BE49-F238E27FC236}">
                <a16:creationId xmlns:a16="http://schemas.microsoft.com/office/drawing/2014/main" id="{9D354CB2-DB7D-76B3-3A13-20A534AF56A5}"/>
              </a:ext>
            </a:extLst>
          </p:cNvPr>
          <p:cNvSpPr/>
          <p:nvPr/>
        </p:nvSpPr>
        <p:spPr>
          <a:xfrm>
            <a:off x="457200" y="2647188"/>
            <a:ext cx="2587752" cy="1563624"/>
          </a:xfrm>
          <a:prstGeom prst="wedgeRectCallout">
            <a:avLst>
              <a:gd name="adj1" fmla="val 94428"/>
              <a:gd name="adj2" fmla="val -2872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周囲の画素と明らかに値が違う画素</a:t>
            </a:r>
            <a:r>
              <a:rPr kumimoji="1" lang="en-US" altLang="ja-JP" dirty="0"/>
              <a:t>(</a:t>
            </a:r>
            <a:r>
              <a:rPr kumimoji="1" lang="ja-JP" altLang="en-US" dirty="0"/>
              <a:t>ノイズ</a:t>
            </a:r>
            <a:r>
              <a:rPr kumimoji="1" lang="en-US" altLang="ja-JP" dirty="0"/>
              <a:t>)</a:t>
            </a:r>
            <a:endParaRPr kumimoji="1" lang="ja-JP" altLang="en-US" dirty="0"/>
          </a:p>
        </p:txBody>
      </p:sp>
      <p:sp>
        <p:nvSpPr>
          <p:cNvPr id="9" name="吹き出し: 四角形 8">
            <a:extLst>
              <a:ext uri="{FF2B5EF4-FFF2-40B4-BE49-F238E27FC236}">
                <a16:creationId xmlns:a16="http://schemas.microsoft.com/office/drawing/2014/main" id="{E535627B-FBD8-8848-FF1E-CF75239AE426}"/>
              </a:ext>
            </a:extLst>
          </p:cNvPr>
          <p:cNvSpPr/>
          <p:nvPr/>
        </p:nvSpPr>
        <p:spPr>
          <a:xfrm>
            <a:off x="8192814" y="2119128"/>
            <a:ext cx="2587752" cy="1563624"/>
          </a:xfrm>
          <a:prstGeom prst="wedgeRectCallout">
            <a:avLst>
              <a:gd name="adj1" fmla="val -88258"/>
              <a:gd name="adj2" fmla="val -7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平均値フィルタを通すことで周囲の画素と似たような値になる</a:t>
            </a:r>
            <a:endParaRPr kumimoji="1" lang="en-US" altLang="ja-JP" dirty="0"/>
          </a:p>
          <a:p>
            <a:pPr algn="ctr"/>
            <a:r>
              <a:rPr lang="ja-JP" altLang="en-US" dirty="0"/>
              <a:t>（ノイズ除去）</a:t>
            </a:r>
            <a:endParaRPr kumimoji="1" lang="ja-JP" altLang="en-US" dirty="0"/>
          </a:p>
        </p:txBody>
      </p:sp>
      <p:sp>
        <p:nvSpPr>
          <p:cNvPr id="11" name="正方形/長方形 10">
            <a:extLst>
              <a:ext uri="{FF2B5EF4-FFF2-40B4-BE49-F238E27FC236}">
                <a16:creationId xmlns:a16="http://schemas.microsoft.com/office/drawing/2014/main" id="{9289717D-4217-8603-E9AE-1A2222F4B25F}"/>
              </a:ext>
            </a:extLst>
          </p:cNvPr>
          <p:cNvSpPr/>
          <p:nvPr/>
        </p:nvSpPr>
        <p:spPr>
          <a:xfrm>
            <a:off x="3243632" y="4210812"/>
            <a:ext cx="1901952" cy="196596"/>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b="1" dirty="0"/>
              <a:t>カーネル</a:t>
            </a:r>
          </a:p>
        </p:txBody>
      </p:sp>
    </p:spTree>
    <p:extLst>
      <p:ext uri="{BB962C8B-B14F-4D97-AF65-F5344CB8AC3E}">
        <p14:creationId xmlns:p14="http://schemas.microsoft.com/office/powerpoint/2010/main" val="578157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9CC3D7-2F45-A1F6-A516-067F87AA56E7}"/>
              </a:ext>
            </a:extLst>
          </p:cNvPr>
          <p:cNvSpPr>
            <a:spLocks noGrp="1"/>
          </p:cNvSpPr>
          <p:nvPr>
            <p:ph type="title"/>
          </p:nvPr>
        </p:nvSpPr>
        <p:spPr>
          <a:xfrm>
            <a:off x="838200" y="365125"/>
            <a:ext cx="10515600" cy="832739"/>
          </a:xfrm>
        </p:spPr>
        <p:txBody>
          <a:bodyPr/>
          <a:lstStyle/>
          <a:p>
            <a:r>
              <a:rPr lang="ja-JP" altLang="en-US" b="1" dirty="0"/>
              <a:t>加重平均フィルタ・ガウシアンフィルタ</a:t>
            </a:r>
            <a:endParaRPr kumimoji="1" lang="ja-JP" altLang="en-US" b="1" dirty="0"/>
          </a:p>
        </p:txBody>
      </p:sp>
      <p:sp>
        <p:nvSpPr>
          <p:cNvPr id="3" name="コンテンツ プレースホルダー 2">
            <a:extLst>
              <a:ext uri="{FF2B5EF4-FFF2-40B4-BE49-F238E27FC236}">
                <a16:creationId xmlns:a16="http://schemas.microsoft.com/office/drawing/2014/main" id="{25E34682-A2B4-8188-F4EB-A42B4C4E1C18}"/>
              </a:ext>
            </a:extLst>
          </p:cNvPr>
          <p:cNvSpPr>
            <a:spLocks noGrp="1"/>
          </p:cNvSpPr>
          <p:nvPr>
            <p:ph idx="1"/>
          </p:nvPr>
        </p:nvSpPr>
        <p:spPr>
          <a:xfrm>
            <a:off x="838200" y="1197864"/>
            <a:ext cx="10515600" cy="4979099"/>
          </a:xfrm>
        </p:spPr>
        <p:txBody>
          <a:bodyPr/>
          <a:lstStyle/>
          <a:p>
            <a:r>
              <a:rPr kumimoji="1" lang="ja-JP" altLang="en-US" dirty="0"/>
              <a:t>加重平均フィルタもガウシアンフィルタも、計算自体は平均値フィルタと一緒</a:t>
            </a:r>
            <a:endParaRPr kumimoji="1" lang="en-US" altLang="ja-JP" dirty="0"/>
          </a:p>
          <a:p>
            <a:r>
              <a:rPr lang="ja-JP" altLang="en-US" dirty="0"/>
              <a:t>カーネルの中身が違うだけ</a:t>
            </a:r>
            <a:endParaRPr kumimoji="1" lang="ja-JP" altLang="en-US" dirty="0"/>
          </a:p>
        </p:txBody>
      </p:sp>
      <p:sp>
        <p:nvSpPr>
          <p:cNvPr id="4" name="フッター プレースホルダー 3">
            <a:extLst>
              <a:ext uri="{FF2B5EF4-FFF2-40B4-BE49-F238E27FC236}">
                <a16:creationId xmlns:a16="http://schemas.microsoft.com/office/drawing/2014/main" id="{C9099333-E827-65A9-DCF7-46EECF205784}"/>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A6AF6E29-90D3-3E2B-5AEC-3D66E714FBB1}"/>
              </a:ext>
            </a:extLst>
          </p:cNvPr>
          <p:cNvSpPr>
            <a:spLocks noGrp="1"/>
          </p:cNvSpPr>
          <p:nvPr>
            <p:ph type="sldNum" sz="quarter" idx="12"/>
          </p:nvPr>
        </p:nvSpPr>
        <p:spPr/>
        <p:txBody>
          <a:bodyPr/>
          <a:lstStyle/>
          <a:p>
            <a:fld id="{82EE47C2-3066-499F-97BE-8094ED607EB5}" type="slidenum">
              <a:rPr kumimoji="1" lang="ja-JP" altLang="en-US" smtClean="0"/>
              <a:t>21</a:t>
            </a:fld>
            <a:endParaRPr kumimoji="1" lang="ja-JP" altLang="en-US"/>
          </a:p>
        </p:txBody>
      </p:sp>
      <mc:AlternateContent xmlns:mc="http://schemas.openxmlformats.org/markup-compatibility/2006">
        <mc:Choice xmlns:a14="http://schemas.microsoft.com/office/drawing/2010/main" Requires="a14">
          <p:graphicFrame>
            <p:nvGraphicFramePr>
              <p:cNvPr id="10" name="表 9">
                <a:extLst>
                  <a:ext uri="{FF2B5EF4-FFF2-40B4-BE49-F238E27FC236}">
                    <a16:creationId xmlns:a16="http://schemas.microsoft.com/office/drawing/2014/main" id="{BA86B421-A703-8301-14F6-86CB91D8CE6D}"/>
                  </a:ext>
                </a:extLst>
              </p:cNvPr>
              <p:cNvGraphicFramePr>
                <a:graphicFrameLocks noGrp="1"/>
              </p:cNvGraphicFramePr>
              <p:nvPr>
                <p:extLst>
                  <p:ext uri="{D42A27DB-BD31-4B8C-83A1-F6EECF244321}">
                    <p14:modId xmlns:p14="http://schemas.microsoft.com/office/powerpoint/2010/main" val="1637942860"/>
                  </p:ext>
                </p:extLst>
              </p:nvPr>
            </p:nvGraphicFramePr>
            <p:xfrm>
              <a:off x="3230880" y="3044316"/>
              <a:ext cx="3121152" cy="2615820"/>
            </p:xfrm>
            <a:graphic>
              <a:graphicData uri="http://schemas.openxmlformats.org/drawingml/2006/table">
                <a:tbl>
                  <a:tblPr firstRow="1" bandRow="1">
                    <a:tableStyleId>{5940675A-B579-460E-94D1-54222C63F5DA}</a:tableStyleId>
                  </a:tblPr>
                  <a:tblGrid>
                    <a:gridCol w="1040384">
                      <a:extLst>
                        <a:ext uri="{9D8B030D-6E8A-4147-A177-3AD203B41FA5}">
                          <a16:colId xmlns:a16="http://schemas.microsoft.com/office/drawing/2014/main" val="2353778807"/>
                        </a:ext>
                      </a:extLst>
                    </a:gridCol>
                    <a:gridCol w="1040384">
                      <a:extLst>
                        <a:ext uri="{9D8B030D-6E8A-4147-A177-3AD203B41FA5}">
                          <a16:colId xmlns:a16="http://schemas.microsoft.com/office/drawing/2014/main" val="161099884"/>
                        </a:ext>
                      </a:extLst>
                    </a:gridCol>
                    <a:gridCol w="1040384">
                      <a:extLst>
                        <a:ext uri="{9D8B030D-6E8A-4147-A177-3AD203B41FA5}">
                          <a16:colId xmlns:a16="http://schemas.microsoft.com/office/drawing/2014/main" val="2620001296"/>
                        </a:ext>
                      </a:extLst>
                    </a:gridCol>
                  </a:tblGrid>
                  <a:tr h="871940">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extLst>
                      <a:ext uri="{0D108BD9-81ED-4DB2-BD59-A6C34878D82A}">
                        <a16:rowId xmlns:a16="http://schemas.microsoft.com/office/drawing/2014/main" val="1536901703"/>
                      </a:ext>
                    </a:extLst>
                  </a:tr>
                  <a:tr h="871940">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4</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extLst>
                      <a:ext uri="{0D108BD9-81ED-4DB2-BD59-A6C34878D82A}">
                        <a16:rowId xmlns:a16="http://schemas.microsoft.com/office/drawing/2014/main" val="3087686638"/>
                      </a:ext>
                    </a:extLst>
                  </a:tr>
                  <a:tr h="871940">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16</m:t>
                                    </m:r>
                                  </m:den>
                                </m:f>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0" name="表 9">
                <a:extLst>
                  <a:ext uri="{FF2B5EF4-FFF2-40B4-BE49-F238E27FC236}">
                    <a16:creationId xmlns:a16="http://schemas.microsoft.com/office/drawing/2014/main" id="{BA86B421-A703-8301-14F6-86CB91D8CE6D}"/>
                  </a:ext>
                </a:extLst>
              </p:cNvPr>
              <p:cNvGraphicFramePr>
                <a:graphicFrameLocks noGrp="1"/>
              </p:cNvGraphicFramePr>
              <p:nvPr>
                <p:extLst>
                  <p:ext uri="{D42A27DB-BD31-4B8C-83A1-F6EECF244321}">
                    <p14:modId xmlns:p14="http://schemas.microsoft.com/office/powerpoint/2010/main" val="1637942860"/>
                  </p:ext>
                </p:extLst>
              </p:nvPr>
            </p:nvGraphicFramePr>
            <p:xfrm>
              <a:off x="3230880" y="3044316"/>
              <a:ext cx="3121152" cy="2615820"/>
            </p:xfrm>
            <a:graphic>
              <a:graphicData uri="http://schemas.openxmlformats.org/drawingml/2006/table">
                <a:tbl>
                  <a:tblPr firstRow="1" bandRow="1">
                    <a:tableStyleId>{5940675A-B579-460E-94D1-54222C63F5DA}</a:tableStyleId>
                  </a:tblPr>
                  <a:tblGrid>
                    <a:gridCol w="1040384">
                      <a:extLst>
                        <a:ext uri="{9D8B030D-6E8A-4147-A177-3AD203B41FA5}">
                          <a16:colId xmlns:a16="http://schemas.microsoft.com/office/drawing/2014/main" val="2353778807"/>
                        </a:ext>
                      </a:extLst>
                    </a:gridCol>
                    <a:gridCol w="1040384">
                      <a:extLst>
                        <a:ext uri="{9D8B030D-6E8A-4147-A177-3AD203B41FA5}">
                          <a16:colId xmlns:a16="http://schemas.microsoft.com/office/drawing/2014/main" val="161099884"/>
                        </a:ext>
                      </a:extLst>
                    </a:gridCol>
                    <a:gridCol w="1040384">
                      <a:extLst>
                        <a:ext uri="{9D8B030D-6E8A-4147-A177-3AD203B41FA5}">
                          <a16:colId xmlns:a16="http://schemas.microsoft.com/office/drawing/2014/main" val="2620001296"/>
                        </a:ext>
                      </a:extLst>
                    </a:gridCol>
                  </a:tblGrid>
                  <a:tr h="871940">
                    <a:tc>
                      <a:txBody>
                        <a:bodyPr/>
                        <a:lstStyle/>
                        <a:p>
                          <a:endParaRPr lang="ja-JP"/>
                        </a:p>
                      </a:txBody>
                      <a:tcPr>
                        <a:blipFill>
                          <a:blip r:embed="rId2"/>
                          <a:stretch>
                            <a:fillRect l="-1170" t="-699" r="-201170" b="-202098"/>
                          </a:stretch>
                        </a:blipFill>
                      </a:tcPr>
                    </a:tc>
                    <a:tc>
                      <a:txBody>
                        <a:bodyPr/>
                        <a:lstStyle/>
                        <a:p>
                          <a:endParaRPr lang="ja-JP"/>
                        </a:p>
                      </a:txBody>
                      <a:tcPr>
                        <a:blipFill>
                          <a:blip r:embed="rId2"/>
                          <a:stretch>
                            <a:fillRect l="-101765" t="-699" r="-102353" b="-202098"/>
                          </a:stretch>
                        </a:blipFill>
                      </a:tcPr>
                    </a:tc>
                    <a:tc>
                      <a:txBody>
                        <a:bodyPr/>
                        <a:lstStyle/>
                        <a:p>
                          <a:endParaRPr lang="ja-JP"/>
                        </a:p>
                      </a:txBody>
                      <a:tcPr>
                        <a:blipFill>
                          <a:blip r:embed="rId2"/>
                          <a:stretch>
                            <a:fillRect l="-200585" t="-699" r="-1754" b="-202098"/>
                          </a:stretch>
                        </a:blipFill>
                      </a:tcPr>
                    </a:tc>
                    <a:extLst>
                      <a:ext uri="{0D108BD9-81ED-4DB2-BD59-A6C34878D82A}">
                        <a16:rowId xmlns:a16="http://schemas.microsoft.com/office/drawing/2014/main" val="1536901703"/>
                      </a:ext>
                    </a:extLst>
                  </a:tr>
                  <a:tr h="871940">
                    <a:tc>
                      <a:txBody>
                        <a:bodyPr/>
                        <a:lstStyle/>
                        <a:p>
                          <a:endParaRPr lang="ja-JP"/>
                        </a:p>
                      </a:txBody>
                      <a:tcPr>
                        <a:blipFill>
                          <a:blip r:embed="rId2"/>
                          <a:stretch>
                            <a:fillRect l="-1170" t="-100000" r="-201170" b="-100694"/>
                          </a:stretch>
                        </a:blipFill>
                      </a:tcPr>
                    </a:tc>
                    <a:tc>
                      <a:txBody>
                        <a:bodyPr/>
                        <a:lstStyle/>
                        <a:p>
                          <a:endParaRPr lang="ja-JP"/>
                        </a:p>
                      </a:txBody>
                      <a:tcPr>
                        <a:blipFill>
                          <a:blip r:embed="rId2"/>
                          <a:stretch>
                            <a:fillRect l="-101765" t="-100000" r="-102353" b="-100694"/>
                          </a:stretch>
                        </a:blipFill>
                      </a:tcPr>
                    </a:tc>
                    <a:tc>
                      <a:txBody>
                        <a:bodyPr/>
                        <a:lstStyle/>
                        <a:p>
                          <a:endParaRPr lang="ja-JP"/>
                        </a:p>
                      </a:txBody>
                      <a:tcPr>
                        <a:blipFill>
                          <a:blip r:embed="rId2"/>
                          <a:stretch>
                            <a:fillRect l="-200585" t="-100000" r="-1754" b="-100694"/>
                          </a:stretch>
                        </a:blipFill>
                      </a:tcPr>
                    </a:tc>
                    <a:extLst>
                      <a:ext uri="{0D108BD9-81ED-4DB2-BD59-A6C34878D82A}">
                        <a16:rowId xmlns:a16="http://schemas.microsoft.com/office/drawing/2014/main" val="3087686638"/>
                      </a:ext>
                    </a:extLst>
                  </a:tr>
                  <a:tr h="871940">
                    <a:tc>
                      <a:txBody>
                        <a:bodyPr/>
                        <a:lstStyle/>
                        <a:p>
                          <a:endParaRPr lang="ja-JP"/>
                        </a:p>
                      </a:txBody>
                      <a:tcPr>
                        <a:blipFill>
                          <a:blip r:embed="rId2"/>
                          <a:stretch>
                            <a:fillRect l="-1170" t="-201399" r="-201170" b="-1399"/>
                          </a:stretch>
                        </a:blipFill>
                      </a:tcPr>
                    </a:tc>
                    <a:tc>
                      <a:txBody>
                        <a:bodyPr/>
                        <a:lstStyle/>
                        <a:p>
                          <a:endParaRPr lang="ja-JP"/>
                        </a:p>
                      </a:txBody>
                      <a:tcPr>
                        <a:blipFill>
                          <a:blip r:embed="rId2"/>
                          <a:stretch>
                            <a:fillRect l="-101765" t="-201399" r="-102353" b="-1399"/>
                          </a:stretch>
                        </a:blipFill>
                      </a:tcPr>
                    </a:tc>
                    <a:tc>
                      <a:txBody>
                        <a:bodyPr/>
                        <a:lstStyle/>
                        <a:p>
                          <a:endParaRPr lang="ja-JP"/>
                        </a:p>
                      </a:txBody>
                      <a:tcPr>
                        <a:blipFill>
                          <a:blip r:embed="rId2"/>
                          <a:stretch>
                            <a:fillRect l="-200585" t="-201399" r="-1754" b="-1399"/>
                          </a:stretch>
                        </a:blipFill>
                      </a:tcPr>
                    </a:tc>
                    <a:extLst>
                      <a:ext uri="{0D108BD9-81ED-4DB2-BD59-A6C34878D82A}">
                        <a16:rowId xmlns:a16="http://schemas.microsoft.com/office/drawing/2014/main" val="889266494"/>
                      </a:ext>
                    </a:extLst>
                  </a:tr>
                </a:tbl>
              </a:graphicData>
            </a:graphic>
          </p:graphicFrame>
        </mc:Fallback>
      </mc:AlternateContent>
      <p:sp>
        <p:nvSpPr>
          <p:cNvPr id="6" name="吹き出し: 四角形 5">
            <a:extLst>
              <a:ext uri="{FF2B5EF4-FFF2-40B4-BE49-F238E27FC236}">
                <a16:creationId xmlns:a16="http://schemas.microsoft.com/office/drawing/2014/main" id="{2912CCC7-EFB6-D0C7-1B6B-6586EAE6A04F}"/>
              </a:ext>
            </a:extLst>
          </p:cNvPr>
          <p:cNvSpPr/>
          <p:nvPr/>
        </p:nvSpPr>
        <p:spPr>
          <a:xfrm>
            <a:off x="6611112" y="3044316"/>
            <a:ext cx="2523744" cy="2515236"/>
          </a:xfrm>
          <a:prstGeom prst="wedgeRectCallout">
            <a:avLst>
              <a:gd name="adj1" fmla="val -59956"/>
              <a:gd name="adj2" fmla="val 1116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加重平均・ガウシアンフィルタで使う</a:t>
            </a:r>
            <a:endParaRPr lang="en-US" altLang="ja-JP" dirty="0"/>
          </a:p>
          <a:p>
            <a:pPr algn="ctr"/>
            <a:r>
              <a:rPr kumimoji="1" lang="en-US" altLang="ja-JP" dirty="0"/>
              <a:t>3×3</a:t>
            </a:r>
            <a:r>
              <a:rPr kumimoji="1" lang="ja-JP" altLang="en-US" dirty="0"/>
              <a:t>のカーネル</a:t>
            </a:r>
            <a:endParaRPr kumimoji="1" lang="en-US" altLang="ja-JP" dirty="0"/>
          </a:p>
          <a:p>
            <a:pPr algn="ctr"/>
            <a:endParaRPr lang="en-US" altLang="ja-JP" dirty="0"/>
          </a:p>
          <a:p>
            <a:pPr algn="ctr"/>
            <a:r>
              <a:rPr kumimoji="1" lang="ja-JP" altLang="en-US" dirty="0"/>
              <a:t>加重平均の場合、</a:t>
            </a:r>
            <a:endParaRPr kumimoji="1" lang="en-US" altLang="ja-JP" dirty="0"/>
          </a:p>
          <a:p>
            <a:pPr algn="ctr"/>
            <a:r>
              <a:rPr kumimoji="1" lang="ja-JP" altLang="en-US" dirty="0"/>
              <a:t>手作業で値を決める。</a:t>
            </a:r>
            <a:endParaRPr kumimoji="1" lang="en-US" altLang="ja-JP" dirty="0"/>
          </a:p>
          <a:p>
            <a:pPr algn="ctr"/>
            <a:r>
              <a:rPr lang="ja-JP" altLang="en-US" dirty="0"/>
              <a:t>ガウシアンの場合、</a:t>
            </a:r>
            <a:endParaRPr lang="en-US" altLang="ja-JP" dirty="0"/>
          </a:p>
          <a:p>
            <a:pPr algn="ctr"/>
            <a:r>
              <a:rPr lang="ja-JP" altLang="en-US" dirty="0"/>
              <a:t>ガウス分布により</a:t>
            </a:r>
            <a:endParaRPr lang="en-US" altLang="ja-JP" dirty="0"/>
          </a:p>
          <a:p>
            <a:pPr algn="ctr"/>
            <a:r>
              <a:rPr lang="ja-JP" altLang="en-US" dirty="0"/>
              <a:t>自動で決まる。</a:t>
            </a:r>
            <a:endParaRPr kumimoji="1" lang="ja-JP" altLang="en-US" dirty="0"/>
          </a:p>
        </p:txBody>
      </p:sp>
    </p:spTree>
    <p:extLst>
      <p:ext uri="{BB962C8B-B14F-4D97-AF65-F5344CB8AC3E}">
        <p14:creationId xmlns:p14="http://schemas.microsoft.com/office/powerpoint/2010/main" val="3053698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838200" y="1282262"/>
            <a:ext cx="10515600" cy="4351338"/>
          </a:xfrm>
        </p:spPr>
        <p:txBody>
          <a:bodyPr>
            <a:normAutofit/>
          </a:bodyPr>
          <a:lstStyle/>
          <a:p>
            <a:pPr marL="0" indent="0">
              <a:buNone/>
            </a:pPr>
            <a:r>
              <a:rPr lang="ja-JP" altLang="en-US" sz="2400" dirty="0"/>
              <a:t>メディアンフィルタは、注目画素と</a:t>
            </a:r>
            <a:r>
              <a:rPr lang="en-US" altLang="ja-JP" sz="2400" dirty="0"/>
              <a:t>8</a:t>
            </a:r>
            <a:r>
              <a:rPr lang="ja-JP" altLang="en-US" sz="2400" dirty="0"/>
              <a:t>近傍の画素の濃度値を大きい順</a:t>
            </a:r>
            <a:r>
              <a:rPr lang="en-US" altLang="ja-JP" sz="2400" dirty="0"/>
              <a:t>(</a:t>
            </a:r>
            <a:r>
              <a:rPr lang="ja-JP" altLang="en-US" sz="2400" dirty="0"/>
              <a:t>小さい順</a:t>
            </a:r>
            <a:r>
              <a:rPr lang="en-US" altLang="ja-JP" sz="2400" dirty="0"/>
              <a:t>)</a:t>
            </a:r>
            <a:r>
              <a:rPr lang="ja-JP" altLang="en-US" sz="2400" dirty="0"/>
              <a:t>に並べ、真ん中の値</a:t>
            </a:r>
            <a:r>
              <a:rPr lang="en-US" altLang="ja-JP" sz="2400" dirty="0"/>
              <a:t>(</a:t>
            </a:r>
            <a:r>
              <a:rPr lang="ja-JP" altLang="en-US" sz="2400" dirty="0"/>
              <a:t>中央値</a:t>
            </a:r>
            <a:r>
              <a:rPr lang="en-US" altLang="ja-JP" sz="2400" dirty="0"/>
              <a:t>)</a:t>
            </a:r>
            <a:r>
              <a:rPr lang="ja-JP" altLang="en-US" sz="2400" dirty="0"/>
              <a:t>を新しい濃度値とするフィルタ</a:t>
            </a:r>
            <a:endParaRPr lang="en-US" altLang="ja-JP" sz="2400" dirty="0"/>
          </a:p>
        </p:txBody>
      </p:sp>
      <p:sp>
        <p:nvSpPr>
          <p:cNvPr id="4" name="スライド番号プレースホルダー 3"/>
          <p:cNvSpPr>
            <a:spLocks noGrp="1"/>
          </p:cNvSpPr>
          <p:nvPr>
            <p:ph type="sldNum" sz="quarter" idx="12"/>
          </p:nvPr>
        </p:nvSpPr>
        <p:spPr/>
        <p:txBody>
          <a:bodyPr/>
          <a:lstStyle/>
          <a:p>
            <a:fld id="{D10A016C-6A56-4254-B2F7-E3C492509AAD}" type="slidenum">
              <a:rPr kumimoji="1" lang="ja-JP" altLang="en-US" smtClean="0"/>
              <a:t>22</a:t>
            </a:fld>
            <a:endParaRPr kumimoji="1" lang="ja-JP" altLang="en-US"/>
          </a:p>
        </p:txBody>
      </p:sp>
      <p:sp>
        <p:nvSpPr>
          <p:cNvPr id="5" name="フッター プレースホルダー 4">
            <a:extLst>
              <a:ext uri="{FF2B5EF4-FFF2-40B4-BE49-F238E27FC236}">
                <a16:creationId xmlns:a16="http://schemas.microsoft.com/office/drawing/2014/main" id="{E55D7F21-4D89-42EC-B95D-D50EA28A0D1D}"/>
              </a:ext>
            </a:extLst>
          </p:cNvPr>
          <p:cNvSpPr>
            <a:spLocks noGrp="1"/>
          </p:cNvSpPr>
          <p:nvPr>
            <p:ph type="ftr" sz="quarter" idx="11"/>
          </p:nvPr>
        </p:nvSpPr>
        <p:spPr/>
        <p:txBody>
          <a:bodyPr/>
          <a:lstStyle/>
          <a:p>
            <a:r>
              <a:rPr kumimoji="1" lang="ja-JP" altLang="en-US"/>
              <a:t>ポリテクセンター栃木</a:t>
            </a:r>
            <a:endParaRPr kumimoji="1" lang="ja-JP" altLang="en-US" dirty="0"/>
          </a:p>
        </p:txBody>
      </p:sp>
      <p:pic>
        <p:nvPicPr>
          <p:cNvPr id="7" name="図 6">
            <a:extLst>
              <a:ext uri="{FF2B5EF4-FFF2-40B4-BE49-F238E27FC236}">
                <a16:creationId xmlns:a16="http://schemas.microsoft.com/office/drawing/2014/main" id="{AD5C677F-6F11-16E5-74D3-998FE39D1601}"/>
              </a:ext>
            </a:extLst>
          </p:cNvPr>
          <p:cNvPicPr>
            <a:picLocks noChangeAspect="1"/>
          </p:cNvPicPr>
          <p:nvPr/>
        </p:nvPicPr>
        <p:blipFill>
          <a:blip r:embed="rId2"/>
          <a:stretch>
            <a:fillRect/>
          </a:stretch>
        </p:blipFill>
        <p:spPr>
          <a:xfrm>
            <a:off x="1471618" y="2080389"/>
            <a:ext cx="6125879" cy="3914586"/>
          </a:xfrm>
          <a:prstGeom prst="rect">
            <a:avLst/>
          </a:prstGeom>
        </p:spPr>
      </p:pic>
      <p:sp>
        <p:nvSpPr>
          <p:cNvPr id="9" name="タイトル 1">
            <a:extLst>
              <a:ext uri="{FF2B5EF4-FFF2-40B4-BE49-F238E27FC236}">
                <a16:creationId xmlns:a16="http://schemas.microsoft.com/office/drawing/2014/main" id="{6706D58C-FFAD-CE0F-BBE8-8E3975E2059C}"/>
              </a:ext>
            </a:extLst>
          </p:cNvPr>
          <p:cNvSpPr txBox="1">
            <a:spLocks/>
          </p:cNvSpPr>
          <p:nvPr/>
        </p:nvSpPr>
        <p:spPr>
          <a:xfrm>
            <a:off x="838200" y="365125"/>
            <a:ext cx="10515600"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dirty="0"/>
              <a:t>中央値</a:t>
            </a:r>
            <a:r>
              <a:rPr lang="en-US" altLang="ja-JP" b="1" dirty="0"/>
              <a:t>(</a:t>
            </a:r>
            <a:r>
              <a:rPr lang="ja-JP" altLang="en-US" b="1" dirty="0"/>
              <a:t>メディアン</a:t>
            </a:r>
            <a:r>
              <a:rPr lang="en-US" altLang="ja-JP" b="1" dirty="0"/>
              <a:t>)</a:t>
            </a:r>
            <a:r>
              <a:rPr lang="ja-JP" altLang="en-US" b="1" dirty="0"/>
              <a:t>フィルタ</a:t>
            </a:r>
          </a:p>
        </p:txBody>
      </p:sp>
      <p:sp>
        <p:nvSpPr>
          <p:cNvPr id="2" name="吹き出し: 四角形 1">
            <a:extLst>
              <a:ext uri="{FF2B5EF4-FFF2-40B4-BE49-F238E27FC236}">
                <a16:creationId xmlns:a16="http://schemas.microsoft.com/office/drawing/2014/main" id="{EA37BB58-023F-E3D6-7843-79541E5B4065}"/>
              </a:ext>
            </a:extLst>
          </p:cNvPr>
          <p:cNvSpPr/>
          <p:nvPr/>
        </p:nvSpPr>
        <p:spPr>
          <a:xfrm>
            <a:off x="7836408" y="2032444"/>
            <a:ext cx="3517392" cy="1298448"/>
          </a:xfrm>
          <a:prstGeom prst="wedgeRectCallout">
            <a:avLst>
              <a:gd name="adj1" fmla="val -91610"/>
              <a:gd name="adj2" fmla="val 5125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外れ値が消えるので</a:t>
            </a:r>
            <a:endParaRPr kumimoji="1" lang="en-US" altLang="ja-JP" dirty="0"/>
          </a:p>
          <a:p>
            <a:pPr algn="ctr"/>
            <a:r>
              <a:rPr lang="ja-JP" altLang="en-US" b="1" dirty="0"/>
              <a:t>ゴマ塩ノイズ</a:t>
            </a:r>
            <a:endParaRPr lang="en-US" altLang="ja-JP" b="1" dirty="0"/>
          </a:p>
          <a:p>
            <a:pPr algn="ctr"/>
            <a:r>
              <a:rPr lang="en-US" altLang="ja-JP" dirty="0"/>
              <a:t>(Salt-and-Pepper noise)</a:t>
            </a:r>
          </a:p>
          <a:p>
            <a:pPr algn="ctr"/>
            <a:r>
              <a:rPr lang="ja-JP" altLang="en-US" dirty="0"/>
              <a:t>に対しては最強のフィルタ</a:t>
            </a:r>
            <a:endParaRPr lang="en-US" altLang="ja-JP" dirty="0"/>
          </a:p>
        </p:txBody>
      </p:sp>
      <p:pic>
        <p:nvPicPr>
          <p:cNvPr id="19458" name="Picture 2">
            <a:extLst>
              <a:ext uri="{FF2B5EF4-FFF2-40B4-BE49-F238E27FC236}">
                <a16:creationId xmlns:a16="http://schemas.microsoft.com/office/drawing/2014/main" id="{493D52DE-BC18-EB1F-46F2-91F4FED61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0915" y="3371160"/>
            <a:ext cx="2489467" cy="332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350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平滑化フィルタ　まとめ</a:t>
            </a:r>
          </a:p>
        </p:txBody>
      </p:sp>
      <p:sp>
        <p:nvSpPr>
          <p:cNvPr id="4" name="フッター プレースホルダー 3">
            <a:extLst>
              <a:ext uri="{FF2B5EF4-FFF2-40B4-BE49-F238E27FC236}">
                <a16:creationId xmlns:a16="http://schemas.microsoft.com/office/drawing/2014/main" id="{79F6A989-6A1C-DA61-BCA3-3AA5B4A35FC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37DA7A90-AB3F-5183-F7A1-9B42BE11DBE6}"/>
              </a:ext>
            </a:extLst>
          </p:cNvPr>
          <p:cNvSpPr>
            <a:spLocks noGrp="1"/>
          </p:cNvSpPr>
          <p:nvPr>
            <p:ph type="sldNum" sz="quarter" idx="12"/>
          </p:nvPr>
        </p:nvSpPr>
        <p:spPr/>
        <p:txBody>
          <a:bodyPr/>
          <a:lstStyle/>
          <a:p>
            <a:fld id="{82EE47C2-3066-499F-97BE-8094ED607EB5}" type="slidenum">
              <a:rPr kumimoji="1" lang="ja-JP" altLang="en-US" smtClean="0"/>
              <a:t>23</a:t>
            </a:fld>
            <a:endParaRPr kumimoji="1" lang="ja-JP" altLang="en-US"/>
          </a:p>
        </p:txBody>
      </p:sp>
      <p:graphicFrame>
        <p:nvGraphicFramePr>
          <p:cNvPr id="6" name="表 5">
            <a:extLst>
              <a:ext uri="{FF2B5EF4-FFF2-40B4-BE49-F238E27FC236}">
                <a16:creationId xmlns:a16="http://schemas.microsoft.com/office/drawing/2014/main" id="{8B976744-1C23-D5C9-ADFA-8E387F942DA4}"/>
              </a:ext>
            </a:extLst>
          </p:cNvPr>
          <p:cNvGraphicFramePr>
            <a:graphicFrameLocks noGrp="1"/>
          </p:cNvGraphicFramePr>
          <p:nvPr>
            <p:extLst>
              <p:ext uri="{D42A27DB-BD31-4B8C-83A1-F6EECF244321}">
                <p14:modId xmlns:p14="http://schemas.microsoft.com/office/powerpoint/2010/main" val="3229548805"/>
              </p:ext>
            </p:extLst>
          </p:nvPr>
        </p:nvGraphicFramePr>
        <p:xfrm>
          <a:off x="384048" y="1145102"/>
          <a:ext cx="11247120" cy="5063674"/>
        </p:xfrm>
        <a:graphic>
          <a:graphicData uri="http://schemas.openxmlformats.org/drawingml/2006/table">
            <a:tbl>
              <a:tblPr firstRow="1" bandRow="1">
                <a:tableStyleId>{5C22544A-7EE6-4342-B048-85BDC9FD1C3A}</a:tableStyleId>
              </a:tblPr>
              <a:tblGrid>
                <a:gridCol w="2249424">
                  <a:extLst>
                    <a:ext uri="{9D8B030D-6E8A-4147-A177-3AD203B41FA5}">
                      <a16:colId xmlns:a16="http://schemas.microsoft.com/office/drawing/2014/main" val="82555826"/>
                    </a:ext>
                  </a:extLst>
                </a:gridCol>
                <a:gridCol w="2249424">
                  <a:extLst>
                    <a:ext uri="{9D8B030D-6E8A-4147-A177-3AD203B41FA5}">
                      <a16:colId xmlns:a16="http://schemas.microsoft.com/office/drawing/2014/main" val="2440547262"/>
                    </a:ext>
                  </a:extLst>
                </a:gridCol>
                <a:gridCol w="2249424">
                  <a:extLst>
                    <a:ext uri="{9D8B030D-6E8A-4147-A177-3AD203B41FA5}">
                      <a16:colId xmlns:a16="http://schemas.microsoft.com/office/drawing/2014/main" val="727584530"/>
                    </a:ext>
                  </a:extLst>
                </a:gridCol>
                <a:gridCol w="2249424">
                  <a:extLst>
                    <a:ext uri="{9D8B030D-6E8A-4147-A177-3AD203B41FA5}">
                      <a16:colId xmlns:a16="http://schemas.microsoft.com/office/drawing/2014/main" val="2157179466"/>
                    </a:ext>
                  </a:extLst>
                </a:gridCol>
                <a:gridCol w="2249424">
                  <a:extLst>
                    <a:ext uri="{9D8B030D-6E8A-4147-A177-3AD203B41FA5}">
                      <a16:colId xmlns:a16="http://schemas.microsoft.com/office/drawing/2014/main" val="3866634293"/>
                    </a:ext>
                  </a:extLst>
                </a:gridCol>
              </a:tblGrid>
              <a:tr h="327082">
                <a:tc>
                  <a:txBody>
                    <a:bodyPr/>
                    <a:lstStyle/>
                    <a:p>
                      <a:pPr algn="ctr"/>
                      <a:r>
                        <a:rPr kumimoji="1" lang="ja-JP" altLang="en-US" dirty="0"/>
                        <a:t>名称</a:t>
                      </a:r>
                    </a:p>
                  </a:txBody>
                  <a:tcPr/>
                </a:tc>
                <a:tc>
                  <a:txBody>
                    <a:bodyPr/>
                    <a:lstStyle/>
                    <a:p>
                      <a:pPr algn="ctr"/>
                      <a:r>
                        <a:rPr kumimoji="1" lang="ja-JP" altLang="en-US" dirty="0"/>
                        <a:t>特徴</a:t>
                      </a:r>
                    </a:p>
                  </a:txBody>
                  <a:tcPr/>
                </a:tc>
                <a:tc>
                  <a:txBody>
                    <a:bodyPr/>
                    <a:lstStyle/>
                    <a:p>
                      <a:pPr algn="ctr"/>
                      <a:r>
                        <a:rPr kumimoji="1" lang="ja-JP" altLang="en-US" dirty="0"/>
                        <a:t>効果</a:t>
                      </a:r>
                    </a:p>
                  </a:txBody>
                  <a:tcPr/>
                </a:tc>
                <a:tc>
                  <a:txBody>
                    <a:bodyPr/>
                    <a:lstStyle/>
                    <a:p>
                      <a:pPr algn="ctr"/>
                      <a:r>
                        <a:rPr kumimoji="1" lang="ja-JP" altLang="en-US" dirty="0"/>
                        <a:t>弱点</a:t>
                      </a:r>
                    </a:p>
                  </a:txBody>
                  <a:tcPr/>
                </a:tc>
                <a:tc>
                  <a:txBody>
                    <a:bodyPr/>
                    <a:lstStyle/>
                    <a:p>
                      <a:pPr algn="ctr"/>
                      <a:r>
                        <a:rPr kumimoji="1" lang="ja-JP" altLang="en-US" dirty="0"/>
                        <a:t>使いどころ</a:t>
                      </a:r>
                    </a:p>
                  </a:txBody>
                  <a:tcPr/>
                </a:tc>
                <a:extLst>
                  <a:ext uri="{0D108BD9-81ED-4DB2-BD59-A6C34878D82A}">
                    <a16:rowId xmlns:a16="http://schemas.microsoft.com/office/drawing/2014/main" val="3886770990"/>
                  </a:ext>
                </a:extLst>
              </a:tr>
              <a:tr h="601402">
                <a:tc>
                  <a:txBody>
                    <a:bodyPr/>
                    <a:lstStyle/>
                    <a:p>
                      <a:r>
                        <a:rPr kumimoji="1" lang="ja-JP" altLang="en-US" b="1" dirty="0"/>
                        <a:t>平均値フィルタ</a:t>
                      </a:r>
                    </a:p>
                  </a:txBody>
                  <a:tcPr/>
                </a:tc>
                <a:tc>
                  <a:txBody>
                    <a:bodyPr/>
                    <a:lstStyle/>
                    <a:p>
                      <a:r>
                        <a:rPr kumimoji="1" lang="ja-JP" altLang="en-US" dirty="0"/>
                        <a:t>周囲の画素の平均値で置き換える</a:t>
                      </a:r>
                    </a:p>
                  </a:txBody>
                  <a:tcPr/>
                </a:tc>
                <a:tc>
                  <a:txBody>
                    <a:bodyPr/>
                    <a:lstStyle/>
                    <a:p>
                      <a:r>
                        <a:rPr kumimoji="1" lang="ja-JP" altLang="en-US" dirty="0"/>
                        <a:t>全体的にぼかす</a:t>
                      </a:r>
                      <a:endParaRPr kumimoji="1" lang="en-US" altLang="ja-JP" dirty="0"/>
                    </a:p>
                    <a:p>
                      <a:r>
                        <a:rPr kumimoji="1" lang="ja-JP" altLang="en-US" dirty="0"/>
                        <a:t>ノイズを弱める</a:t>
                      </a:r>
                    </a:p>
                  </a:txBody>
                  <a:tcPr/>
                </a:tc>
                <a:tc>
                  <a:txBody>
                    <a:bodyPr/>
                    <a:lstStyle/>
                    <a:p>
                      <a:r>
                        <a:rPr kumimoji="1" lang="ja-JP" altLang="en-US" dirty="0"/>
                        <a:t>輪郭</a:t>
                      </a:r>
                      <a:r>
                        <a:rPr kumimoji="1" lang="en-US" altLang="ja-JP" dirty="0"/>
                        <a:t>(</a:t>
                      </a:r>
                      <a:r>
                        <a:rPr kumimoji="1" lang="ja-JP" altLang="en-US" dirty="0"/>
                        <a:t>エッジ</a:t>
                      </a:r>
                      <a:r>
                        <a:rPr kumimoji="1" lang="en-US" altLang="ja-JP" dirty="0"/>
                        <a:t>)</a:t>
                      </a:r>
                      <a:r>
                        <a:rPr kumimoji="1" lang="ja-JP" altLang="en-US" dirty="0"/>
                        <a:t>がぼやける</a:t>
                      </a:r>
                    </a:p>
                  </a:txBody>
                  <a:tcPr/>
                </a:tc>
                <a:tc>
                  <a:txBody>
                    <a:bodyPr/>
                    <a:lstStyle/>
                    <a:p>
                      <a:r>
                        <a:rPr kumimoji="1" lang="ja-JP" altLang="en-US" dirty="0"/>
                        <a:t>軽いノイズ除去</a:t>
                      </a:r>
                    </a:p>
                  </a:txBody>
                  <a:tcPr/>
                </a:tc>
                <a:extLst>
                  <a:ext uri="{0D108BD9-81ED-4DB2-BD59-A6C34878D82A}">
                    <a16:rowId xmlns:a16="http://schemas.microsoft.com/office/drawing/2014/main" val="3557642632"/>
                  </a:ext>
                </a:extLst>
              </a:tr>
              <a:tr h="656266">
                <a:tc>
                  <a:txBody>
                    <a:bodyPr/>
                    <a:lstStyle/>
                    <a:p>
                      <a:r>
                        <a:rPr kumimoji="1" lang="ja-JP" altLang="en-US" b="1" dirty="0"/>
                        <a:t>加重平均フィルタ</a:t>
                      </a:r>
                    </a:p>
                  </a:txBody>
                  <a:tcPr/>
                </a:tc>
                <a:tc>
                  <a:txBody>
                    <a:bodyPr/>
                    <a:lstStyle/>
                    <a:p>
                      <a:r>
                        <a:rPr kumimoji="1" lang="ja-JP" altLang="en-US" dirty="0"/>
                        <a:t>中心が重い平均</a:t>
                      </a:r>
                      <a:endParaRPr kumimoji="1" lang="en-US" altLang="ja-JP" dirty="0"/>
                    </a:p>
                    <a:p>
                      <a:r>
                        <a:rPr kumimoji="1" lang="en-US" altLang="ja-JP" dirty="0"/>
                        <a:t>Gaussian</a:t>
                      </a:r>
                      <a:r>
                        <a:rPr kumimoji="1" lang="ja-JP" altLang="en-US" dirty="0"/>
                        <a:t>の簡易版</a:t>
                      </a:r>
                    </a:p>
                  </a:txBody>
                  <a:tcPr/>
                </a:tc>
                <a:tc>
                  <a:txBody>
                    <a:bodyPr/>
                    <a:lstStyle/>
                    <a:p>
                      <a:r>
                        <a:rPr kumimoji="1" lang="ja-JP" altLang="en-US" dirty="0"/>
                        <a:t>平均値フィルタよりはマシ</a:t>
                      </a:r>
                    </a:p>
                  </a:txBody>
                  <a:tcPr/>
                </a:tc>
                <a:tc>
                  <a:txBody>
                    <a:bodyPr/>
                    <a:lstStyle/>
                    <a:p>
                      <a:r>
                        <a:rPr kumimoji="1" lang="ja-JP" altLang="en-US" dirty="0"/>
                        <a:t>重み設計が面倒</a:t>
                      </a:r>
                    </a:p>
                  </a:txBody>
                  <a:tcPr/>
                </a:tc>
                <a:tc>
                  <a:txBody>
                    <a:bodyPr/>
                    <a:lstStyle/>
                    <a:p>
                      <a:r>
                        <a:rPr kumimoji="1" lang="ja-JP" altLang="en-US" dirty="0"/>
                        <a:t>平均値フィルタより自然にぼかす</a:t>
                      </a:r>
                    </a:p>
                  </a:txBody>
                  <a:tcPr/>
                </a:tc>
                <a:extLst>
                  <a:ext uri="{0D108BD9-81ED-4DB2-BD59-A6C34878D82A}">
                    <a16:rowId xmlns:a16="http://schemas.microsoft.com/office/drawing/2014/main" val="3675052093"/>
                  </a:ext>
                </a:extLst>
              </a:tr>
              <a:tr h="906664">
                <a:tc>
                  <a:txBody>
                    <a:bodyPr/>
                    <a:lstStyle/>
                    <a:p>
                      <a:r>
                        <a:rPr kumimoji="1" lang="ja-JP" altLang="en-US" b="1" dirty="0"/>
                        <a:t>ガウシアンフィルタ</a:t>
                      </a:r>
                    </a:p>
                  </a:txBody>
                  <a:tcPr/>
                </a:tc>
                <a:tc>
                  <a:txBody>
                    <a:bodyPr/>
                    <a:lstStyle/>
                    <a:p>
                      <a:r>
                        <a:rPr kumimoji="1" lang="ja-JP" altLang="en-US" dirty="0"/>
                        <a:t>加重をガウス分布でとったフィルタ</a:t>
                      </a:r>
                    </a:p>
                  </a:txBody>
                  <a:tcPr/>
                </a:tc>
                <a:tc>
                  <a:txBody>
                    <a:bodyPr/>
                    <a:lstStyle/>
                    <a:p>
                      <a:r>
                        <a:rPr kumimoji="1" lang="ja-JP" altLang="en-US" dirty="0"/>
                        <a:t>自然なぼかし</a:t>
                      </a:r>
                      <a:endParaRPr kumimoji="1" lang="en-US" altLang="ja-JP" dirty="0"/>
                    </a:p>
                    <a:p>
                      <a:r>
                        <a:rPr kumimoji="1" lang="ja-JP" altLang="en-US" dirty="0"/>
                        <a:t>ノイズ除去に強い</a:t>
                      </a:r>
                      <a:endParaRPr kumimoji="1" lang="en-US" altLang="ja-JP" dirty="0"/>
                    </a:p>
                    <a:p>
                      <a:r>
                        <a:rPr kumimoji="1" lang="ja-JP" altLang="en-US" dirty="0"/>
                        <a:t>エッジを比較的保つ</a:t>
                      </a:r>
                    </a:p>
                  </a:txBody>
                  <a:tcPr/>
                </a:tc>
                <a:tc>
                  <a:txBody>
                    <a:bodyPr/>
                    <a:lstStyle/>
                    <a:p>
                      <a:r>
                        <a:rPr kumimoji="1" lang="ja-JP" altLang="en-US" dirty="0"/>
                        <a:t>特になし</a:t>
                      </a:r>
                      <a:endParaRPr kumimoji="1" lang="en-US" altLang="ja-JP" dirty="0"/>
                    </a:p>
                    <a:p>
                      <a:endParaRPr kumimoji="1" lang="ja-JP" altLang="en-US" dirty="0"/>
                    </a:p>
                  </a:txBody>
                  <a:tcPr/>
                </a:tc>
                <a:tc>
                  <a:txBody>
                    <a:bodyPr/>
                    <a:lstStyle/>
                    <a:p>
                      <a:r>
                        <a:rPr kumimoji="1" lang="ja-JP" altLang="en-US" dirty="0"/>
                        <a:t>迷ったらコレ</a:t>
                      </a:r>
                    </a:p>
                  </a:txBody>
                  <a:tcPr/>
                </a:tc>
                <a:extLst>
                  <a:ext uri="{0D108BD9-81ED-4DB2-BD59-A6C34878D82A}">
                    <a16:rowId xmlns:a16="http://schemas.microsoft.com/office/drawing/2014/main" val="45659227"/>
                  </a:ext>
                </a:extLst>
              </a:tr>
              <a:tr h="888376">
                <a:tc>
                  <a:txBody>
                    <a:bodyPr/>
                    <a:lstStyle/>
                    <a:p>
                      <a:endParaRPr kumimoji="1" lang="en-US" altLang="ja-JP" b="1" dirty="0"/>
                    </a:p>
                    <a:p>
                      <a:r>
                        <a:rPr kumimoji="1" lang="ja-JP" altLang="en-US" b="1" dirty="0"/>
                        <a:t>中央値フィルタ</a:t>
                      </a:r>
                      <a:endParaRPr kumimoji="1" lang="en-US" altLang="ja-JP" b="1" dirty="0"/>
                    </a:p>
                  </a:txBody>
                  <a:tcPr/>
                </a:tc>
                <a:tc>
                  <a:txBody>
                    <a:bodyPr/>
                    <a:lstStyle/>
                    <a:p>
                      <a:r>
                        <a:rPr kumimoji="1" lang="ja-JP" altLang="en-US" dirty="0"/>
                        <a:t>周囲の中央値で画素の値を置き換え</a:t>
                      </a:r>
                    </a:p>
                  </a:txBody>
                  <a:tcPr/>
                </a:tc>
                <a:tc>
                  <a:txBody>
                    <a:bodyPr/>
                    <a:lstStyle/>
                    <a:p>
                      <a:r>
                        <a:rPr kumimoji="1" lang="ja-JP" altLang="en-US" dirty="0"/>
                        <a:t>ゴマ塩ノイズに対して最強の効果を発揮</a:t>
                      </a:r>
                      <a:endParaRPr kumimoji="1" lang="en-US" altLang="ja-JP" dirty="0"/>
                    </a:p>
                    <a:p>
                      <a:r>
                        <a:rPr kumimoji="1" lang="ja-JP" altLang="en-US" dirty="0"/>
                        <a:t>エッジも保つ</a:t>
                      </a:r>
                    </a:p>
                  </a:txBody>
                  <a:tcPr/>
                </a:tc>
                <a:tc>
                  <a:txBody>
                    <a:bodyPr/>
                    <a:lstStyle/>
                    <a:p>
                      <a:r>
                        <a:rPr kumimoji="1" lang="ja-JP" altLang="en-US" dirty="0"/>
                        <a:t>細かい模様が消える</a:t>
                      </a:r>
                      <a:endParaRPr kumimoji="1" lang="en-US" altLang="ja-JP" dirty="0"/>
                    </a:p>
                    <a:p>
                      <a:r>
                        <a:rPr kumimoji="1" lang="ja-JP" altLang="en-US" dirty="0"/>
                        <a:t>計算が重め</a:t>
                      </a:r>
                    </a:p>
                  </a:txBody>
                  <a:tcPr/>
                </a:tc>
                <a:tc>
                  <a:txBody>
                    <a:bodyPr/>
                    <a:lstStyle/>
                    <a:p>
                      <a:r>
                        <a:rPr kumimoji="1" lang="ja-JP" altLang="en-US" dirty="0"/>
                        <a:t>ゴマ塩ノイズが目立つ</a:t>
                      </a:r>
                      <a:r>
                        <a:rPr kumimoji="1" lang="en-US" altLang="ja-JP" dirty="0"/>
                        <a:t>【</a:t>
                      </a:r>
                      <a:r>
                        <a:rPr kumimoji="1" lang="ja-JP" altLang="en-US" dirty="0"/>
                        <a:t>画像</a:t>
                      </a:r>
                      <a:r>
                        <a:rPr kumimoji="1" lang="en-US" altLang="ja-JP" dirty="0"/>
                        <a:t>】</a:t>
                      </a:r>
                      <a:r>
                        <a:rPr kumimoji="1" lang="ja-JP" altLang="en-US" dirty="0"/>
                        <a:t>に使う</a:t>
                      </a:r>
                    </a:p>
                  </a:txBody>
                  <a:tcPr/>
                </a:tc>
                <a:extLst>
                  <a:ext uri="{0D108BD9-81ED-4DB2-BD59-A6C34878D82A}">
                    <a16:rowId xmlns:a16="http://schemas.microsoft.com/office/drawing/2014/main" val="2765179792"/>
                  </a:ext>
                </a:extLst>
              </a:tr>
              <a:tr h="658368">
                <a:tc>
                  <a:txBody>
                    <a:bodyPr/>
                    <a:lstStyle/>
                    <a:p>
                      <a:r>
                        <a:rPr kumimoji="1" lang="ja-JP" altLang="en-US" b="1" dirty="0"/>
                        <a:t>バイラテラル</a:t>
                      </a:r>
                      <a:endParaRPr kumimoji="1" lang="en-US" altLang="ja-JP" b="1" dirty="0"/>
                    </a:p>
                    <a:p>
                      <a:r>
                        <a:rPr kumimoji="1" lang="ja-JP" altLang="en-US" b="1" dirty="0"/>
                        <a:t>フィルタ</a:t>
                      </a:r>
                      <a:endParaRPr kumimoji="1" lang="en-US" altLang="ja-JP" b="1" dirty="0"/>
                    </a:p>
                  </a:txBody>
                  <a:tcPr/>
                </a:tc>
                <a:tc>
                  <a:txBody>
                    <a:bodyPr/>
                    <a:lstStyle/>
                    <a:p>
                      <a:r>
                        <a:rPr kumimoji="1" lang="ja-JP" altLang="en-US" dirty="0"/>
                        <a:t>空間距離＋色の距離から重み付け</a:t>
                      </a:r>
                    </a:p>
                  </a:txBody>
                  <a:tcPr/>
                </a:tc>
                <a:tc>
                  <a:txBody>
                    <a:bodyPr/>
                    <a:lstStyle/>
                    <a:p>
                      <a:r>
                        <a:rPr kumimoji="1" lang="ja-JP" altLang="en-US" dirty="0"/>
                        <a:t>エッジを強く保つ</a:t>
                      </a:r>
                      <a:endParaRPr kumimoji="1" lang="en-US" altLang="ja-JP" dirty="0"/>
                    </a:p>
                    <a:p>
                      <a:r>
                        <a:rPr kumimoji="1" lang="ja-JP" altLang="en-US" dirty="0"/>
                        <a:t>強めのノイズ除去</a:t>
                      </a:r>
                      <a:endParaRPr kumimoji="1" lang="en-US" altLang="ja-JP" dirty="0"/>
                    </a:p>
                  </a:txBody>
                  <a:tcPr/>
                </a:tc>
                <a:tc>
                  <a:txBody>
                    <a:bodyPr/>
                    <a:lstStyle/>
                    <a:p>
                      <a:r>
                        <a:rPr kumimoji="1" lang="ja-JP" altLang="en-US" dirty="0"/>
                        <a:t>計算が重い</a:t>
                      </a:r>
                    </a:p>
                  </a:txBody>
                  <a:tcPr/>
                </a:tc>
                <a:tc>
                  <a:txBody>
                    <a:bodyPr/>
                    <a:lstStyle/>
                    <a:p>
                      <a:r>
                        <a:rPr kumimoji="1" lang="ja-JP" altLang="en-US" dirty="0"/>
                        <a:t>輪郭を見たい</a:t>
                      </a:r>
                      <a:endParaRPr kumimoji="1" lang="en-US" altLang="ja-JP" dirty="0"/>
                    </a:p>
                    <a:p>
                      <a:r>
                        <a:rPr kumimoji="1" lang="en-US" altLang="ja-JP" dirty="0"/>
                        <a:t>【</a:t>
                      </a:r>
                      <a:r>
                        <a:rPr kumimoji="1" lang="ja-JP" altLang="en-US" dirty="0"/>
                        <a:t>画像</a:t>
                      </a:r>
                      <a:r>
                        <a:rPr kumimoji="1" lang="en-US" altLang="ja-JP" dirty="0"/>
                        <a:t>】</a:t>
                      </a:r>
                      <a:r>
                        <a:rPr kumimoji="1" lang="ja-JP" altLang="en-US" dirty="0"/>
                        <a:t>に使う</a:t>
                      </a:r>
                    </a:p>
                  </a:txBody>
                  <a:tcPr/>
                </a:tc>
                <a:extLst>
                  <a:ext uri="{0D108BD9-81ED-4DB2-BD59-A6C34878D82A}">
                    <a16:rowId xmlns:a16="http://schemas.microsoft.com/office/drawing/2014/main" val="3497973081"/>
                  </a:ext>
                </a:extLst>
              </a:tr>
              <a:tr h="658368">
                <a:tc>
                  <a:txBody>
                    <a:bodyPr/>
                    <a:lstStyle/>
                    <a:p>
                      <a:r>
                        <a:rPr kumimoji="1" lang="ja-JP" altLang="en-US" b="1" dirty="0"/>
                        <a:t>非局所平均フィルタ</a:t>
                      </a:r>
                      <a:endParaRPr kumimoji="1" lang="en-US" altLang="ja-JP" b="1" dirty="0"/>
                    </a:p>
                  </a:txBody>
                  <a:tcPr/>
                </a:tc>
                <a:tc>
                  <a:txBody>
                    <a:bodyPr/>
                    <a:lstStyle/>
                    <a:p>
                      <a:r>
                        <a:rPr kumimoji="1" lang="ja-JP" altLang="en-US" dirty="0"/>
                        <a:t>類似のバッチを画像全体から探して平均</a:t>
                      </a:r>
                    </a:p>
                  </a:txBody>
                  <a:tcPr/>
                </a:tc>
                <a:tc>
                  <a:txBody>
                    <a:bodyPr/>
                    <a:lstStyle/>
                    <a:p>
                      <a:r>
                        <a:rPr kumimoji="1" lang="ja-JP" altLang="en-US" dirty="0"/>
                        <a:t>最強のノイズ除去</a:t>
                      </a:r>
                      <a:endParaRPr kumimoji="1" lang="en-US" altLang="ja-JP" dirty="0"/>
                    </a:p>
                    <a:p>
                      <a:r>
                        <a:rPr kumimoji="1" lang="ja-JP" altLang="en-US" dirty="0"/>
                        <a:t>エッジも細かい模様もほぼ完全に保つ</a:t>
                      </a:r>
                      <a:endParaRPr kumimoji="1" lang="en-US" altLang="ja-JP" dirty="0"/>
                    </a:p>
                  </a:txBody>
                  <a:tcPr/>
                </a:tc>
                <a:tc>
                  <a:txBody>
                    <a:bodyPr/>
                    <a:lstStyle/>
                    <a:p>
                      <a:r>
                        <a:rPr kumimoji="1" lang="ja-JP" altLang="en-US" dirty="0"/>
                        <a:t>とんでもなく計算が重い</a:t>
                      </a:r>
                    </a:p>
                  </a:txBody>
                  <a:tcPr/>
                </a:tc>
                <a:tc>
                  <a:txBody>
                    <a:bodyPr/>
                    <a:lstStyle/>
                    <a:p>
                      <a:r>
                        <a:rPr kumimoji="1" lang="ja-JP" altLang="en-US" dirty="0"/>
                        <a:t>画像処理というより画像編集の場とかで使う</a:t>
                      </a:r>
                    </a:p>
                  </a:txBody>
                  <a:tcPr/>
                </a:tc>
                <a:extLst>
                  <a:ext uri="{0D108BD9-81ED-4DB2-BD59-A6C34878D82A}">
                    <a16:rowId xmlns:a16="http://schemas.microsoft.com/office/drawing/2014/main" val="859089447"/>
                  </a:ext>
                </a:extLst>
              </a:tr>
            </a:tbl>
          </a:graphicData>
        </a:graphic>
      </p:graphicFrame>
    </p:spTree>
    <p:extLst>
      <p:ext uri="{BB962C8B-B14F-4D97-AF65-F5344CB8AC3E}">
        <p14:creationId xmlns:p14="http://schemas.microsoft.com/office/powerpoint/2010/main" val="3511089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4D7596-600B-69EC-33D2-42E03ABF65BB}"/>
              </a:ext>
            </a:extLst>
          </p:cNvPr>
          <p:cNvSpPr>
            <a:spLocks noGrp="1"/>
          </p:cNvSpPr>
          <p:nvPr>
            <p:ph type="title"/>
          </p:nvPr>
        </p:nvSpPr>
        <p:spPr/>
        <p:txBody>
          <a:bodyPr/>
          <a:lstStyle/>
          <a:p>
            <a:r>
              <a:rPr kumimoji="1" lang="ja-JP" altLang="en-US" dirty="0"/>
              <a:t>練習</a:t>
            </a:r>
          </a:p>
        </p:txBody>
      </p:sp>
      <p:sp>
        <p:nvSpPr>
          <p:cNvPr id="3" name="コンテンツ プレースホルダー 2">
            <a:extLst>
              <a:ext uri="{FF2B5EF4-FFF2-40B4-BE49-F238E27FC236}">
                <a16:creationId xmlns:a16="http://schemas.microsoft.com/office/drawing/2014/main" id="{982C3927-064D-3C21-745B-DC1644DB0842}"/>
              </a:ext>
            </a:extLst>
          </p:cNvPr>
          <p:cNvSpPr>
            <a:spLocks noGrp="1"/>
          </p:cNvSpPr>
          <p:nvPr>
            <p:ph idx="1"/>
          </p:nvPr>
        </p:nvSpPr>
        <p:spPr/>
        <p:txBody>
          <a:bodyPr/>
          <a:lstStyle/>
          <a:p>
            <a:r>
              <a:rPr kumimoji="1" lang="en-US" altLang="ja-JP" dirty="0"/>
              <a:t>filters_demo.py</a:t>
            </a:r>
            <a:r>
              <a:rPr kumimoji="1" lang="ja-JP" altLang="en-US" dirty="0"/>
              <a:t>を参考に、</a:t>
            </a:r>
            <a:r>
              <a:rPr kumimoji="1" lang="en-US" altLang="ja-JP" dirty="0"/>
              <a:t>salt_and_pepper.png</a:t>
            </a:r>
            <a:r>
              <a:rPr kumimoji="1" lang="ja-JP" altLang="en-US" dirty="0"/>
              <a:t>に中央値フィルタをかけてください</a:t>
            </a:r>
            <a:endParaRPr kumimoji="1" lang="en-US" altLang="ja-JP" dirty="0"/>
          </a:p>
          <a:p>
            <a:r>
              <a:rPr lang="ja-JP" altLang="en-US" dirty="0"/>
              <a:t>ガウシアンフィルタをかけてラズパイカメラを起動してください</a:t>
            </a:r>
            <a:endParaRPr kumimoji="1" lang="ja-JP" altLang="en-US" dirty="0"/>
          </a:p>
        </p:txBody>
      </p:sp>
      <p:sp>
        <p:nvSpPr>
          <p:cNvPr id="4" name="フッター プレースホルダー 3">
            <a:extLst>
              <a:ext uri="{FF2B5EF4-FFF2-40B4-BE49-F238E27FC236}">
                <a16:creationId xmlns:a16="http://schemas.microsoft.com/office/drawing/2014/main" id="{E3C35D8E-6B9C-FC9A-65CD-AC1092B21986}"/>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C4B5EC44-54DE-25DD-7A97-20F4514FEAE4}"/>
              </a:ext>
            </a:extLst>
          </p:cNvPr>
          <p:cNvSpPr>
            <a:spLocks noGrp="1"/>
          </p:cNvSpPr>
          <p:nvPr>
            <p:ph type="sldNum" sz="quarter" idx="12"/>
          </p:nvPr>
        </p:nvSpPr>
        <p:spPr/>
        <p:txBody>
          <a:bodyPr/>
          <a:lstStyle/>
          <a:p>
            <a:fld id="{82EE47C2-3066-499F-97BE-8094ED607EB5}" type="slidenum">
              <a:rPr kumimoji="1" lang="ja-JP" altLang="en-US" smtClean="0"/>
              <a:t>24</a:t>
            </a:fld>
            <a:endParaRPr kumimoji="1" lang="ja-JP" altLang="en-US"/>
          </a:p>
        </p:txBody>
      </p:sp>
    </p:spTree>
    <p:extLst>
      <p:ext uri="{BB962C8B-B14F-4D97-AF65-F5344CB8AC3E}">
        <p14:creationId xmlns:p14="http://schemas.microsoft.com/office/powerpoint/2010/main" val="65316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エッジ検出フィルタ</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normAutofit/>
          </a:bodyPr>
          <a:lstStyle/>
          <a:p>
            <a:r>
              <a:rPr kumimoji="1" lang="ja-JP" altLang="en-US" dirty="0"/>
              <a:t>物体の形状を認識したい場合、エッジ検出フィルタを使う</a:t>
            </a:r>
            <a:endParaRPr kumimoji="1" lang="en-US" altLang="ja-JP" dirty="0"/>
          </a:p>
          <a:p>
            <a:r>
              <a:rPr lang="ja-JP" altLang="en-US" dirty="0"/>
              <a:t>原理は画素の濃度の変化点（明から暗、または暗から明になる境界）をフィルタで検出することによる（微分）</a:t>
            </a:r>
            <a:endParaRPr lang="en-US" altLang="ja-JP" dirty="0"/>
          </a:p>
          <a:p>
            <a:r>
              <a:rPr lang="ja-JP" altLang="en-US" dirty="0"/>
              <a:t>逆に言えば、背景と対象物の明暗の差が少ない場合はエッジ検出しづらい</a:t>
            </a:r>
            <a:endParaRPr lang="en-US" altLang="ja-JP" dirty="0"/>
          </a:p>
        </p:txBody>
      </p:sp>
      <p:pic>
        <p:nvPicPr>
          <p:cNvPr id="4" name="図 3">
            <a:extLst>
              <a:ext uri="{FF2B5EF4-FFF2-40B4-BE49-F238E27FC236}">
                <a16:creationId xmlns:a16="http://schemas.microsoft.com/office/drawing/2014/main" id="{9233EA22-9433-18C8-EE3C-04AC60138CC3}"/>
              </a:ext>
            </a:extLst>
          </p:cNvPr>
          <p:cNvPicPr>
            <a:picLocks noChangeAspect="1"/>
          </p:cNvPicPr>
          <p:nvPr/>
        </p:nvPicPr>
        <p:blipFill>
          <a:blip r:embed="rId3"/>
          <a:stretch>
            <a:fillRect/>
          </a:stretch>
        </p:blipFill>
        <p:spPr>
          <a:xfrm>
            <a:off x="4275631" y="3405007"/>
            <a:ext cx="7196201" cy="2889523"/>
          </a:xfrm>
          <a:prstGeom prst="rect">
            <a:avLst/>
          </a:prstGeom>
        </p:spPr>
      </p:pic>
      <p:pic>
        <p:nvPicPr>
          <p:cNvPr id="5" name="図 4" descr="モニター, 電子レンジ, スーツケース, オーブン が含まれている画像&#10;&#10;自動的に生成された説明">
            <a:extLst>
              <a:ext uri="{FF2B5EF4-FFF2-40B4-BE49-F238E27FC236}">
                <a16:creationId xmlns:a16="http://schemas.microsoft.com/office/drawing/2014/main" id="{F482EBEC-81EB-243E-8C90-66FAB41C05D5}"/>
              </a:ext>
            </a:extLst>
          </p:cNvPr>
          <p:cNvPicPr>
            <a:picLocks noChangeAspect="1"/>
          </p:cNvPicPr>
          <p:nvPr/>
        </p:nvPicPr>
        <p:blipFill rotWithShape="1">
          <a:blip r:embed="rId4">
            <a:extLst>
              <a:ext uri="{28A0092B-C50C-407E-A947-70E740481C1C}">
                <a14:useLocalDpi xmlns:a14="http://schemas.microsoft.com/office/drawing/2010/main" val="0"/>
              </a:ext>
            </a:extLst>
          </a:blip>
          <a:srcRect l="5192" t="39825" r="69530" b="28419"/>
          <a:stretch/>
        </p:blipFill>
        <p:spPr>
          <a:xfrm>
            <a:off x="372907" y="3582092"/>
            <a:ext cx="3205655" cy="2511096"/>
          </a:xfrm>
          <a:prstGeom prst="rect">
            <a:avLst/>
          </a:prstGeom>
        </p:spPr>
      </p:pic>
      <p:sp>
        <p:nvSpPr>
          <p:cNvPr id="6" name="正方形/長方形 5">
            <a:extLst>
              <a:ext uri="{FF2B5EF4-FFF2-40B4-BE49-F238E27FC236}">
                <a16:creationId xmlns:a16="http://schemas.microsoft.com/office/drawing/2014/main" id="{DF7638CA-D787-D0C8-B1C2-F883DA2C8E9B}"/>
              </a:ext>
            </a:extLst>
          </p:cNvPr>
          <p:cNvSpPr/>
          <p:nvPr/>
        </p:nvSpPr>
        <p:spPr>
          <a:xfrm>
            <a:off x="372907" y="4331479"/>
            <a:ext cx="1355835" cy="147144"/>
          </a:xfrm>
          <a:prstGeom prst="rect">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cxnSp>
        <p:nvCxnSpPr>
          <p:cNvPr id="8" name="直線矢印コネクタ 7">
            <a:extLst>
              <a:ext uri="{FF2B5EF4-FFF2-40B4-BE49-F238E27FC236}">
                <a16:creationId xmlns:a16="http://schemas.microsoft.com/office/drawing/2014/main" id="{439F64A8-4BC5-C1CB-3DAF-611E7D48C60F}"/>
              </a:ext>
            </a:extLst>
          </p:cNvPr>
          <p:cNvCxnSpPr>
            <a:cxnSpLocks/>
            <a:stCxn id="6" idx="3"/>
          </p:cNvCxnSpPr>
          <p:nvPr/>
        </p:nvCxnSpPr>
        <p:spPr>
          <a:xfrm>
            <a:off x="1728742" y="4405051"/>
            <a:ext cx="2921875" cy="73572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0" name="図 9">
            <a:extLst>
              <a:ext uri="{FF2B5EF4-FFF2-40B4-BE49-F238E27FC236}">
                <a16:creationId xmlns:a16="http://schemas.microsoft.com/office/drawing/2014/main" id="{0967E1D7-AB7C-895B-8A2F-A4D725414ACA}"/>
              </a:ext>
            </a:extLst>
          </p:cNvPr>
          <p:cNvPicPr>
            <a:picLocks noChangeAspect="1"/>
          </p:cNvPicPr>
          <p:nvPr/>
        </p:nvPicPr>
        <p:blipFill>
          <a:blip r:embed="rId5"/>
          <a:stretch>
            <a:fillRect/>
          </a:stretch>
        </p:blipFill>
        <p:spPr>
          <a:xfrm>
            <a:off x="7287296" y="3950146"/>
            <a:ext cx="1152509" cy="2143042"/>
          </a:xfrm>
          <a:prstGeom prst="rect">
            <a:avLst/>
          </a:prstGeom>
        </p:spPr>
      </p:pic>
      <p:sp>
        <p:nvSpPr>
          <p:cNvPr id="11" name="楕円 10">
            <a:extLst>
              <a:ext uri="{FF2B5EF4-FFF2-40B4-BE49-F238E27FC236}">
                <a16:creationId xmlns:a16="http://schemas.microsoft.com/office/drawing/2014/main" id="{1982923A-44D7-92A2-3CD6-AADBF2B445DA}"/>
              </a:ext>
            </a:extLst>
          </p:cNvPr>
          <p:cNvSpPr/>
          <p:nvPr/>
        </p:nvSpPr>
        <p:spPr>
          <a:xfrm>
            <a:off x="9388260" y="5344620"/>
            <a:ext cx="1135117" cy="1148255"/>
          </a:xfrm>
          <a:prstGeom prst="ellipse">
            <a:avLst/>
          </a:prstGeom>
          <a:noFill/>
          <a:ln w="28575">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A8EDE82-23DA-AE6F-B26F-53612E66BAA9}"/>
              </a:ext>
            </a:extLst>
          </p:cNvPr>
          <p:cNvSpPr txBox="1"/>
          <p:nvPr/>
        </p:nvSpPr>
        <p:spPr>
          <a:xfrm>
            <a:off x="8919236" y="4670601"/>
            <a:ext cx="2157250" cy="646331"/>
          </a:xfrm>
          <a:prstGeom prst="rect">
            <a:avLst/>
          </a:prstGeom>
          <a:noFill/>
        </p:spPr>
        <p:txBody>
          <a:bodyPr wrap="square" rtlCol="0">
            <a:spAutoFit/>
          </a:bodyPr>
          <a:lstStyle/>
          <a:p>
            <a:r>
              <a:rPr kumimoji="1" lang="ja-JP" altLang="en-US" b="1" dirty="0"/>
              <a:t>ここにエッジがあるとわかる</a:t>
            </a:r>
          </a:p>
        </p:txBody>
      </p:sp>
      <p:sp>
        <p:nvSpPr>
          <p:cNvPr id="7" name="フッター プレースホルダー 6">
            <a:extLst>
              <a:ext uri="{FF2B5EF4-FFF2-40B4-BE49-F238E27FC236}">
                <a16:creationId xmlns:a16="http://schemas.microsoft.com/office/drawing/2014/main" id="{B336FC17-F3D2-4325-7417-73D732F8943E}"/>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E10D814D-F839-0C72-62DC-8785C16AA577}"/>
              </a:ext>
            </a:extLst>
          </p:cNvPr>
          <p:cNvSpPr>
            <a:spLocks noGrp="1"/>
          </p:cNvSpPr>
          <p:nvPr>
            <p:ph type="sldNum" sz="quarter" idx="12"/>
          </p:nvPr>
        </p:nvSpPr>
        <p:spPr>
          <a:xfrm>
            <a:off x="8728632" y="6286978"/>
            <a:ext cx="2743200" cy="365125"/>
          </a:xfrm>
        </p:spPr>
        <p:txBody>
          <a:bodyPr/>
          <a:lstStyle/>
          <a:p>
            <a:fld id="{82EE47C2-3066-499F-97BE-8094ED607EB5}" type="slidenum">
              <a:rPr kumimoji="1" lang="ja-JP" altLang="en-US" smtClean="0"/>
              <a:t>25</a:t>
            </a:fld>
            <a:endParaRPr kumimoji="1" lang="ja-JP" altLang="en-US"/>
          </a:p>
        </p:txBody>
      </p:sp>
    </p:spTree>
    <p:extLst>
      <p:ext uri="{BB962C8B-B14F-4D97-AF65-F5344CB8AC3E}">
        <p14:creationId xmlns:p14="http://schemas.microsoft.com/office/powerpoint/2010/main" val="25045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エッジ検出の仕組み　</a:t>
            </a:r>
            <a:r>
              <a:rPr kumimoji="1" lang="en-US" altLang="ja-JP" b="1" dirty="0"/>
              <a:t>hello_edge.py</a:t>
            </a:r>
            <a:endParaRPr kumimoji="1" lang="ja-JP" altLang="en-US" b="1" dirty="0"/>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normAutofit/>
          </a:bodyPr>
          <a:lstStyle/>
          <a:p>
            <a:r>
              <a:rPr lang="ja-JP" altLang="en-US" dirty="0"/>
              <a:t>原理は左右や上下で差があるカーネルを使ったコンボリューション（フィルタ処理）で勾配画像を得る</a:t>
            </a:r>
            <a:endParaRPr lang="en-US" altLang="ja-JP" dirty="0"/>
          </a:p>
        </p:txBody>
      </p:sp>
      <p:sp>
        <p:nvSpPr>
          <p:cNvPr id="7" name="フッター プレースホルダー 6">
            <a:extLst>
              <a:ext uri="{FF2B5EF4-FFF2-40B4-BE49-F238E27FC236}">
                <a16:creationId xmlns:a16="http://schemas.microsoft.com/office/drawing/2014/main" id="{B336FC17-F3D2-4325-7417-73D732F8943E}"/>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E10D814D-F839-0C72-62DC-8785C16AA577}"/>
              </a:ext>
            </a:extLst>
          </p:cNvPr>
          <p:cNvSpPr>
            <a:spLocks noGrp="1"/>
          </p:cNvSpPr>
          <p:nvPr>
            <p:ph type="sldNum" sz="quarter" idx="12"/>
          </p:nvPr>
        </p:nvSpPr>
        <p:spPr/>
        <p:txBody>
          <a:bodyPr/>
          <a:lstStyle/>
          <a:p>
            <a:fld id="{82EE47C2-3066-499F-97BE-8094ED607EB5}" type="slidenum">
              <a:rPr kumimoji="1" lang="ja-JP" altLang="en-US" smtClean="0"/>
              <a:t>26</a:t>
            </a:fld>
            <a:endParaRPr kumimoji="1" lang="ja-JP" altLang="en-US"/>
          </a:p>
        </p:txBody>
      </p:sp>
      <mc:AlternateContent xmlns:mc="http://schemas.openxmlformats.org/markup-compatibility/2006">
        <mc:Choice xmlns:a14="http://schemas.microsoft.com/office/drawing/2010/main" Requires="a14">
          <p:graphicFrame>
            <p:nvGraphicFramePr>
              <p:cNvPr id="13" name="表 12">
                <a:extLst>
                  <a:ext uri="{FF2B5EF4-FFF2-40B4-BE49-F238E27FC236}">
                    <a16:creationId xmlns:a16="http://schemas.microsoft.com/office/drawing/2014/main" id="{077F8A96-253C-EEAB-B570-7E6B8D444D71}"/>
                  </a:ext>
                </a:extLst>
              </p:cNvPr>
              <p:cNvGraphicFramePr>
                <a:graphicFrameLocks noGrp="1"/>
              </p:cNvGraphicFramePr>
              <p:nvPr>
                <p:extLst>
                  <p:ext uri="{D42A27DB-BD31-4B8C-83A1-F6EECF244321}">
                    <p14:modId xmlns:p14="http://schemas.microsoft.com/office/powerpoint/2010/main" val="28174448"/>
                  </p:ext>
                </p:extLst>
              </p:nvPr>
            </p:nvGraphicFramePr>
            <p:xfrm>
              <a:off x="1617331" y="3289317"/>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3" name="表 12">
                <a:extLst>
                  <a:ext uri="{FF2B5EF4-FFF2-40B4-BE49-F238E27FC236}">
                    <a16:creationId xmlns:a16="http://schemas.microsoft.com/office/drawing/2014/main" id="{077F8A96-253C-EEAB-B570-7E6B8D444D71}"/>
                  </a:ext>
                </a:extLst>
              </p:cNvPr>
              <p:cNvGraphicFramePr>
                <a:graphicFrameLocks noGrp="1"/>
              </p:cNvGraphicFramePr>
              <p:nvPr>
                <p:extLst>
                  <p:ext uri="{D42A27DB-BD31-4B8C-83A1-F6EECF244321}">
                    <p14:modId xmlns:p14="http://schemas.microsoft.com/office/powerpoint/2010/main" val="28174448"/>
                  </p:ext>
                </p:extLst>
              </p:nvPr>
            </p:nvGraphicFramePr>
            <p:xfrm>
              <a:off x="1617331" y="3289317"/>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3"/>
                          <a:stretch>
                            <a:fillRect l="-1075" t="-1282" r="-202151" b="-203846"/>
                          </a:stretch>
                        </a:blipFill>
                      </a:tcPr>
                    </a:tc>
                    <a:tc>
                      <a:txBody>
                        <a:bodyPr/>
                        <a:lstStyle/>
                        <a:p>
                          <a:endParaRPr lang="ja-JP"/>
                        </a:p>
                      </a:txBody>
                      <a:tcPr>
                        <a:blipFill>
                          <a:blip r:embed="rId3"/>
                          <a:stretch>
                            <a:fillRect l="-101075" t="-1282" r="-102151" b="-203846"/>
                          </a:stretch>
                        </a:blipFill>
                      </a:tcPr>
                    </a:tc>
                    <a:tc>
                      <a:txBody>
                        <a:bodyPr/>
                        <a:lstStyle/>
                        <a:p>
                          <a:endParaRPr lang="ja-JP"/>
                        </a:p>
                      </a:txBody>
                      <a:tcPr>
                        <a:blipFill>
                          <a:blip r:embed="rId3"/>
                          <a:stretch>
                            <a:fillRect l="-201075" t="-1282" r="-2151" b="-203846"/>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3"/>
                          <a:stretch>
                            <a:fillRect l="-1075" t="-100000" r="-202151" b="-101266"/>
                          </a:stretch>
                        </a:blipFill>
                      </a:tcPr>
                    </a:tc>
                    <a:tc>
                      <a:txBody>
                        <a:bodyPr/>
                        <a:lstStyle/>
                        <a:p>
                          <a:endParaRPr lang="ja-JP"/>
                        </a:p>
                      </a:txBody>
                      <a:tcPr>
                        <a:blipFill>
                          <a:blip r:embed="rId3"/>
                          <a:stretch>
                            <a:fillRect l="-101075" t="-100000" r="-102151" b="-101266"/>
                          </a:stretch>
                        </a:blipFill>
                      </a:tcPr>
                    </a:tc>
                    <a:tc>
                      <a:txBody>
                        <a:bodyPr/>
                        <a:lstStyle/>
                        <a:p>
                          <a:endParaRPr lang="ja-JP"/>
                        </a:p>
                      </a:txBody>
                      <a:tcPr>
                        <a:blipFill>
                          <a:blip r:embed="rId3"/>
                          <a:stretch>
                            <a:fillRect l="-201075" t="-100000" r="-2151" b="-101266"/>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3"/>
                          <a:stretch>
                            <a:fillRect l="-1075" t="-202564" r="-202151" b="-2564"/>
                          </a:stretch>
                        </a:blipFill>
                      </a:tcPr>
                    </a:tc>
                    <a:tc>
                      <a:txBody>
                        <a:bodyPr/>
                        <a:lstStyle/>
                        <a:p>
                          <a:endParaRPr lang="ja-JP"/>
                        </a:p>
                      </a:txBody>
                      <a:tcPr>
                        <a:blipFill>
                          <a:blip r:embed="rId3"/>
                          <a:stretch>
                            <a:fillRect l="-101075" t="-202564" r="-102151" b="-2564"/>
                          </a:stretch>
                        </a:blipFill>
                      </a:tcPr>
                    </a:tc>
                    <a:tc>
                      <a:txBody>
                        <a:bodyPr/>
                        <a:lstStyle/>
                        <a:p>
                          <a:endParaRPr lang="ja-JP"/>
                        </a:p>
                      </a:txBody>
                      <a:tcPr>
                        <a:blipFill>
                          <a:blip r:embed="rId3"/>
                          <a:stretch>
                            <a:fillRect l="-201075" t="-202564" r="-2151" b="-2564"/>
                          </a:stretch>
                        </a:blipFill>
                      </a:tcPr>
                    </a:tc>
                    <a:extLst>
                      <a:ext uri="{0D108BD9-81ED-4DB2-BD59-A6C34878D82A}">
                        <a16:rowId xmlns:a16="http://schemas.microsoft.com/office/drawing/2014/main" val="889266494"/>
                      </a:ext>
                    </a:extLst>
                  </a:tr>
                </a:tbl>
              </a:graphicData>
            </a:graphic>
          </p:graphicFrame>
        </mc:Fallback>
      </mc:AlternateContent>
      <p:sp>
        <p:nvSpPr>
          <p:cNvPr id="14" name="テキスト ボックス 13">
            <a:extLst>
              <a:ext uri="{FF2B5EF4-FFF2-40B4-BE49-F238E27FC236}">
                <a16:creationId xmlns:a16="http://schemas.microsoft.com/office/drawing/2014/main" id="{CCC0EA59-C41F-800F-5C4F-3A791117210A}"/>
              </a:ext>
            </a:extLst>
          </p:cNvPr>
          <p:cNvSpPr txBox="1"/>
          <p:nvPr/>
        </p:nvSpPr>
        <p:spPr>
          <a:xfrm>
            <a:off x="559096" y="4791082"/>
            <a:ext cx="3814205" cy="923330"/>
          </a:xfrm>
          <a:prstGeom prst="rect">
            <a:avLst/>
          </a:prstGeom>
          <a:noFill/>
        </p:spPr>
        <p:txBody>
          <a:bodyPr wrap="square" rtlCol="0">
            <a:spAutoFit/>
          </a:bodyPr>
          <a:lstStyle/>
          <a:p>
            <a:pPr algn="ctr"/>
            <a:r>
              <a:rPr kumimoji="1" lang="ja-JP" altLang="en-US" b="1" dirty="0"/>
              <a:t>左右のエッジを検出する</a:t>
            </a:r>
            <a:endParaRPr kumimoji="1" lang="en-US" altLang="ja-JP" b="1" dirty="0"/>
          </a:p>
          <a:p>
            <a:pPr algn="ctr"/>
            <a:r>
              <a:rPr lang="en-US" altLang="ja-JP" b="1" dirty="0"/>
              <a:t>Prewitt</a:t>
            </a:r>
            <a:r>
              <a:rPr lang="ja-JP" altLang="en-US" b="1" dirty="0"/>
              <a:t>フィルタ</a:t>
            </a:r>
            <a:endParaRPr lang="en-US" altLang="ja-JP" b="1" dirty="0"/>
          </a:p>
          <a:p>
            <a:pPr algn="ctr"/>
            <a:r>
              <a:rPr lang="ja-JP" altLang="en-US" b="1" dirty="0"/>
              <a:t>上下の場合は</a:t>
            </a:r>
            <a:r>
              <a:rPr lang="en-US" altLang="ja-JP" b="1" dirty="0"/>
              <a:t>1</a:t>
            </a:r>
            <a:r>
              <a:rPr lang="ja-JP" altLang="en-US" b="1" dirty="0"/>
              <a:t>と</a:t>
            </a:r>
            <a:r>
              <a:rPr lang="en-US" altLang="ja-JP" b="1" dirty="0"/>
              <a:t>-1</a:t>
            </a:r>
            <a:r>
              <a:rPr lang="ja-JP" altLang="en-US" b="1" dirty="0"/>
              <a:t>が</a:t>
            </a:r>
            <a:r>
              <a:rPr lang="en-US" altLang="ja-JP" b="1" dirty="0"/>
              <a:t>90°</a:t>
            </a:r>
            <a:r>
              <a:rPr lang="ja-JP" altLang="en-US" b="1" dirty="0"/>
              <a:t>回転</a:t>
            </a:r>
            <a:endParaRPr kumimoji="1" lang="ja-JP" altLang="en-US" b="1" dirty="0"/>
          </a:p>
        </p:txBody>
      </p:sp>
      <mc:AlternateContent xmlns:mc="http://schemas.openxmlformats.org/markup-compatibility/2006">
        <mc:Choice xmlns:a14="http://schemas.microsoft.com/office/drawing/2010/main" Requires="a14">
          <p:graphicFrame>
            <p:nvGraphicFramePr>
              <p:cNvPr id="15" name="表 14">
                <a:extLst>
                  <a:ext uri="{FF2B5EF4-FFF2-40B4-BE49-F238E27FC236}">
                    <a16:creationId xmlns:a16="http://schemas.microsoft.com/office/drawing/2014/main" id="{84EDBD48-0E74-5EC8-C27D-619AF6A65AB7}"/>
                  </a:ext>
                </a:extLst>
              </p:cNvPr>
              <p:cNvGraphicFramePr>
                <a:graphicFrameLocks noGrp="1"/>
              </p:cNvGraphicFramePr>
              <p:nvPr>
                <p:extLst>
                  <p:ext uri="{D42A27DB-BD31-4B8C-83A1-F6EECF244321}">
                    <p14:modId xmlns:p14="http://schemas.microsoft.com/office/powerpoint/2010/main" val="3865922839"/>
                  </p:ext>
                </p:extLst>
              </p:nvPr>
            </p:nvGraphicFramePr>
            <p:xfrm>
              <a:off x="5096835" y="237744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−2</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2</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5" name="表 14">
                <a:extLst>
                  <a:ext uri="{FF2B5EF4-FFF2-40B4-BE49-F238E27FC236}">
                    <a16:creationId xmlns:a16="http://schemas.microsoft.com/office/drawing/2014/main" id="{84EDBD48-0E74-5EC8-C27D-619AF6A65AB7}"/>
                  </a:ext>
                </a:extLst>
              </p:cNvPr>
              <p:cNvGraphicFramePr>
                <a:graphicFrameLocks noGrp="1"/>
              </p:cNvGraphicFramePr>
              <p:nvPr>
                <p:extLst>
                  <p:ext uri="{D42A27DB-BD31-4B8C-83A1-F6EECF244321}">
                    <p14:modId xmlns:p14="http://schemas.microsoft.com/office/powerpoint/2010/main" val="3865922839"/>
                  </p:ext>
                </p:extLst>
              </p:nvPr>
            </p:nvGraphicFramePr>
            <p:xfrm>
              <a:off x="5096835" y="237744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4"/>
                          <a:stretch>
                            <a:fillRect l="-1075" t="-2564" r="-202151" b="-203846"/>
                          </a:stretch>
                        </a:blipFill>
                      </a:tcPr>
                    </a:tc>
                    <a:tc>
                      <a:txBody>
                        <a:bodyPr/>
                        <a:lstStyle/>
                        <a:p>
                          <a:endParaRPr lang="ja-JP"/>
                        </a:p>
                      </a:txBody>
                      <a:tcPr>
                        <a:blipFill>
                          <a:blip r:embed="rId4"/>
                          <a:stretch>
                            <a:fillRect l="-101075" t="-2564" r="-102151" b="-203846"/>
                          </a:stretch>
                        </a:blipFill>
                      </a:tcPr>
                    </a:tc>
                    <a:tc>
                      <a:txBody>
                        <a:bodyPr/>
                        <a:lstStyle/>
                        <a:p>
                          <a:endParaRPr lang="ja-JP"/>
                        </a:p>
                      </a:txBody>
                      <a:tcPr>
                        <a:blipFill>
                          <a:blip r:embed="rId4"/>
                          <a:stretch>
                            <a:fillRect l="-201075" t="-2564" r="-2151" b="-203846"/>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4"/>
                          <a:stretch>
                            <a:fillRect l="-1075" t="-102564" r="-202151" b="-103846"/>
                          </a:stretch>
                        </a:blipFill>
                      </a:tcPr>
                    </a:tc>
                    <a:tc>
                      <a:txBody>
                        <a:bodyPr/>
                        <a:lstStyle/>
                        <a:p>
                          <a:endParaRPr lang="ja-JP"/>
                        </a:p>
                      </a:txBody>
                      <a:tcPr>
                        <a:blipFill>
                          <a:blip r:embed="rId4"/>
                          <a:stretch>
                            <a:fillRect l="-101075" t="-102564" r="-102151" b="-103846"/>
                          </a:stretch>
                        </a:blipFill>
                      </a:tcPr>
                    </a:tc>
                    <a:tc>
                      <a:txBody>
                        <a:bodyPr/>
                        <a:lstStyle/>
                        <a:p>
                          <a:endParaRPr lang="ja-JP"/>
                        </a:p>
                      </a:txBody>
                      <a:tcPr>
                        <a:blipFill>
                          <a:blip r:embed="rId4"/>
                          <a:stretch>
                            <a:fillRect l="-201075" t="-102564" r="-2151" b="-103846"/>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4"/>
                          <a:stretch>
                            <a:fillRect l="-1075" t="-202564" r="-202151" b="-3846"/>
                          </a:stretch>
                        </a:blipFill>
                      </a:tcPr>
                    </a:tc>
                    <a:tc>
                      <a:txBody>
                        <a:bodyPr/>
                        <a:lstStyle/>
                        <a:p>
                          <a:endParaRPr lang="ja-JP"/>
                        </a:p>
                      </a:txBody>
                      <a:tcPr>
                        <a:blipFill>
                          <a:blip r:embed="rId4"/>
                          <a:stretch>
                            <a:fillRect l="-101075" t="-202564" r="-102151" b="-3846"/>
                          </a:stretch>
                        </a:blipFill>
                      </a:tcPr>
                    </a:tc>
                    <a:tc>
                      <a:txBody>
                        <a:bodyPr/>
                        <a:lstStyle/>
                        <a:p>
                          <a:endParaRPr lang="ja-JP"/>
                        </a:p>
                      </a:txBody>
                      <a:tcPr>
                        <a:blipFill>
                          <a:blip r:embed="rId4"/>
                          <a:stretch>
                            <a:fillRect l="-201075" t="-202564" r="-2151" b="-3846"/>
                          </a:stretch>
                        </a:blipFill>
                      </a:tcPr>
                    </a:tc>
                    <a:extLst>
                      <a:ext uri="{0D108BD9-81ED-4DB2-BD59-A6C34878D82A}">
                        <a16:rowId xmlns:a16="http://schemas.microsoft.com/office/drawing/2014/main" val="889266494"/>
                      </a:ext>
                    </a:extLst>
                  </a:tr>
                </a:tbl>
              </a:graphicData>
            </a:graphic>
          </p:graphicFrame>
        </mc:Fallback>
      </mc:AlternateContent>
      <p:sp>
        <p:nvSpPr>
          <p:cNvPr id="16" name="テキスト ボックス 15">
            <a:extLst>
              <a:ext uri="{FF2B5EF4-FFF2-40B4-BE49-F238E27FC236}">
                <a16:creationId xmlns:a16="http://schemas.microsoft.com/office/drawing/2014/main" id="{B758C7BB-3789-7A55-92A2-B9DD4D1CA7EC}"/>
              </a:ext>
            </a:extLst>
          </p:cNvPr>
          <p:cNvSpPr txBox="1"/>
          <p:nvPr/>
        </p:nvSpPr>
        <p:spPr>
          <a:xfrm>
            <a:off x="4038600" y="3879205"/>
            <a:ext cx="3867333" cy="923330"/>
          </a:xfrm>
          <a:prstGeom prst="rect">
            <a:avLst/>
          </a:prstGeom>
          <a:noFill/>
        </p:spPr>
        <p:txBody>
          <a:bodyPr wrap="square" rtlCol="0">
            <a:spAutoFit/>
          </a:bodyPr>
          <a:lstStyle/>
          <a:p>
            <a:pPr algn="ctr"/>
            <a:r>
              <a:rPr kumimoji="1" lang="ja-JP" altLang="en-US" b="1" dirty="0"/>
              <a:t>左右のエッジを検出する</a:t>
            </a:r>
            <a:endParaRPr kumimoji="1" lang="en-US" altLang="ja-JP" b="1" dirty="0"/>
          </a:p>
          <a:p>
            <a:pPr algn="ctr"/>
            <a:r>
              <a:rPr lang="en-US" altLang="ja-JP" b="1" dirty="0"/>
              <a:t>Sobel</a:t>
            </a:r>
            <a:r>
              <a:rPr lang="ja-JP" altLang="en-US" b="1" dirty="0"/>
              <a:t>フィルタ</a:t>
            </a:r>
            <a:endParaRPr lang="en-US" altLang="ja-JP" b="1" dirty="0"/>
          </a:p>
          <a:p>
            <a:pPr algn="ctr"/>
            <a:r>
              <a:rPr lang="ja-JP" altLang="en-US" b="1" dirty="0"/>
              <a:t>中央に重みがありノイズに少し強い</a:t>
            </a:r>
            <a:endParaRPr kumimoji="1" lang="ja-JP" altLang="en-US" b="1" dirty="0"/>
          </a:p>
        </p:txBody>
      </p:sp>
      <mc:AlternateContent xmlns:mc="http://schemas.openxmlformats.org/markup-compatibility/2006">
        <mc:Choice xmlns:a14="http://schemas.microsoft.com/office/drawing/2010/main" Requires="a14">
          <p:graphicFrame>
            <p:nvGraphicFramePr>
              <p:cNvPr id="17" name="表 16">
                <a:extLst>
                  <a:ext uri="{FF2B5EF4-FFF2-40B4-BE49-F238E27FC236}">
                    <a16:creationId xmlns:a16="http://schemas.microsoft.com/office/drawing/2014/main" id="{C7B70938-A8AE-6108-C4B1-DB7F8F10A2AE}"/>
                  </a:ext>
                </a:extLst>
              </p:cNvPr>
              <p:cNvGraphicFramePr>
                <a:graphicFrameLocks noGrp="1"/>
              </p:cNvGraphicFramePr>
              <p:nvPr>
                <p:extLst>
                  <p:ext uri="{D42A27DB-BD31-4B8C-83A1-F6EECF244321}">
                    <p14:modId xmlns:p14="http://schemas.microsoft.com/office/powerpoint/2010/main" val="3683379978"/>
                  </p:ext>
                </p:extLst>
              </p:nvPr>
            </p:nvGraphicFramePr>
            <p:xfrm>
              <a:off x="8945301" y="3090672"/>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4</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7" name="表 16">
                <a:extLst>
                  <a:ext uri="{FF2B5EF4-FFF2-40B4-BE49-F238E27FC236}">
                    <a16:creationId xmlns:a16="http://schemas.microsoft.com/office/drawing/2014/main" id="{C7B70938-A8AE-6108-C4B1-DB7F8F10A2AE}"/>
                  </a:ext>
                </a:extLst>
              </p:cNvPr>
              <p:cNvGraphicFramePr>
                <a:graphicFrameLocks noGrp="1"/>
              </p:cNvGraphicFramePr>
              <p:nvPr>
                <p:extLst>
                  <p:ext uri="{D42A27DB-BD31-4B8C-83A1-F6EECF244321}">
                    <p14:modId xmlns:p14="http://schemas.microsoft.com/office/powerpoint/2010/main" val="3683379978"/>
                  </p:ext>
                </p:extLst>
              </p:nvPr>
            </p:nvGraphicFramePr>
            <p:xfrm>
              <a:off x="8945301" y="3090672"/>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5"/>
                          <a:stretch>
                            <a:fillRect l="-1075" t="-2564" r="-202151" b="-203846"/>
                          </a:stretch>
                        </a:blipFill>
                      </a:tcPr>
                    </a:tc>
                    <a:tc>
                      <a:txBody>
                        <a:bodyPr/>
                        <a:lstStyle/>
                        <a:p>
                          <a:endParaRPr lang="ja-JP"/>
                        </a:p>
                      </a:txBody>
                      <a:tcPr>
                        <a:blipFill>
                          <a:blip r:embed="rId5"/>
                          <a:stretch>
                            <a:fillRect l="-101075" t="-2564" r="-102151" b="-203846"/>
                          </a:stretch>
                        </a:blipFill>
                      </a:tcPr>
                    </a:tc>
                    <a:tc>
                      <a:txBody>
                        <a:bodyPr/>
                        <a:lstStyle/>
                        <a:p>
                          <a:endParaRPr lang="ja-JP"/>
                        </a:p>
                      </a:txBody>
                      <a:tcPr>
                        <a:blipFill>
                          <a:blip r:embed="rId5"/>
                          <a:stretch>
                            <a:fillRect l="-201075" t="-2564" r="-2151" b="-203846"/>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5"/>
                          <a:stretch>
                            <a:fillRect l="-1075" t="-102564" r="-202151" b="-103846"/>
                          </a:stretch>
                        </a:blipFill>
                      </a:tcPr>
                    </a:tc>
                    <a:tc>
                      <a:txBody>
                        <a:bodyPr/>
                        <a:lstStyle/>
                        <a:p>
                          <a:endParaRPr lang="ja-JP"/>
                        </a:p>
                      </a:txBody>
                      <a:tcPr>
                        <a:blipFill>
                          <a:blip r:embed="rId5"/>
                          <a:stretch>
                            <a:fillRect l="-101075" t="-102564" r="-102151" b="-103846"/>
                          </a:stretch>
                        </a:blipFill>
                      </a:tcPr>
                    </a:tc>
                    <a:tc>
                      <a:txBody>
                        <a:bodyPr/>
                        <a:lstStyle/>
                        <a:p>
                          <a:endParaRPr lang="ja-JP"/>
                        </a:p>
                      </a:txBody>
                      <a:tcPr>
                        <a:blipFill>
                          <a:blip r:embed="rId5"/>
                          <a:stretch>
                            <a:fillRect l="-201075" t="-102564" r="-2151" b="-103846"/>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5"/>
                          <a:stretch>
                            <a:fillRect l="-1075" t="-202564" r="-202151" b="-3846"/>
                          </a:stretch>
                        </a:blipFill>
                      </a:tcPr>
                    </a:tc>
                    <a:tc>
                      <a:txBody>
                        <a:bodyPr/>
                        <a:lstStyle/>
                        <a:p>
                          <a:endParaRPr lang="ja-JP"/>
                        </a:p>
                      </a:txBody>
                      <a:tcPr>
                        <a:blipFill>
                          <a:blip r:embed="rId5"/>
                          <a:stretch>
                            <a:fillRect l="-101075" t="-202564" r="-102151" b="-3846"/>
                          </a:stretch>
                        </a:blipFill>
                      </a:tcPr>
                    </a:tc>
                    <a:tc>
                      <a:txBody>
                        <a:bodyPr/>
                        <a:lstStyle/>
                        <a:p>
                          <a:endParaRPr lang="ja-JP"/>
                        </a:p>
                      </a:txBody>
                      <a:tcPr>
                        <a:blipFill>
                          <a:blip r:embed="rId5"/>
                          <a:stretch>
                            <a:fillRect l="-201075" t="-202564" r="-2151" b="-3846"/>
                          </a:stretch>
                        </a:blipFill>
                      </a:tcPr>
                    </a:tc>
                    <a:extLst>
                      <a:ext uri="{0D108BD9-81ED-4DB2-BD59-A6C34878D82A}">
                        <a16:rowId xmlns:a16="http://schemas.microsoft.com/office/drawing/2014/main" val="889266494"/>
                      </a:ext>
                    </a:extLst>
                  </a:tr>
                </a:tbl>
              </a:graphicData>
            </a:graphic>
          </p:graphicFrame>
        </mc:Fallback>
      </mc:AlternateContent>
      <p:sp>
        <p:nvSpPr>
          <p:cNvPr id="18" name="テキスト ボックス 17">
            <a:extLst>
              <a:ext uri="{FF2B5EF4-FFF2-40B4-BE49-F238E27FC236}">
                <a16:creationId xmlns:a16="http://schemas.microsoft.com/office/drawing/2014/main" id="{E53A7BFA-B9F3-733D-FCD6-CA3792FDAE69}"/>
              </a:ext>
            </a:extLst>
          </p:cNvPr>
          <p:cNvSpPr txBox="1"/>
          <p:nvPr/>
        </p:nvSpPr>
        <p:spPr>
          <a:xfrm>
            <a:off x="7887066" y="4592437"/>
            <a:ext cx="3867333" cy="1200329"/>
          </a:xfrm>
          <a:prstGeom prst="rect">
            <a:avLst/>
          </a:prstGeom>
          <a:noFill/>
        </p:spPr>
        <p:txBody>
          <a:bodyPr wrap="square" rtlCol="0">
            <a:spAutoFit/>
          </a:bodyPr>
          <a:lstStyle/>
          <a:p>
            <a:pPr algn="ctr"/>
            <a:r>
              <a:rPr kumimoji="1" lang="ja-JP" altLang="en-US" b="1" dirty="0"/>
              <a:t>上下左右のエッジを検出する</a:t>
            </a:r>
            <a:endParaRPr kumimoji="1" lang="en-US" altLang="ja-JP" b="1" dirty="0"/>
          </a:p>
          <a:p>
            <a:pPr algn="ctr"/>
            <a:r>
              <a:rPr lang="en-US" altLang="ja-JP" b="1" dirty="0"/>
              <a:t>Laplacian</a:t>
            </a:r>
            <a:r>
              <a:rPr lang="ja-JP" altLang="en-US" b="1" dirty="0"/>
              <a:t>フィルタ</a:t>
            </a:r>
            <a:endParaRPr lang="en-US" altLang="ja-JP" b="1" dirty="0"/>
          </a:p>
          <a:p>
            <a:pPr algn="ctr"/>
            <a:r>
              <a:rPr lang="en-US" altLang="ja-JP" b="1" dirty="0"/>
              <a:t>2</a:t>
            </a:r>
            <a:r>
              <a:rPr lang="ja-JP" altLang="en-US" b="1" dirty="0"/>
              <a:t>次微分なのでエッジが強調される</a:t>
            </a:r>
            <a:endParaRPr lang="en-US" altLang="ja-JP" b="1" dirty="0"/>
          </a:p>
          <a:p>
            <a:pPr algn="ctr"/>
            <a:r>
              <a:rPr lang="ja-JP" altLang="en-US" b="1" dirty="0"/>
              <a:t>微分強めでノイズに弱い</a:t>
            </a:r>
            <a:endParaRPr lang="en-US" altLang="ja-JP" b="1" dirty="0"/>
          </a:p>
        </p:txBody>
      </p:sp>
      <p:sp>
        <p:nvSpPr>
          <p:cNvPr id="19" name="テキスト ボックス 18">
            <a:extLst>
              <a:ext uri="{FF2B5EF4-FFF2-40B4-BE49-F238E27FC236}">
                <a16:creationId xmlns:a16="http://schemas.microsoft.com/office/drawing/2014/main" id="{D60550FF-3F9D-6BBB-3DF8-25826242A26A}"/>
              </a:ext>
            </a:extLst>
          </p:cNvPr>
          <p:cNvSpPr txBox="1"/>
          <p:nvPr/>
        </p:nvSpPr>
        <p:spPr>
          <a:xfrm>
            <a:off x="4162333" y="5700876"/>
            <a:ext cx="3867333" cy="646331"/>
          </a:xfrm>
          <a:prstGeom prst="rect">
            <a:avLst/>
          </a:prstGeom>
          <a:noFill/>
        </p:spPr>
        <p:txBody>
          <a:bodyPr wrap="square" rtlCol="0">
            <a:spAutoFit/>
          </a:bodyPr>
          <a:lstStyle/>
          <a:p>
            <a:pPr algn="ctr"/>
            <a:r>
              <a:rPr kumimoji="1" lang="ja-JP" altLang="en-US" b="1" dirty="0"/>
              <a:t>カーネルの和が</a:t>
            </a:r>
            <a:r>
              <a:rPr kumimoji="1" lang="en-US" altLang="ja-JP" b="1" dirty="0"/>
              <a:t>0</a:t>
            </a:r>
            <a:r>
              <a:rPr kumimoji="1" lang="ja-JP" altLang="en-US" b="1" dirty="0"/>
              <a:t>なので</a:t>
            </a:r>
            <a:endParaRPr kumimoji="1" lang="en-US" altLang="ja-JP" b="1" dirty="0"/>
          </a:p>
          <a:p>
            <a:pPr algn="ctr"/>
            <a:r>
              <a:rPr lang="ja-JP" altLang="en-US" b="1" dirty="0"/>
              <a:t>一様な領域で真っ黒になる</a:t>
            </a:r>
            <a:r>
              <a:rPr lang="en-US" altLang="ja-JP" b="1" dirty="0"/>
              <a:t>(</a:t>
            </a:r>
            <a:r>
              <a:rPr lang="ja-JP" altLang="en-US" b="1" dirty="0"/>
              <a:t>後述</a:t>
            </a:r>
            <a:r>
              <a:rPr lang="en-US" altLang="ja-JP" b="1" dirty="0"/>
              <a:t>)</a:t>
            </a:r>
            <a:endParaRPr kumimoji="1" lang="en-US" altLang="ja-JP" b="1" dirty="0"/>
          </a:p>
        </p:txBody>
      </p:sp>
    </p:spTree>
    <p:extLst>
      <p:ext uri="{BB962C8B-B14F-4D97-AF65-F5344CB8AC3E}">
        <p14:creationId xmlns:p14="http://schemas.microsoft.com/office/powerpoint/2010/main" val="3818086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kumimoji="1" lang="ja-JP" altLang="en-US" b="1" dirty="0"/>
              <a:t>エッジ検出の問題点</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normAutofit/>
          </a:bodyPr>
          <a:lstStyle/>
          <a:p>
            <a:r>
              <a:rPr lang="ja-JP" altLang="en-US" dirty="0"/>
              <a:t>エッジ検出は基本的にノイズにめちゃくちゃ弱い</a:t>
            </a:r>
            <a:endParaRPr lang="en-US" altLang="ja-JP" dirty="0"/>
          </a:p>
        </p:txBody>
      </p:sp>
      <p:sp>
        <p:nvSpPr>
          <p:cNvPr id="7" name="フッター プレースホルダー 6">
            <a:extLst>
              <a:ext uri="{FF2B5EF4-FFF2-40B4-BE49-F238E27FC236}">
                <a16:creationId xmlns:a16="http://schemas.microsoft.com/office/drawing/2014/main" id="{B336FC17-F3D2-4325-7417-73D732F8943E}"/>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E10D814D-F839-0C72-62DC-8785C16AA577}"/>
              </a:ext>
            </a:extLst>
          </p:cNvPr>
          <p:cNvSpPr>
            <a:spLocks noGrp="1"/>
          </p:cNvSpPr>
          <p:nvPr>
            <p:ph type="sldNum" sz="quarter" idx="12"/>
          </p:nvPr>
        </p:nvSpPr>
        <p:spPr/>
        <p:txBody>
          <a:bodyPr/>
          <a:lstStyle/>
          <a:p>
            <a:fld id="{82EE47C2-3066-499F-97BE-8094ED607EB5}" type="slidenum">
              <a:rPr kumimoji="1" lang="ja-JP" altLang="en-US" smtClean="0"/>
              <a:t>27</a:t>
            </a:fld>
            <a:endParaRPr kumimoji="1" lang="ja-JP" altLang="en-US"/>
          </a:p>
        </p:txBody>
      </p:sp>
      <p:pic>
        <p:nvPicPr>
          <p:cNvPr id="5" name="図 4">
            <a:extLst>
              <a:ext uri="{FF2B5EF4-FFF2-40B4-BE49-F238E27FC236}">
                <a16:creationId xmlns:a16="http://schemas.microsoft.com/office/drawing/2014/main" id="{0196ADEA-1C21-B8B8-D733-F15A8A01F6A0}"/>
              </a:ext>
            </a:extLst>
          </p:cNvPr>
          <p:cNvPicPr>
            <a:picLocks noChangeAspect="1"/>
          </p:cNvPicPr>
          <p:nvPr/>
        </p:nvPicPr>
        <p:blipFill>
          <a:blip r:embed="rId3">
            <a:extLst>
              <a:ext uri="{28A0092B-C50C-407E-A947-70E740481C1C}">
                <a14:useLocalDpi xmlns:a14="http://schemas.microsoft.com/office/drawing/2010/main" val="0"/>
              </a:ext>
            </a:extLst>
          </a:blip>
          <a:srcRect l="36538" t="45641" r="26923" b="23398"/>
          <a:stretch/>
        </p:blipFill>
        <p:spPr>
          <a:xfrm>
            <a:off x="568452" y="1770201"/>
            <a:ext cx="5440680" cy="4610260"/>
          </a:xfrm>
          <a:prstGeom prst="rect">
            <a:avLst/>
          </a:prstGeom>
        </p:spPr>
      </p:pic>
      <p:sp>
        <p:nvSpPr>
          <p:cNvPr id="6" name="テキスト ボックス 5">
            <a:extLst>
              <a:ext uri="{FF2B5EF4-FFF2-40B4-BE49-F238E27FC236}">
                <a16:creationId xmlns:a16="http://schemas.microsoft.com/office/drawing/2014/main" id="{03BB946D-4229-192E-6A01-758B16B49DC6}"/>
              </a:ext>
            </a:extLst>
          </p:cNvPr>
          <p:cNvSpPr txBox="1"/>
          <p:nvPr/>
        </p:nvSpPr>
        <p:spPr>
          <a:xfrm>
            <a:off x="6278880" y="3197507"/>
            <a:ext cx="4840224" cy="2862322"/>
          </a:xfrm>
          <a:prstGeom prst="rect">
            <a:avLst/>
          </a:prstGeom>
          <a:noFill/>
        </p:spPr>
        <p:txBody>
          <a:bodyPr wrap="square" rtlCol="0">
            <a:spAutoFit/>
          </a:bodyPr>
          <a:lstStyle/>
          <a:p>
            <a:pPr algn="ctr"/>
            <a:r>
              <a:rPr kumimoji="1" lang="ja-JP" altLang="en-US" b="1" dirty="0"/>
              <a:t>理想はエッジ</a:t>
            </a:r>
            <a:r>
              <a:rPr kumimoji="1" lang="en-US" altLang="ja-JP" b="1" dirty="0"/>
              <a:t>(</a:t>
            </a:r>
            <a:r>
              <a:rPr kumimoji="1" lang="ja-JP" altLang="en-US" b="1" dirty="0"/>
              <a:t>輪郭</a:t>
            </a:r>
            <a:r>
              <a:rPr kumimoji="1" lang="en-US" altLang="ja-JP" b="1" dirty="0"/>
              <a:t>)</a:t>
            </a:r>
            <a:r>
              <a:rPr kumimoji="1" lang="ja-JP" altLang="en-US" b="1" dirty="0"/>
              <a:t>だけ欲しいのに</a:t>
            </a:r>
            <a:endParaRPr kumimoji="1" lang="en-US" altLang="ja-JP" b="1" dirty="0"/>
          </a:p>
          <a:p>
            <a:pPr algn="ctr"/>
            <a:r>
              <a:rPr lang="ja-JP" altLang="en-US" b="1" dirty="0"/>
              <a:t>細かいノイズがたくさん</a:t>
            </a:r>
            <a:endParaRPr lang="en-US" altLang="ja-JP" b="1" dirty="0"/>
          </a:p>
          <a:p>
            <a:pPr algn="ctr"/>
            <a:endParaRPr kumimoji="1" lang="en-US" altLang="ja-JP" b="1" dirty="0"/>
          </a:p>
          <a:p>
            <a:pPr algn="ctr"/>
            <a:r>
              <a:rPr kumimoji="1" lang="ja-JP" altLang="en-US" b="1" dirty="0"/>
              <a:t>そのため</a:t>
            </a:r>
            <a:r>
              <a:rPr lang="ja-JP" altLang="en-US" b="1" dirty="0"/>
              <a:t>通常は</a:t>
            </a:r>
            <a:endParaRPr lang="en-US" altLang="ja-JP" b="1" dirty="0"/>
          </a:p>
          <a:p>
            <a:pPr algn="ctr"/>
            <a:r>
              <a:rPr kumimoji="1" lang="ja-JP" altLang="en-US" b="1" dirty="0"/>
              <a:t>平滑化フィルタ → エッジ検出フィルタ</a:t>
            </a:r>
            <a:endParaRPr kumimoji="1" lang="en-US" altLang="ja-JP" b="1" dirty="0"/>
          </a:p>
          <a:p>
            <a:pPr algn="ctr"/>
            <a:r>
              <a:rPr lang="ja-JP" altLang="en-US" b="1" dirty="0"/>
              <a:t>の流れをとる</a:t>
            </a:r>
            <a:endParaRPr lang="en-US" altLang="ja-JP" b="1" dirty="0"/>
          </a:p>
          <a:p>
            <a:pPr algn="ctr"/>
            <a:endParaRPr kumimoji="1" lang="en-US" altLang="ja-JP" b="1" dirty="0"/>
          </a:p>
          <a:p>
            <a:pPr algn="ctr"/>
            <a:r>
              <a:rPr lang="ja-JP" altLang="en-US" b="1" dirty="0"/>
              <a:t>例：</a:t>
            </a:r>
            <a:r>
              <a:rPr lang="en-US" altLang="ja-JP" b="1" dirty="0"/>
              <a:t>Gaussian</a:t>
            </a:r>
            <a:r>
              <a:rPr lang="ja-JP" altLang="en-US" b="1" dirty="0"/>
              <a:t>フィルタで平滑化してから</a:t>
            </a:r>
            <a:endParaRPr lang="en-US" altLang="ja-JP" b="1" dirty="0"/>
          </a:p>
          <a:p>
            <a:pPr algn="ctr"/>
            <a:r>
              <a:rPr kumimoji="1" lang="en-US" altLang="ja-JP" b="1" dirty="0"/>
              <a:t>Laplacian</a:t>
            </a:r>
            <a:r>
              <a:rPr kumimoji="1" lang="ja-JP" altLang="en-US" b="1" dirty="0"/>
              <a:t>フィルタでエッジ検出</a:t>
            </a:r>
            <a:endParaRPr kumimoji="1" lang="en-US" altLang="ja-JP" b="1" dirty="0"/>
          </a:p>
          <a:p>
            <a:pPr algn="ctr"/>
            <a:r>
              <a:rPr lang="ja-JP" altLang="en-US" b="1" dirty="0"/>
              <a:t>（</a:t>
            </a:r>
            <a:r>
              <a:rPr lang="en-US" altLang="ja-JP" b="1" dirty="0" err="1"/>
              <a:t>LoG</a:t>
            </a:r>
            <a:r>
              <a:rPr lang="en-US" altLang="ja-JP" b="1" dirty="0"/>
              <a:t> : Laplacian of Gaussian</a:t>
            </a:r>
            <a:r>
              <a:rPr lang="ja-JP" altLang="en-US" b="1" dirty="0"/>
              <a:t>）</a:t>
            </a:r>
            <a:endParaRPr kumimoji="1" lang="en-US" altLang="ja-JP" b="1" dirty="0"/>
          </a:p>
        </p:txBody>
      </p:sp>
    </p:spTree>
    <p:extLst>
      <p:ext uri="{BB962C8B-B14F-4D97-AF65-F5344CB8AC3E}">
        <p14:creationId xmlns:p14="http://schemas.microsoft.com/office/powerpoint/2010/main" val="2844947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lstStyle/>
          <a:p>
            <a:r>
              <a:rPr lang="ja-JP" altLang="en-US" b="1" dirty="0"/>
              <a:t>代表的な</a:t>
            </a:r>
            <a:r>
              <a:rPr kumimoji="1" lang="ja-JP" altLang="en-US" b="1" dirty="0"/>
              <a:t>エッジ検出フィルター</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200" y="1282262"/>
            <a:ext cx="10515600" cy="4894701"/>
          </a:xfrm>
        </p:spPr>
        <p:txBody>
          <a:bodyPr>
            <a:normAutofit/>
          </a:bodyPr>
          <a:lstStyle/>
          <a:p>
            <a:r>
              <a:rPr lang="ja-JP" altLang="en-US" dirty="0"/>
              <a:t>プログラムを用いて説明します。</a:t>
            </a:r>
            <a:endParaRPr lang="en-US" altLang="ja-JP" dirty="0"/>
          </a:p>
        </p:txBody>
      </p:sp>
      <p:sp>
        <p:nvSpPr>
          <p:cNvPr id="7" name="フッター プレースホルダー 6">
            <a:extLst>
              <a:ext uri="{FF2B5EF4-FFF2-40B4-BE49-F238E27FC236}">
                <a16:creationId xmlns:a16="http://schemas.microsoft.com/office/drawing/2014/main" id="{B336FC17-F3D2-4325-7417-73D732F8943E}"/>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E10D814D-F839-0C72-62DC-8785C16AA577}"/>
              </a:ext>
            </a:extLst>
          </p:cNvPr>
          <p:cNvSpPr>
            <a:spLocks noGrp="1"/>
          </p:cNvSpPr>
          <p:nvPr>
            <p:ph type="sldNum" sz="quarter" idx="12"/>
          </p:nvPr>
        </p:nvSpPr>
        <p:spPr/>
        <p:txBody>
          <a:bodyPr/>
          <a:lstStyle/>
          <a:p>
            <a:fld id="{82EE47C2-3066-499F-97BE-8094ED607EB5}" type="slidenum">
              <a:rPr kumimoji="1" lang="ja-JP" altLang="en-US" smtClean="0"/>
              <a:t>28</a:t>
            </a:fld>
            <a:endParaRPr kumimoji="1" lang="ja-JP" altLang="en-US"/>
          </a:p>
        </p:txBody>
      </p:sp>
      <p:sp>
        <p:nvSpPr>
          <p:cNvPr id="4" name="テキスト ボックス 3">
            <a:extLst>
              <a:ext uri="{FF2B5EF4-FFF2-40B4-BE49-F238E27FC236}">
                <a16:creationId xmlns:a16="http://schemas.microsoft.com/office/drawing/2014/main" id="{1EF05917-EE31-A060-9AF5-EFE60E1A485F}"/>
              </a:ext>
            </a:extLst>
          </p:cNvPr>
          <p:cNvSpPr txBox="1"/>
          <p:nvPr/>
        </p:nvSpPr>
        <p:spPr>
          <a:xfrm>
            <a:off x="8750808" y="669349"/>
            <a:ext cx="2737104" cy="523220"/>
          </a:xfrm>
          <a:prstGeom prst="rect">
            <a:avLst/>
          </a:prstGeom>
          <a:noFill/>
        </p:spPr>
        <p:txBody>
          <a:bodyPr wrap="square" rtlCol="0">
            <a:spAutoFit/>
          </a:bodyPr>
          <a:lstStyle/>
          <a:p>
            <a:pPr algn="ctr"/>
            <a:r>
              <a:rPr kumimoji="1" lang="en-US" altLang="ja-JP" sz="2800" b="1" dirty="0"/>
              <a:t>edge_demo.py</a:t>
            </a:r>
          </a:p>
        </p:txBody>
      </p:sp>
    </p:spTree>
    <p:extLst>
      <p:ext uri="{BB962C8B-B14F-4D97-AF65-F5344CB8AC3E}">
        <p14:creationId xmlns:p14="http://schemas.microsoft.com/office/powerpoint/2010/main" val="3748812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2C5964-14FD-0736-3E92-50EF73FE6590}"/>
              </a:ext>
            </a:extLst>
          </p:cNvPr>
          <p:cNvSpPr>
            <a:spLocks noGrp="1"/>
          </p:cNvSpPr>
          <p:nvPr>
            <p:ph type="title"/>
          </p:nvPr>
        </p:nvSpPr>
        <p:spPr/>
        <p:txBody>
          <a:bodyPr/>
          <a:lstStyle/>
          <a:p>
            <a:r>
              <a:rPr kumimoji="1" lang="ja-JP" altLang="en-US" dirty="0"/>
              <a:t>練習</a:t>
            </a:r>
          </a:p>
        </p:txBody>
      </p:sp>
      <p:sp>
        <p:nvSpPr>
          <p:cNvPr id="3" name="コンテンツ プレースホルダー 2">
            <a:extLst>
              <a:ext uri="{FF2B5EF4-FFF2-40B4-BE49-F238E27FC236}">
                <a16:creationId xmlns:a16="http://schemas.microsoft.com/office/drawing/2014/main" id="{F6A6C248-80B6-3EDD-8E05-CC347CEBBD9D}"/>
              </a:ext>
            </a:extLst>
          </p:cNvPr>
          <p:cNvSpPr>
            <a:spLocks noGrp="1"/>
          </p:cNvSpPr>
          <p:nvPr>
            <p:ph idx="1"/>
          </p:nvPr>
        </p:nvSpPr>
        <p:spPr/>
        <p:txBody>
          <a:bodyPr/>
          <a:lstStyle/>
          <a:p>
            <a:r>
              <a:rPr kumimoji="1" lang="en-US" altLang="ja-JP" dirty="0"/>
              <a:t>Canny</a:t>
            </a:r>
            <a:r>
              <a:rPr kumimoji="1" lang="ja-JP" altLang="en-US" dirty="0"/>
              <a:t>フィルターをかけてラズパイカメラを起動してください</a:t>
            </a:r>
            <a:endParaRPr kumimoji="1" lang="en-US" altLang="ja-JP" dirty="0"/>
          </a:p>
          <a:p>
            <a:r>
              <a:rPr lang="en-US" altLang="ja-JP" dirty="0"/>
              <a:t>Threshold</a:t>
            </a:r>
            <a:r>
              <a:rPr lang="ja-JP" altLang="en-US" dirty="0"/>
              <a:t>の値を変更して結果がどう変わるか確かめてください</a:t>
            </a:r>
            <a:endParaRPr kumimoji="1" lang="ja-JP" altLang="en-US" dirty="0"/>
          </a:p>
        </p:txBody>
      </p:sp>
      <p:sp>
        <p:nvSpPr>
          <p:cNvPr id="4" name="フッター プレースホルダー 3">
            <a:extLst>
              <a:ext uri="{FF2B5EF4-FFF2-40B4-BE49-F238E27FC236}">
                <a16:creationId xmlns:a16="http://schemas.microsoft.com/office/drawing/2014/main" id="{C4103B91-949F-EEFF-59A9-4E690A64C43D}"/>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0232A1F3-2219-B784-7242-C0570E04AF7A}"/>
              </a:ext>
            </a:extLst>
          </p:cNvPr>
          <p:cNvSpPr>
            <a:spLocks noGrp="1"/>
          </p:cNvSpPr>
          <p:nvPr>
            <p:ph type="sldNum" sz="quarter" idx="12"/>
          </p:nvPr>
        </p:nvSpPr>
        <p:spPr/>
        <p:txBody>
          <a:bodyPr/>
          <a:lstStyle/>
          <a:p>
            <a:fld id="{82EE47C2-3066-499F-97BE-8094ED607EB5}" type="slidenum">
              <a:rPr kumimoji="1" lang="ja-JP" altLang="en-US" smtClean="0"/>
              <a:t>29</a:t>
            </a:fld>
            <a:endParaRPr kumimoji="1" lang="ja-JP" altLang="en-US"/>
          </a:p>
        </p:txBody>
      </p:sp>
    </p:spTree>
    <p:extLst>
      <p:ext uri="{BB962C8B-B14F-4D97-AF65-F5344CB8AC3E}">
        <p14:creationId xmlns:p14="http://schemas.microsoft.com/office/powerpoint/2010/main" val="2230078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normAutofit/>
          </a:bodyPr>
          <a:lstStyle/>
          <a:p>
            <a:r>
              <a:rPr kumimoji="1" lang="ja-JP" altLang="en-US" b="1" dirty="0"/>
              <a:t>鮮鋭</a:t>
            </a:r>
            <a:r>
              <a:rPr kumimoji="1" lang="en-US" altLang="ja-JP" b="1" dirty="0"/>
              <a:t>(</a:t>
            </a:r>
            <a:r>
              <a:rPr kumimoji="1" lang="ja-JP" altLang="en-US" b="1" dirty="0"/>
              <a:t>シャープ</a:t>
            </a:r>
            <a:r>
              <a:rPr kumimoji="1" lang="en-US" altLang="ja-JP" b="1" dirty="0"/>
              <a:t>)</a:t>
            </a:r>
            <a:r>
              <a:rPr kumimoji="1" lang="ja-JP" altLang="en-US" b="1" dirty="0"/>
              <a:t>化フィルタ</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199" y="1282262"/>
            <a:ext cx="10712669" cy="4894701"/>
          </a:xfrm>
        </p:spPr>
        <p:txBody>
          <a:bodyPr>
            <a:normAutofit/>
          </a:bodyPr>
          <a:lstStyle/>
          <a:p>
            <a:r>
              <a:rPr kumimoji="1" lang="ja-JP" altLang="en-US" dirty="0"/>
              <a:t>ぼやけた画像を鮮鋭</a:t>
            </a:r>
            <a:r>
              <a:rPr kumimoji="1" lang="en-US" altLang="ja-JP" dirty="0"/>
              <a:t>(</a:t>
            </a:r>
            <a:r>
              <a:rPr kumimoji="1" lang="ja-JP" altLang="en-US" dirty="0"/>
              <a:t>シャープ</a:t>
            </a:r>
            <a:r>
              <a:rPr kumimoji="1" lang="en-US" altLang="ja-JP" dirty="0"/>
              <a:t>)</a:t>
            </a:r>
            <a:r>
              <a:rPr kumimoji="1" lang="ja-JP" altLang="en-US" dirty="0"/>
              <a:t>にするための処理を鮮鋭化という</a:t>
            </a:r>
            <a:endParaRPr kumimoji="1" lang="en-US" altLang="ja-JP" dirty="0"/>
          </a:p>
          <a:p>
            <a:r>
              <a:rPr lang="ja-JP" altLang="en-US" dirty="0"/>
              <a:t>手プレやピントずれの補正ができる</a:t>
            </a:r>
            <a:endParaRPr lang="en-US" altLang="ja-JP" dirty="0"/>
          </a:p>
        </p:txBody>
      </p:sp>
      <p:pic>
        <p:nvPicPr>
          <p:cNvPr id="7" name="図 6">
            <a:extLst>
              <a:ext uri="{FF2B5EF4-FFF2-40B4-BE49-F238E27FC236}">
                <a16:creationId xmlns:a16="http://schemas.microsoft.com/office/drawing/2014/main" id="{B403F086-354E-3025-8CB8-01B3194F4469}"/>
              </a:ext>
            </a:extLst>
          </p:cNvPr>
          <p:cNvPicPr>
            <a:picLocks noChangeAspect="1"/>
          </p:cNvPicPr>
          <p:nvPr/>
        </p:nvPicPr>
        <p:blipFill>
          <a:blip r:embed="rId3"/>
          <a:stretch>
            <a:fillRect/>
          </a:stretch>
        </p:blipFill>
        <p:spPr>
          <a:xfrm>
            <a:off x="1624159" y="2422709"/>
            <a:ext cx="9071349" cy="2959941"/>
          </a:xfrm>
          <a:prstGeom prst="rect">
            <a:avLst/>
          </a:prstGeom>
        </p:spPr>
      </p:pic>
      <p:sp>
        <p:nvSpPr>
          <p:cNvPr id="9" name="四角形: 角を丸くする 8">
            <a:extLst>
              <a:ext uri="{FF2B5EF4-FFF2-40B4-BE49-F238E27FC236}">
                <a16:creationId xmlns:a16="http://schemas.microsoft.com/office/drawing/2014/main" id="{0E878DDB-4BCC-6BD5-0405-D51B21616D05}"/>
              </a:ext>
            </a:extLst>
          </p:cNvPr>
          <p:cNvSpPr/>
          <p:nvPr/>
        </p:nvSpPr>
        <p:spPr>
          <a:xfrm>
            <a:off x="2070136" y="5225814"/>
            <a:ext cx="2303929" cy="49305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なめらかなエッジ</a:t>
            </a:r>
          </a:p>
        </p:txBody>
      </p:sp>
      <p:sp>
        <p:nvSpPr>
          <p:cNvPr id="13" name="四角形: 角を丸くする 12">
            <a:extLst>
              <a:ext uri="{FF2B5EF4-FFF2-40B4-BE49-F238E27FC236}">
                <a16:creationId xmlns:a16="http://schemas.microsoft.com/office/drawing/2014/main" id="{70E43FDE-36D6-E078-2B9C-645F27DE07C6}"/>
              </a:ext>
            </a:extLst>
          </p:cNvPr>
          <p:cNvSpPr/>
          <p:nvPr/>
        </p:nvSpPr>
        <p:spPr>
          <a:xfrm>
            <a:off x="5300478" y="5225814"/>
            <a:ext cx="2303929" cy="49305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dirty="0"/>
              <a:t>ラプラシアン</a:t>
            </a:r>
          </a:p>
        </p:txBody>
      </p:sp>
      <p:sp>
        <p:nvSpPr>
          <p:cNvPr id="14" name="四角形: 角を丸くする 13">
            <a:extLst>
              <a:ext uri="{FF2B5EF4-FFF2-40B4-BE49-F238E27FC236}">
                <a16:creationId xmlns:a16="http://schemas.microsoft.com/office/drawing/2014/main" id="{AFFA6334-E033-053F-44FC-659DB2617D89}"/>
              </a:ext>
            </a:extLst>
          </p:cNvPr>
          <p:cNvSpPr/>
          <p:nvPr/>
        </p:nvSpPr>
        <p:spPr>
          <a:xfrm>
            <a:off x="8325909" y="5225813"/>
            <a:ext cx="2303929" cy="49305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急激なエッジ</a:t>
            </a:r>
          </a:p>
        </p:txBody>
      </p:sp>
      <p:sp>
        <p:nvSpPr>
          <p:cNvPr id="4" name="フッター プレースホルダー 3">
            <a:extLst>
              <a:ext uri="{FF2B5EF4-FFF2-40B4-BE49-F238E27FC236}">
                <a16:creationId xmlns:a16="http://schemas.microsoft.com/office/drawing/2014/main" id="{FBDFE09D-88C4-615E-B540-EB12425452ED}"/>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4E2678F1-CCD7-9D31-908B-E30F79B65305}"/>
              </a:ext>
            </a:extLst>
          </p:cNvPr>
          <p:cNvSpPr>
            <a:spLocks noGrp="1"/>
          </p:cNvSpPr>
          <p:nvPr>
            <p:ph type="sldNum" sz="quarter" idx="12"/>
          </p:nvPr>
        </p:nvSpPr>
        <p:spPr/>
        <p:txBody>
          <a:bodyPr/>
          <a:lstStyle/>
          <a:p>
            <a:fld id="{82EE47C2-3066-499F-97BE-8094ED607EB5}" type="slidenum">
              <a:rPr kumimoji="1" lang="ja-JP" altLang="en-US" smtClean="0"/>
              <a:t>30</a:t>
            </a:fld>
            <a:endParaRPr kumimoji="1" lang="ja-JP" altLang="en-US"/>
          </a:p>
        </p:txBody>
      </p:sp>
      <p:cxnSp>
        <p:nvCxnSpPr>
          <p:cNvPr id="8" name="直線コネクタ 7">
            <a:extLst>
              <a:ext uri="{FF2B5EF4-FFF2-40B4-BE49-F238E27FC236}">
                <a16:creationId xmlns:a16="http://schemas.microsoft.com/office/drawing/2014/main" id="{1C55E439-03AA-B43C-535B-2AAFAE9D4248}"/>
              </a:ext>
            </a:extLst>
          </p:cNvPr>
          <p:cNvCxnSpPr>
            <a:cxnSpLocks/>
          </p:cNvCxnSpPr>
          <p:nvPr/>
        </p:nvCxnSpPr>
        <p:spPr>
          <a:xfrm flipV="1">
            <a:off x="4802505" y="3536061"/>
            <a:ext cx="0" cy="453009"/>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6815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4F3C8-8F75-1249-AEB8-7B64985C9167}"/>
              </a:ext>
            </a:extLst>
          </p:cNvPr>
          <p:cNvSpPr>
            <a:spLocks noGrp="1"/>
          </p:cNvSpPr>
          <p:nvPr>
            <p:ph type="title"/>
          </p:nvPr>
        </p:nvSpPr>
        <p:spPr>
          <a:xfrm>
            <a:off x="838200" y="365125"/>
            <a:ext cx="10515600" cy="917137"/>
          </a:xfrm>
        </p:spPr>
        <p:txBody>
          <a:bodyPr>
            <a:normAutofit/>
          </a:bodyPr>
          <a:lstStyle/>
          <a:p>
            <a:r>
              <a:rPr kumimoji="1" lang="ja-JP" altLang="en-US" b="1" dirty="0"/>
              <a:t>鮮鋭</a:t>
            </a:r>
            <a:r>
              <a:rPr kumimoji="1" lang="en-US" altLang="ja-JP" b="1" dirty="0"/>
              <a:t>(</a:t>
            </a:r>
            <a:r>
              <a:rPr kumimoji="1" lang="ja-JP" altLang="en-US" b="1" dirty="0"/>
              <a:t>シャープ</a:t>
            </a:r>
            <a:r>
              <a:rPr kumimoji="1" lang="en-US" altLang="ja-JP" b="1" dirty="0"/>
              <a:t>)</a:t>
            </a:r>
            <a:r>
              <a:rPr kumimoji="1" lang="ja-JP" altLang="en-US" b="1" dirty="0"/>
              <a:t>化フィルタの仕組み</a:t>
            </a:r>
          </a:p>
        </p:txBody>
      </p:sp>
      <p:sp>
        <p:nvSpPr>
          <p:cNvPr id="3" name="コンテンツ プレースホルダー 2">
            <a:extLst>
              <a:ext uri="{FF2B5EF4-FFF2-40B4-BE49-F238E27FC236}">
                <a16:creationId xmlns:a16="http://schemas.microsoft.com/office/drawing/2014/main" id="{90BD028B-357E-DC3B-7C5C-6921945714D6}"/>
              </a:ext>
            </a:extLst>
          </p:cNvPr>
          <p:cNvSpPr>
            <a:spLocks noGrp="1"/>
          </p:cNvSpPr>
          <p:nvPr>
            <p:ph idx="1"/>
          </p:nvPr>
        </p:nvSpPr>
        <p:spPr>
          <a:xfrm>
            <a:off x="838199" y="1282262"/>
            <a:ext cx="10712669" cy="4894701"/>
          </a:xfrm>
        </p:spPr>
        <p:txBody>
          <a:bodyPr>
            <a:normAutofit/>
          </a:bodyPr>
          <a:lstStyle/>
          <a:p>
            <a:r>
              <a:rPr lang="ja-JP" altLang="en-US" dirty="0"/>
              <a:t>上下左右で差がある和が</a:t>
            </a:r>
            <a:r>
              <a:rPr lang="en-US" altLang="ja-JP" dirty="0"/>
              <a:t>1</a:t>
            </a:r>
            <a:r>
              <a:rPr lang="ja-JP" altLang="en-US" dirty="0"/>
              <a:t>となるフィルターでコンボリューション。カーネルの中の係数の和が</a:t>
            </a:r>
            <a:r>
              <a:rPr lang="en-US" altLang="ja-JP" dirty="0"/>
              <a:t>1</a:t>
            </a:r>
            <a:r>
              <a:rPr lang="ja-JP" altLang="en-US" dirty="0"/>
              <a:t>なので明るさは変わらない</a:t>
            </a:r>
            <a:endParaRPr lang="en-US" altLang="ja-JP" dirty="0"/>
          </a:p>
        </p:txBody>
      </p:sp>
      <p:sp>
        <p:nvSpPr>
          <p:cNvPr id="4" name="フッター プレースホルダー 3">
            <a:extLst>
              <a:ext uri="{FF2B5EF4-FFF2-40B4-BE49-F238E27FC236}">
                <a16:creationId xmlns:a16="http://schemas.microsoft.com/office/drawing/2014/main" id="{FBDFE09D-88C4-615E-B540-EB12425452ED}"/>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4E2678F1-CCD7-9D31-908B-E30F79B65305}"/>
              </a:ext>
            </a:extLst>
          </p:cNvPr>
          <p:cNvSpPr>
            <a:spLocks noGrp="1"/>
          </p:cNvSpPr>
          <p:nvPr>
            <p:ph type="sldNum" sz="quarter" idx="12"/>
          </p:nvPr>
        </p:nvSpPr>
        <p:spPr/>
        <p:txBody>
          <a:bodyPr/>
          <a:lstStyle/>
          <a:p>
            <a:fld id="{82EE47C2-3066-499F-97BE-8094ED607EB5}" type="slidenum">
              <a:rPr kumimoji="1" lang="ja-JP" altLang="en-US" smtClean="0"/>
              <a:t>31</a:t>
            </a:fld>
            <a:endParaRPr kumimoji="1" lang="ja-JP" altLang="en-US"/>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B8F77BEC-6AF5-90E3-B6DE-AC5A85922B6E}"/>
                  </a:ext>
                </a:extLst>
              </p:cNvPr>
              <p:cNvGraphicFramePr>
                <a:graphicFrameLocks noGrp="1"/>
              </p:cNvGraphicFramePr>
              <p:nvPr>
                <p:extLst>
                  <p:ext uri="{D42A27DB-BD31-4B8C-83A1-F6EECF244321}">
                    <p14:modId xmlns:p14="http://schemas.microsoft.com/office/powerpoint/2010/main" val="443230036"/>
                  </p:ext>
                </p:extLst>
              </p:nvPr>
            </p:nvGraphicFramePr>
            <p:xfrm>
              <a:off x="1161434" y="2919492"/>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5</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6" name="表 5">
                <a:extLst>
                  <a:ext uri="{FF2B5EF4-FFF2-40B4-BE49-F238E27FC236}">
                    <a16:creationId xmlns:a16="http://schemas.microsoft.com/office/drawing/2014/main" id="{B8F77BEC-6AF5-90E3-B6DE-AC5A85922B6E}"/>
                  </a:ext>
                </a:extLst>
              </p:cNvPr>
              <p:cNvGraphicFramePr>
                <a:graphicFrameLocks noGrp="1"/>
              </p:cNvGraphicFramePr>
              <p:nvPr>
                <p:extLst>
                  <p:ext uri="{D42A27DB-BD31-4B8C-83A1-F6EECF244321}">
                    <p14:modId xmlns:p14="http://schemas.microsoft.com/office/powerpoint/2010/main" val="443230036"/>
                  </p:ext>
                </p:extLst>
              </p:nvPr>
            </p:nvGraphicFramePr>
            <p:xfrm>
              <a:off x="1161434" y="2919492"/>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3"/>
                          <a:stretch>
                            <a:fillRect l="-1075" t="-1282" r="-203226" b="-205128"/>
                          </a:stretch>
                        </a:blipFill>
                      </a:tcPr>
                    </a:tc>
                    <a:tc>
                      <a:txBody>
                        <a:bodyPr/>
                        <a:lstStyle/>
                        <a:p>
                          <a:endParaRPr lang="ja-JP"/>
                        </a:p>
                      </a:txBody>
                      <a:tcPr>
                        <a:blipFill>
                          <a:blip r:embed="rId3"/>
                          <a:stretch>
                            <a:fillRect l="-100000" t="-1282" r="-101064" b="-205128"/>
                          </a:stretch>
                        </a:blipFill>
                      </a:tcPr>
                    </a:tc>
                    <a:tc>
                      <a:txBody>
                        <a:bodyPr/>
                        <a:lstStyle/>
                        <a:p>
                          <a:endParaRPr lang="ja-JP"/>
                        </a:p>
                      </a:txBody>
                      <a:tcPr>
                        <a:blipFill>
                          <a:blip r:embed="rId3"/>
                          <a:stretch>
                            <a:fillRect l="-202151" t="-1282" r="-2151" b="-205128"/>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3"/>
                          <a:stretch>
                            <a:fillRect l="-1075" t="-100000" r="-203226" b="-102532"/>
                          </a:stretch>
                        </a:blipFill>
                      </a:tcPr>
                    </a:tc>
                    <a:tc>
                      <a:txBody>
                        <a:bodyPr/>
                        <a:lstStyle/>
                        <a:p>
                          <a:endParaRPr lang="ja-JP"/>
                        </a:p>
                      </a:txBody>
                      <a:tcPr>
                        <a:blipFill>
                          <a:blip r:embed="rId3"/>
                          <a:stretch>
                            <a:fillRect l="-100000" t="-100000" r="-101064" b="-102532"/>
                          </a:stretch>
                        </a:blipFill>
                      </a:tcPr>
                    </a:tc>
                    <a:tc>
                      <a:txBody>
                        <a:bodyPr/>
                        <a:lstStyle/>
                        <a:p>
                          <a:endParaRPr lang="ja-JP"/>
                        </a:p>
                      </a:txBody>
                      <a:tcPr>
                        <a:blipFill>
                          <a:blip r:embed="rId3"/>
                          <a:stretch>
                            <a:fillRect l="-202151" t="-100000" r="-2151" b="-102532"/>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3"/>
                          <a:stretch>
                            <a:fillRect l="-1075" t="-202564" r="-203226" b="-3846"/>
                          </a:stretch>
                        </a:blipFill>
                      </a:tcPr>
                    </a:tc>
                    <a:tc>
                      <a:txBody>
                        <a:bodyPr/>
                        <a:lstStyle/>
                        <a:p>
                          <a:endParaRPr lang="ja-JP"/>
                        </a:p>
                      </a:txBody>
                      <a:tcPr>
                        <a:blipFill>
                          <a:blip r:embed="rId3"/>
                          <a:stretch>
                            <a:fillRect l="-100000" t="-202564" r="-101064" b="-3846"/>
                          </a:stretch>
                        </a:blipFill>
                      </a:tcPr>
                    </a:tc>
                    <a:tc>
                      <a:txBody>
                        <a:bodyPr/>
                        <a:lstStyle/>
                        <a:p>
                          <a:endParaRPr lang="ja-JP"/>
                        </a:p>
                      </a:txBody>
                      <a:tcPr>
                        <a:blipFill>
                          <a:blip r:embed="rId3"/>
                          <a:stretch>
                            <a:fillRect l="-202151" t="-202564" r="-2151" b="-3846"/>
                          </a:stretch>
                        </a:blipFill>
                      </a:tcPr>
                    </a:tc>
                    <a:extLst>
                      <a:ext uri="{0D108BD9-81ED-4DB2-BD59-A6C34878D82A}">
                        <a16:rowId xmlns:a16="http://schemas.microsoft.com/office/drawing/2014/main" val="889266494"/>
                      </a:ext>
                    </a:extLst>
                  </a:tr>
                </a:tbl>
              </a:graphicData>
            </a:graphic>
          </p:graphicFrame>
        </mc:Fallback>
      </mc:AlternateContent>
      <p:sp>
        <p:nvSpPr>
          <p:cNvPr id="8" name="テキスト ボックス 7">
            <a:extLst>
              <a:ext uri="{FF2B5EF4-FFF2-40B4-BE49-F238E27FC236}">
                <a16:creationId xmlns:a16="http://schemas.microsoft.com/office/drawing/2014/main" id="{5E2914A4-E2C2-F898-2B97-E9D7AADC1437}"/>
              </a:ext>
            </a:extLst>
          </p:cNvPr>
          <p:cNvSpPr txBox="1"/>
          <p:nvPr/>
        </p:nvSpPr>
        <p:spPr>
          <a:xfrm>
            <a:off x="76635" y="4345956"/>
            <a:ext cx="3867333" cy="369332"/>
          </a:xfrm>
          <a:prstGeom prst="rect">
            <a:avLst/>
          </a:prstGeom>
          <a:noFill/>
        </p:spPr>
        <p:txBody>
          <a:bodyPr wrap="square" rtlCol="0">
            <a:spAutoFit/>
          </a:bodyPr>
          <a:lstStyle/>
          <a:p>
            <a:pPr algn="ctr"/>
            <a:r>
              <a:rPr lang="ja-JP" altLang="en-US" b="1" dirty="0"/>
              <a:t>最も基本的な鮮鋭化カーネル</a:t>
            </a:r>
            <a:endParaRPr kumimoji="1" lang="en-US" altLang="ja-JP" b="1" dirty="0"/>
          </a:p>
        </p:txBody>
      </p:sp>
      <p:sp>
        <p:nvSpPr>
          <p:cNvPr id="10" name="正方形/長方形 9">
            <a:extLst>
              <a:ext uri="{FF2B5EF4-FFF2-40B4-BE49-F238E27FC236}">
                <a16:creationId xmlns:a16="http://schemas.microsoft.com/office/drawing/2014/main" id="{2129C652-1B11-51F6-BFFA-969944D47930}"/>
              </a:ext>
            </a:extLst>
          </p:cNvPr>
          <p:cNvSpPr/>
          <p:nvPr/>
        </p:nvSpPr>
        <p:spPr>
          <a:xfrm>
            <a:off x="3831336" y="2286000"/>
            <a:ext cx="8001000" cy="30723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graphicFrame>
            <p:nvGraphicFramePr>
              <p:cNvPr id="15" name="表 14">
                <a:extLst>
                  <a:ext uri="{FF2B5EF4-FFF2-40B4-BE49-F238E27FC236}">
                    <a16:creationId xmlns:a16="http://schemas.microsoft.com/office/drawing/2014/main" id="{69137AEE-CD81-4898-1085-523256010AA7}"/>
                  </a:ext>
                </a:extLst>
              </p:cNvPr>
              <p:cNvGraphicFramePr>
                <a:graphicFrameLocks noGrp="1"/>
              </p:cNvGraphicFramePr>
              <p:nvPr>
                <p:extLst>
                  <p:ext uri="{D42A27DB-BD31-4B8C-83A1-F6EECF244321}">
                    <p14:modId xmlns:p14="http://schemas.microsoft.com/office/powerpoint/2010/main" val="4057229944"/>
                  </p:ext>
                </p:extLst>
              </p:nvPr>
            </p:nvGraphicFramePr>
            <p:xfrm>
              <a:off x="4857933" y="293905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5" name="表 14">
                <a:extLst>
                  <a:ext uri="{FF2B5EF4-FFF2-40B4-BE49-F238E27FC236}">
                    <a16:creationId xmlns:a16="http://schemas.microsoft.com/office/drawing/2014/main" id="{69137AEE-CD81-4898-1085-523256010AA7}"/>
                  </a:ext>
                </a:extLst>
              </p:cNvPr>
              <p:cNvGraphicFramePr>
                <a:graphicFrameLocks noGrp="1"/>
              </p:cNvGraphicFramePr>
              <p:nvPr>
                <p:extLst>
                  <p:ext uri="{D42A27DB-BD31-4B8C-83A1-F6EECF244321}">
                    <p14:modId xmlns:p14="http://schemas.microsoft.com/office/powerpoint/2010/main" val="4057229944"/>
                  </p:ext>
                </p:extLst>
              </p:nvPr>
            </p:nvGraphicFramePr>
            <p:xfrm>
              <a:off x="4857933" y="293905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4"/>
                          <a:stretch>
                            <a:fillRect l="-1075" t="-1282" r="-203226" b="-203846"/>
                          </a:stretch>
                        </a:blipFill>
                      </a:tcPr>
                    </a:tc>
                    <a:tc>
                      <a:txBody>
                        <a:bodyPr/>
                        <a:lstStyle/>
                        <a:p>
                          <a:endParaRPr lang="ja-JP"/>
                        </a:p>
                      </a:txBody>
                      <a:tcPr>
                        <a:blipFill>
                          <a:blip r:embed="rId4"/>
                          <a:stretch>
                            <a:fillRect l="-100000" t="-1282" r="-101064" b="-203846"/>
                          </a:stretch>
                        </a:blipFill>
                      </a:tcPr>
                    </a:tc>
                    <a:tc>
                      <a:txBody>
                        <a:bodyPr/>
                        <a:lstStyle/>
                        <a:p>
                          <a:endParaRPr lang="ja-JP"/>
                        </a:p>
                      </a:txBody>
                      <a:tcPr>
                        <a:blipFill>
                          <a:blip r:embed="rId4"/>
                          <a:stretch>
                            <a:fillRect l="-202151" t="-1282" r="-2151" b="-203846"/>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4"/>
                          <a:stretch>
                            <a:fillRect l="-1075" t="-100000" r="-203226" b="-101266"/>
                          </a:stretch>
                        </a:blipFill>
                      </a:tcPr>
                    </a:tc>
                    <a:tc>
                      <a:txBody>
                        <a:bodyPr/>
                        <a:lstStyle/>
                        <a:p>
                          <a:endParaRPr lang="ja-JP"/>
                        </a:p>
                      </a:txBody>
                      <a:tcPr>
                        <a:blipFill>
                          <a:blip r:embed="rId4"/>
                          <a:stretch>
                            <a:fillRect l="-100000" t="-100000" r="-101064" b="-101266"/>
                          </a:stretch>
                        </a:blipFill>
                      </a:tcPr>
                    </a:tc>
                    <a:tc>
                      <a:txBody>
                        <a:bodyPr/>
                        <a:lstStyle/>
                        <a:p>
                          <a:endParaRPr lang="ja-JP"/>
                        </a:p>
                      </a:txBody>
                      <a:tcPr>
                        <a:blipFill>
                          <a:blip r:embed="rId4"/>
                          <a:stretch>
                            <a:fillRect l="-202151" t="-100000" r="-2151" b="-101266"/>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4"/>
                          <a:stretch>
                            <a:fillRect l="-1075" t="-202564" r="-203226" b="-2564"/>
                          </a:stretch>
                        </a:blipFill>
                      </a:tcPr>
                    </a:tc>
                    <a:tc>
                      <a:txBody>
                        <a:bodyPr/>
                        <a:lstStyle/>
                        <a:p>
                          <a:endParaRPr lang="ja-JP"/>
                        </a:p>
                      </a:txBody>
                      <a:tcPr>
                        <a:blipFill>
                          <a:blip r:embed="rId4"/>
                          <a:stretch>
                            <a:fillRect l="-100000" t="-202564" r="-101064" b="-2564"/>
                          </a:stretch>
                        </a:blipFill>
                      </a:tcPr>
                    </a:tc>
                    <a:tc>
                      <a:txBody>
                        <a:bodyPr/>
                        <a:lstStyle/>
                        <a:p>
                          <a:endParaRPr lang="ja-JP"/>
                        </a:p>
                      </a:txBody>
                      <a:tcPr>
                        <a:blipFill>
                          <a:blip r:embed="rId4"/>
                          <a:stretch>
                            <a:fillRect l="-202151" t="-202564" r="-2151" b="-2564"/>
                          </a:stretch>
                        </a:blipFill>
                      </a:tcPr>
                    </a:tc>
                    <a:extLst>
                      <a:ext uri="{0D108BD9-81ED-4DB2-BD59-A6C34878D82A}">
                        <a16:rowId xmlns:a16="http://schemas.microsoft.com/office/drawing/2014/main" val="889266494"/>
                      </a:ext>
                    </a:extLst>
                  </a:tr>
                </a:tbl>
              </a:graphicData>
            </a:graphic>
          </p:graphicFrame>
        </mc:Fallback>
      </mc:AlternateContent>
      <p:sp>
        <p:nvSpPr>
          <p:cNvPr id="16" name="テキスト ボックス 15">
            <a:extLst>
              <a:ext uri="{FF2B5EF4-FFF2-40B4-BE49-F238E27FC236}">
                <a16:creationId xmlns:a16="http://schemas.microsoft.com/office/drawing/2014/main" id="{8F277FF1-3C2E-8175-559B-26FB9F2236DE}"/>
              </a:ext>
            </a:extLst>
          </p:cNvPr>
          <p:cNvSpPr txBox="1"/>
          <p:nvPr/>
        </p:nvSpPr>
        <p:spPr>
          <a:xfrm>
            <a:off x="3958484" y="4365514"/>
            <a:ext cx="3496634" cy="369332"/>
          </a:xfrm>
          <a:prstGeom prst="rect">
            <a:avLst/>
          </a:prstGeom>
          <a:noFill/>
        </p:spPr>
        <p:txBody>
          <a:bodyPr wrap="square" rtlCol="0">
            <a:spAutoFit/>
          </a:bodyPr>
          <a:lstStyle/>
          <a:p>
            <a:pPr algn="ctr"/>
            <a:r>
              <a:rPr lang="ja-JP" altLang="en-US" b="1" dirty="0"/>
              <a:t>元画像を出すだけのカーネル</a:t>
            </a:r>
            <a:endParaRPr kumimoji="1" lang="en-US" altLang="ja-JP" b="1" dirty="0"/>
          </a:p>
        </p:txBody>
      </p:sp>
      <mc:AlternateContent xmlns:mc="http://schemas.openxmlformats.org/markup-compatibility/2006">
        <mc:Choice xmlns:a14="http://schemas.microsoft.com/office/drawing/2010/main" Requires="a14">
          <p:graphicFrame>
            <p:nvGraphicFramePr>
              <p:cNvPr id="17" name="表 16">
                <a:extLst>
                  <a:ext uri="{FF2B5EF4-FFF2-40B4-BE49-F238E27FC236}">
                    <a16:creationId xmlns:a16="http://schemas.microsoft.com/office/drawing/2014/main" id="{EE38E1BF-07E5-EC63-1621-CB36602980A0}"/>
                  </a:ext>
                </a:extLst>
              </p:cNvPr>
              <p:cNvGraphicFramePr>
                <a:graphicFrameLocks noGrp="1"/>
              </p:cNvGraphicFramePr>
              <p:nvPr>
                <p:extLst>
                  <p:ext uri="{D42A27DB-BD31-4B8C-83A1-F6EECF244321}">
                    <p14:modId xmlns:p14="http://schemas.microsoft.com/office/powerpoint/2010/main" val="3143933168"/>
                  </p:ext>
                </p:extLst>
              </p:nvPr>
            </p:nvGraphicFramePr>
            <p:xfrm>
              <a:off x="8823381" y="293905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1536901703"/>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4</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extLst>
                      <a:ext uri="{0D108BD9-81ED-4DB2-BD59-A6C34878D82A}">
                        <a16:rowId xmlns:a16="http://schemas.microsoft.com/office/drawing/2014/main" val="3087686638"/>
                      </a:ext>
                    </a:extLst>
                  </a:tr>
                  <a:tr h="475488">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a:txBody>
                      <a:tcPr/>
                    </a:tc>
                    <a:tc>
                      <a:txBody>
                        <a:bodyPr/>
                        <a:lstStyle/>
                        <a:p>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a:txBody>
                      <a:tcPr/>
                    </a:tc>
                    <a:extLst>
                      <a:ext uri="{0D108BD9-81ED-4DB2-BD59-A6C34878D82A}">
                        <a16:rowId xmlns:a16="http://schemas.microsoft.com/office/drawing/2014/main" val="889266494"/>
                      </a:ext>
                    </a:extLst>
                  </a:tr>
                </a:tbl>
              </a:graphicData>
            </a:graphic>
          </p:graphicFrame>
        </mc:Choice>
        <mc:Fallback>
          <p:graphicFrame>
            <p:nvGraphicFramePr>
              <p:cNvPr id="17" name="表 16">
                <a:extLst>
                  <a:ext uri="{FF2B5EF4-FFF2-40B4-BE49-F238E27FC236}">
                    <a16:creationId xmlns:a16="http://schemas.microsoft.com/office/drawing/2014/main" id="{EE38E1BF-07E5-EC63-1621-CB36602980A0}"/>
                  </a:ext>
                </a:extLst>
              </p:cNvPr>
              <p:cNvGraphicFramePr>
                <a:graphicFrameLocks noGrp="1"/>
              </p:cNvGraphicFramePr>
              <p:nvPr>
                <p:extLst>
                  <p:ext uri="{D42A27DB-BD31-4B8C-83A1-F6EECF244321}">
                    <p14:modId xmlns:p14="http://schemas.microsoft.com/office/powerpoint/2010/main" val="3143933168"/>
                  </p:ext>
                </p:extLst>
              </p:nvPr>
            </p:nvGraphicFramePr>
            <p:xfrm>
              <a:off x="8823381" y="2939050"/>
              <a:ext cx="1697736" cy="1426464"/>
            </p:xfrm>
            <a:graphic>
              <a:graphicData uri="http://schemas.openxmlformats.org/drawingml/2006/table">
                <a:tbl>
                  <a:tblPr firstRow="1" bandRow="1">
                    <a:tableStyleId>{5940675A-B579-460E-94D1-54222C63F5DA}</a:tableStyleId>
                  </a:tblPr>
                  <a:tblGrid>
                    <a:gridCol w="565912">
                      <a:extLst>
                        <a:ext uri="{9D8B030D-6E8A-4147-A177-3AD203B41FA5}">
                          <a16:colId xmlns:a16="http://schemas.microsoft.com/office/drawing/2014/main" val="2353778807"/>
                        </a:ext>
                      </a:extLst>
                    </a:gridCol>
                    <a:gridCol w="565912">
                      <a:extLst>
                        <a:ext uri="{9D8B030D-6E8A-4147-A177-3AD203B41FA5}">
                          <a16:colId xmlns:a16="http://schemas.microsoft.com/office/drawing/2014/main" val="161099884"/>
                        </a:ext>
                      </a:extLst>
                    </a:gridCol>
                    <a:gridCol w="565912">
                      <a:extLst>
                        <a:ext uri="{9D8B030D-6E8A-4147-A177-3AD203B41FA5}">
                          <a16:colId xmlns:a16="http://schemas.microsoft.com/office/drawing/2014/main" val="2620001296"/>
                        </a:ext>
                      </a:extLst>
                    </a:gridCol>
                  </a:tblGrid>
                  <a:tr h="475488">
                    <a:tc>
                      <a:txBody>
                        <a:bodyPr/>
                        <a:lstStyle/>
                        <a:p>
                          <a:endParaRPr lang="ja-JP"/>
                        </a:p>
                      </a:txBody>
                      <a:tcPr>
                        <a:blipFill>
                          <a:blip r:embed="rId5"/>
                          <a:stretch>
                            <a:fillRect l="-1075" t="-1282" r="-202151" b="-203846"/>
                          </a:stretch>
                        </a:blipFill>
                      </a:tcPr>
                    </a:tc>
                    <a:tc>
                      <a:txBody>
                        <a:bodyPr/>
                        <a:lstStyle/>
                        <a:p>
                          <a:endParaRPr lang="ja-JP"/>
                        </a:p>
                      </a:txBody>
                      <a:tcPr>
                        <a:blipFill>
                          <a:blip r:embed="rId5"/>
                          <a:stretch>
                            <a:fillRect l="-101075" t="-1282" r="-102151" b="-203846"/>
                          </a:stretch>
                        </a:blipFill>
                      </a:tcPr>
                    </a:tc>
                    <a:tc>
                      <a:txBody>
                        <a:bodyPr/>
                        <a:lstStyle/>
                        <a:p>
                          <a:endParaRPr lang="ja-JP"/>
                        </a:p>
                      </a:txBody>
                      <a:tcPr>
                        <a:blipFill>
                          <a:blip r:embed="rId5"/>
                          <a:stretch>
                            <a:fillRect l="-201075" t="-1282" r="-2151" b="-203846"/>
                          </a:stretch>
                        </a:blipFill>
                      </a:tcPr>
                    </a:tc>
                    <a:extLst>
                      <a:ext uri="{0D108BD9-81ED-4DB2-BD59-A6C34878D82A}">
                        <a16:rowId xmlns:a16="http://schemas.microsoft.com/office/drawing/2014/main" val="1536901703"/>
                      </a:ext>
                    </a:extLst>
                  </a:tr>
                  <a:tr h="475488">
                    <a:tc>
                      <a:txBody>
                        <a:bodyPr/>
                        <a:lstStyle/>
                        <a:p>
                          <a:endParaRPr lang="ja-JP"/>
                        </a:p>
                      </a:txBody>
                      <a:tcPr>
                        <a:blipFill>
                          <a:blip r:embed="rId5"/>
                          <a:stretch>
                            <a:fillRect l="-1075" t="-100000" r="-202151" b="-101266"/>
                          </a:stretch>
                        </a:blipFill>
                      </a:tcPr>
                    </a:tc>
                    <a:tc>
                      <a:txBody>
                        <a:bodyPr/>
                        <a:lstStyle/>
                        <a:p>
                          <a:endParaRPr lang="ja-JP"/>
                        </a:p>
                      </a:txBody>
                      <a:tcPr>
                        <a:blipFill>
                          <a:blip r:embed="rId5"/>
                          <a:stretch>
                            <a:fillRect l="-101075" t="-100000" r="-102151" b="-101266"/>
                          </a:stretch>
                        </a:blipFill>
                      </a:tcPr>
                    </a:tc>
                    <a:tc>
                      <a:txBody>
                        <a:bodyPr/>
                        <a:lstStyle/>
                        <a:p>
                          <a:endParaRPr lang="ja-JP"/>
                        </a:p>
                      </a:txBody>
                      <a:tcPr>
                        <a:blipFill>
                          <a:blip r:embed="rId5"/>
                          <a:stretch>
                            <a:fillRect l="-201075" t="-100000" r="-2151" b="-101266"/>
                          </a:stretch>
                        </a:blipFill>
                      </a:tcPr>
                    </a:tc>
                    <a:extLst>
                      <a:ext uri="{0D108BD9-81ED-4DB2-BD59-A6C34878D82A}">
                        <a16:rowId xmlns:a16="http://schemas.microsoft.com/office/drawing/2014/main" val="3087686638"/>
                      </a:ext>
                    </a:extLst>
                  </a:tr>
                  <a:tr h="475488">
                    <a:tc>
                      <a:txBody>
                        <a:bodyPr/>
                        <a:lstStyle/>
                        <a:p>
                          <a:endParaRPr lang="ja-JP"/>
                        </a:p>
                      </a:txBody>
                      <a:tcPr>
                        <a:blipFill>
                          <a:blip r:embed="rId5"/>
                          <a:stretch>
                            <a:fillRect l="-1075" t="-202564" r="-202151" b="-2564"/>
                          </a:stretch>
                        </a:blipFill>
                      </a:tcPr>
                    </a:tc>
                    <a:tc>
                      <a:txBody>
                        <a:bodyPr/>
                        <a:lstStyle/>
                        <a:p>
                          <a:endParaRPr lang="ja-JP"/>
                        </a:p>
                      </a:txBody>
                      <a:tcPr>
                        <a:blipFill>
                          <a:blip r:embed="rId5"/>
                          <a:stretch>
                            <a:fillRect l="-101075" t="-202564" r="-102151" b="-2564"/>
                          </a:stretch>
                        </a:blipFill>
                      </a:tcPr>
                    </a:tc>
                    <a:tc>
                      <a:txBody>
                        <a:bodyPr/>
                        <a:lstStyle/>
                        <a:p>
                          <a:endParaRPr lang="ja-JP"/>
                        </a:p>
                      </a:txBody>
                      <a:tcPr>
                        <a:blipFill>
                          <a:blip r:embed="rId5"/>
                          <a:stretch>
                            <a:fillRect l="-201075" t="-202564" r="-2151" b="-2564"/>
                          </a:stretch>
                        </a:blipFill>
                      </a:tcPr>
                    </a:tc>
                    <a:extLst>
                      <a:ext uri="{0D108BD9-81ED-4DB2-BD59-A6C34878D82A}">
                        <a16:rowId xmlns:a16="http://schemas.microsoft.com/office/drawing/2014/main" val="889266494"/>
                      </a:ext>
                    </a:extLst>
                  </a:tr>
                </a:tbl>
              </a:graphicData>
            </a:graphic>
          </p:graphicFrame>
        </mc:Fallback>
      </mc:AlternateContent>
      <p:sp>
        <p:nvSpPr>
          <p:cNvPr id="18" name="テキスト ボックス 17">
            <a:extLst>
              <a:ext uri="{FF2B5EF4-FFF2-40B4-BE49-F238E27FC236}">
                <a16:creationId xmlns:a16="http://schemas.microsoft.com/office/drawing/2014/main" id="{A2E2F9DB-56D4-8BF0-3B88-7710CA68AD2D}"/>
              </a:ext>
            </a:extLst>
          </p:cNvPr>
          <p:cNvSpPr txBox="1"/>
          <p:nvPr/>
        </p:nvSpPr>
        <p:spPr>
          <a:xfrm>
            <a:off x="7923932" y="4397304"/>
            <a:ext cx="3496634" cy="646331"/>
          </a:xfrm>
          <a:prstGeom prst="rect">
            <a:avLst/>
          </a:prstGeom>
          <a:noFill/>
        </p:spPr>
        <p:txBody>
          <a:bodyPr wrap="square" rtlCol="0">
            <a:spAutoFit/>
          </a:bodyPr>
          <a:lstStyle/>
          <a:p>
            <a:pPr algn="ctr"/>
            <a:r>
              <a:rPr lang="ja-JP" altLang="en-US" b="1" dirty="0"/>
              <a:t>エッジを強調するカーネル</a:t>
            </a:r>
            <a:endParaRPr lang="en-US" altLang="ja-JP" b="1" dirty="0"/>
          </a:p>
          <a:p>
            <a:pPr algn="ctr"/>
            <a:r>
              <a:rPr kumimoji="1" lang="ja-JP" altLang="en-US" b="1" dirty="0"/>
              <a:t>（</a:t>
            </a:r>
            <a:r>
              <a:rPr kumimoji="1" lang="en-US" altLang="ja-JP" b="1" dirty="0"/>
              <a:t>Laplacian Filter</a:t>
            </a:r>
            <a:r>
              <a:rPr kumimoji="1" lang="ja-JP" altLang="en-US" b="1" dirty="0"/>
              <a:t>）</a:t>
            </a:r>
            <a:endParaRPr kumimoji="1" lang="en-US" altLang="ja-JP" b="1" dirty="0"/>
          </a:p>
        </p:txBody>
      </p:sp>
      <p:sp>
        <p:nvSpPr>
          <p:cNvPr id="19" name="十字形 18">
            <a:extLst>
              <a:ext uri="{FF2B5EF4-FFF2-40B4-BE49-F238E27FC236}">
                <a16:creationId xmlns:a16="http://schemas.microsoft.com/office/drawing/2014/main" id="{09880B85-5C09-63DE-BD05-0F447101E224}"/>
              </a:ext>
            </a:extLst>
          </p:cNvPr>
          <p:cNvSpPr/>
          <p:nvPr/>
        </p:nvSpPr>
        <p:spPr>
          <a:xfrm>
            <a:off x="7455118" y="3546935"/>
            <a:ext cx="468814" cy="466265"/>
          </a:xfrm>
          <a:prstGeom prst="plus">
            <a:avLst>
              <a:gd name="adj" fmla="val 446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25E251AF-EDF4-27CB-F028-89175C4E0D9A}"/>
              </a:ext>
            </a:extLst>
          </p:cNvPr>
          <p:cNvSpPr txBox="1"/>
          <p:nvPr/>
        </p:nvSpPr>
        <p:spPr>
          <a:xfrm>
            <a:off x="1798320" y="5710698"/>
            <a:ext cx="9052560" cy="461665"/>
          </a:xfrm>
          <a:prstGeom prst="rect">
            <a:avLst/>
          </a:prstGeom>
          <a:noFill/>
        </p:spPr>
        <p:txBody>
          <a:bodyPr wrap="square" rtlCol="0">
            <a:spAutoFit/>
          </a:bodyPr>
          <a:lstStyle/>
          <a:p>
            <a:pPr algn="ctr"/>
            <a:r>
              <a:rPr lang="ja-JP" altLang="en-US" sz="2400" b="1" dirty="0"/>
              <a:t>結果的に</a:t>
            </a:r>
            <a:r>
              <a:rPr lang="en-US" altLang="ja-JP" sz="2400" b="1" dirty="0"/>
              <a:t>【</a:t>
            </a:r>
            <a:r>
              <a:rPr lang="ja-JP" altLang="en-US" sz="2400" b="1" dirty="0"/>
              <a:t>元画像</a:t>
            </a:r>
            <a:r>
              <a:rPr lang="en-US" altLang="ja-JP" sz="2400" b="1" dirty="0"/>
              <a:t>】+【</a:t>
            </a:r>
            <a:r>
              <a:rPr lang="ja-JP" altLang="en-US" sz="2400" b="1" dirty="0"/>
              <a:t>エッジ</a:t>
            </a:r>
            <a:r>
              <a:rPr lang="en-US" altLang="ja-JP" sz="2400" b="1" dirty="0"/>
              <a:t>】</a:t>
            </a:r>
            <a:r>
              <a:rPr lang="ja-JP" altLang="en-US" sz="2400" b="1" dirty="0"/>
              <a:t>＝</a:t>
            </a:r>
            <a:r>
              <a:rPr lang="en-US" altLang="ja-JP" sz="2400" b="1" dirty="0"/>
              <a:t>【</a:t>
            </a:r>
            <a:r>
              <a:rPr lang="ja-JP" altLang="en-US" sz="2400" b="1" dirty="0"/>
              <a:t>シャープな画像</a:t>
            </a:r>
            <a:r>
              <a:rPr lang="en-US" altLang="ja-JP" sz="2400" b="1" dirty="0"/>
              <a:t>】</a:t>
            </a:r>
            <a:r>
              <a:rPr lang="ja-JP" altLang="en-US" sz="2400" b="1" dirty="0"/>
              <a:t>となる</a:t>
            </a:r>
            <a:endParaRPr kumimoji="1" lang="en-US" altLang="ja-JP" sz="2400" b="1" dirty="0"/>
          </a:p>
        </p:txBody>
      </p:sp>
      <p:sp>
        <p:nvSpPr>
          <p:cNvPr id="21" name="テキスト ボックス 20">
            <a:extLst>
              <a:ext uri="{FF2B5EF4-FFF2-40B4-BE49-F238E27FC236}">
                <a16:creationId xmlns:a16="http://schemas.microsoft.com/office/drawing/2014/main" id="{F5ED2867-81CB-B0AD-254E-8CBFAE173A3E}"/>
              </a:ext>
            </a:extLst>
          </p:cNvPr>
          <p:cNvSpPr txBox="1"/>
          <p:nvPr/>
        </p:nvSpPr>
        <p:spPr>
          <a:xfrm>
            <a:off x="9279128" y="774937"/>
            <a:ext cx="2737104" cy="400110"/>
          </a:xfrm>
          <a:prstGeom prst="rect">
            <a:avLst/>
          </a:prstGeom>
          <a:noFill/>
        </p:spPr>
        <p:txBody>
          <a:bodyPr wrap="square" rtlCol="0">
            <a:spAutoFit/>
          </a:bodyPr>
          <a:lstStyle/>
          <a:p>
            <a:pPr algn="ctr"/>
            <a:r>
              <a:rPr kumimoji="1" lang="en-US" altLang="ja-JP" sz="2000" b="1" dirty="0"/>
              <a:t>Hello_sharp.py</a:t>
            </a:r>
          </a:p>
        </p:txBody>
      </p:sp>
    </p:spTree>
    <p:extLst>
      <p:ext uri="{BB962C8B-B14F-4D97-AF65-F5344CB8AC3E}">
        <p14:creationId xmlns:p14="http://schemas.microsoft.com/office/powerpoint/2010/main" val="2428289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EC7D03-0DA5-2F01-0575-526C294C2EC4}"/>
              </a:ext>
            </a:extLst>
          </p:cNvPr>
          <p:cNvSpPr>
            <a:spLocks noGrp="1"/>
          </p:cNvSpPr>
          <p:nvPr>
            <p:ph type="title"/>
          </p:nvPr>
        </p:nvSpPr>
        <p:spPr/>
        <p:txBody>
          <a:bodyPr/>
          <a:lstStyle/>
          <a:p>
            <a:r>
              <a:rPr lang="ja-JP" altLang="en-US" dirty="0"/>
              <a:t>ノイズ除去・フィルタ　練習</a:t>
            </a:r>
            <a:endParaRPr kumimoji="1" lang="ja-JP" altLang="en-US" dirty="0"/>
          </a:p>
        </p:txBody>
      </p:sp>
      <p:sp>
        <p:nvSpPr>
          <p:cNvPr id="3" name="コンテンツ プレースホルダー 2">
            <a:extLst>
              <a:ext uri="{FF2B5EF4-FFF2-40B4-BE49-F238E27FC236}">
                <a16:creationId xmlns:a16="http://schemas.microsoft.com/office/drawing/2014/main" id="{B05BC98B-700B-C95B-747C-8A050C363425}"/>
              </a:ext>
            </a:extLst>
          </p:cNvPr>
          <p:cNvSpPr>
            <a:spLocks noGrp="1"/>
          </p:cNvSpPr>
          <p:nvPr>
            <p:ph idx="1"/>
          </p:nvPr>
        </p:nvSpPr>
        <p:spPr>
          <a:xfrm>
            <a:off x="838200" y="1825625"/>
            <a:ext cx="5751786" cy="4351338"/>
          </a:xfrm>
        </p:spPr>
        <p:txBody>
          <a:bodyPr/>
          <a:lstStyle/>
          <a:p>
            <a:r>
              <a:rPr kumimoji="1" lang="ja-JP" altLang="en-US" dirty="0"/>
              <a:t>金属加工の現場での画像処理を想定します</a:t>
            </a:r>
            <a:endParaRPr kumimoji="1" lang="en-US" altLang="ja-JP" dirty="0"/>
          </a:p>
          <a:p>
            <a:r>
              <a:rPr kumimoji="1" lang="ja-JP" altLang="en-US" dirty="0"/>
              <a:t>加工された金属の曲率を求めるために背景のノイズ等を除去したいとします</a:t>
            </a:r>
            <a:endParaRPr kumimoji="1" lang="en-US" altLang="ja-JP" dirty="0"/>
          </a:p>
          <a:p>
            <a:r>
              <a:rPr lang="ja-JP" altLang="en-US" dirty="0"/>
              <a:t>適切な前処理を施し、金属の曲率が目立つようにしてください</a:t>
            </a:r>
            <a:endParaRPr kumimoji="1" lang="ja-JP" altLang="en-US" dirty="0"/>
          </a:p>
        </p:txBody>
      </p:sp>
      <p:pic>
        <p:nvPicPr>
          <p:cNvPr id="6" name="図 5">
            <a:extLst>
              <a:ext uri="{FF2B5EF4-FFF2-40B4-BE49-F238E27FC236}">
                <a16:creationId xmlns:a16="http://schemas.microsoft.com/office/drawing/2014/main" id="{CCEA38B7-06D0-8433-DFD5-B85B3DB3F1B8}"/>
              </a:ext>
            </a:extLst>
          </p:cNvPr>
          <p:cNvPicPr>
            <a:picLocks noChangeAspect="1"/>
          </p:cNvPicPr>
          <p:nvPr/>
        </p:nvPicPr>
        <p:blipFill>
          <a:blip r:embed="rId2"/>
          <a:stretch>
            <a:fillRect/>
          </a:stretch>
        </p:blipFill>
        <p:spPr>
          <a:xfrm>
            <a:off x="7062951" y="2141537"/>
            <a:ext cx="4845413" cy="3634061"/>
          </a:xfrm>
          <a:prstGeom prst="rect">
            <a:avLst/>
          </a:prstGeom>
        </p:spPr>
      </p:pic>
      <p:sp>
        <p:nvSpPr>
          <p:cNvPr id="9" name="フッター プレースホルダー 8">
            <a:extLst>
              <a:ext uri="{FF2B5EF4-FFF2-40B4-BE49-F238E27FC236}">
                <a16:creationId xmlns:a16="http://schemas.microsoft.com/office/drawing/2014/main" id="{0A97431E-664B-693B-AF1E-3C2ADA10C8E6}"/>
              </a:ext>
            </a:extLst>
          </p:cNvPr>
          <p:cNvSpPr>
            <a:spLocks noGrp="1"/>
          </p:cNvSpPr>
          <p:nvPr>
            <p:ph type="ftr" sz="quarter" idx="11"/>
          </p:nvPr>
        </p:nvSpPr>
        <p:spPr/>
        <p:txBody>
          <a:bodyPr/>
          <a:lstStyle/>
          <a:p>
            <a:r>
              <a:rPr kumimoji="1" lang="ja-JP" altLang="en-US"/>
              <a:t>ポリテクセンター栃木</a:t>
            </a:r>
          </a:p>
        </p:txBody>
      </p:sp>
      <p:sp>
        <p:nvSpPr>
          <p:cNvPr id="10" name="スライド番号プレースホルダー 9">
            <a:extLst>
              <a:ext uri="{FF2B5EF4-FFF2-40B4-BE49-F238E27FC236}">
                <a16:creationId xmlns:a16="http://schemas.microsoft.com/office/drawing/2014/main" id="{82F91CCA-ADEC-9E24-91BD-8D9855AB1D40}"/>
              </a:ext>
            </a:extLst>
          </p:cNvPr>
          <p:cNvSpPr>
            <a:spLocks noGrp="1"/>
          </p:cNvSpPr>
          <p:nvPr>
            <p:ph type="sldNum" sz="quarter" idx="12"/>
          </p:nvPr>
        </p:nvSpPr>
        <p:spPr/>
        <p:txBody>
          <a:bodyPr/>
          <a:lstStyle/>
          <a:p>
            <a:fld id="{82EE47C2-3066-499F-97BE-8094ED607EB5}" type="slidenum">
              <a:rPr kumimoji="1" lang="ja-JP" altLang="en-US" smtClean="0"/>
              <a:t>32</a:t>
            </a:fld>
            <a:endParaRPr kumimoji="1" lang="ja-JP" altLang="en-US"/>
          </a:p>
        </p:txBody>
      </p:sp>
    </p:spTree>
    <p:extLst>
      <p:ext uri="{BB962C8B-B14F-4D97-AF65-F5344CB8AC3E}">
        <p14:creationId xmlns:p14="http://schemas.microsoft.com/office/powerpoint/2010/main" val="3935555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47D0B7-41A9-5378-BB54-5B06ADED6B6F}"/>
              </a:ext>
            </a:extLst>
          </p:cNvPr>
          <p:cNvSpPr>
            <a:spLocks noGrp="1"/>
          </p:cNvSpPr>
          <p:nvPr>
            <p:ph type="title"/>
          </p:nvPr>
        </p:nvSpPr>
        <p:spPr>
          <a:xfrm>
            <a:off x="838200" y="365125"/>
            <a:ext cx="10515600" cy="990709"/>
          </a:xfrm>
        </p:spPr>
        <p:txBody>
          <a:bodyPr/>
          <a:lstStyle/>
          <a:p>
            <a:r>
              <a:rPr kumimoji="1" lang="ja-JP" altLang="en-US" dirty="0"/>
              <a:t>練習のヒント</a:t>
            </a:r>
          </a:p>
        </p:txBody>
      </p:sp>
      <p:pic>
        <p:nvPicPr>
          <p:cNvPr id="4" name="図 3">
            <a:extLst>
              <a:ext uri="{FF2B5EF4-FFF2-40B4-BE49-F238E27FC236}">
                <a16:creationId xmlns:a16="http://schemas.microsoft.com/office/drawing/2014/main" id="{55F023F2-1F27-1F6D-D8C7-E1D6D48E45B1}"/>
              </a:ext>
            </a:extLst>
          </p:cNvPr>
          <p:cNvPicPr>
            <a:picLocks noChangeAspect="1"/>
          </p:cNvPicPr>
          <p:nvPr/>
        </p:nvPicPr>
        <p:blipFill>
          <a:blip r:embed="rId3"/>
          <a:stretch>
            <a:fillRect/>
          </a:stretch>
        </p:blipFill>
        <p:spPr>
          <a:xfrm>
            <a:off x="451944" y="1355834"/>
            <a:ext cx="2312275" cy="1734207"/>
          </a:xfrm>
          <a:prstGeom prst="rect">
            <a:avLst/>
          </a:prstGeom>
        </p:spPr>
      </p:pic>
      <p:pic>
        <p:nvPicPr>
          <p:cNvPr id="7" name="図 6">
            <a:extLst>
              <a:ext uri="{FF2B5EF4-FFF2-40B4-BE49-F238E27FC236}">
                <a16:creationId xmlns:a16="http://schemas.microsoft.com/office/drawing/2014/main" id="{C84B7A4B-2356-F1E6-055D-19C4C6160B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945" y="4080750"/>
            <a:ext cx="2312276" cy="1734207"/>
          </a:xfrm>
          <a:prstGeom prst="rect">
            <a:avLst/>
          </a:prstGeom>
        </p:spPr>
      </p:pic>
      <p:sp>
        <p:nvSpPr>
          <p:cNvPr id="8" name="矢印: 下 7">
            <a:extLst>
              <a:ext uri="{FF2B5EF4-FFF2-40B4-BE49-F238E27FC236}">
                <a16:creationId xmlns:a16="http://schemas.microsoft.com/office/drawing/2014/main" id="{B2CC4893-DC85-B150-C3D9-4A21E0124880}"/>
              </a:ext>
            </a:extLst>
          </p:cNvPr>
          <p:cNvSpPr/>
          <p:nvPr/>
        </p:nvSpPr>
        <p:spPr>
          <a:xfrm>
            <a:off x="1424150" y="3259575"/>
            <a:ext cx="367862" cy="651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F336A11-CE90-410F-3821-59E940BE1AD0}"/>
              </a:ext>
            </a:extLst>
          </p:cNvPr>
          <p:cNvSpPr txBox="1"/>
          <p:nvPr/>
        </p:nvSpPr>
        <p:spPr>
          <a:xfrm>
            <a:off x="1792012" y="3368611"/>
            <a:ext cx="3379078" cy="369332"/>
          </a:xfrm>
          <a:prstGeom prst="rect">
            <a:avLst/>
          </a:prstGeom>
          <a:noFill/>
        </p:spPr>
        <p:txBody>
          <a:bodyPr wrap="square" rtlCol="0">
            <a:spAutoFit/>
          </a:bodyPr>
          <a:lstStyle/>
          <a:p>
            <a:r>
              <a:rPr kumimoji="1" lang="ja-JP" altLang="en-US" b="1" dirty="0"/>
              <a:t>形状を知りたいので色は不要</a:t>
            </a:r>
          </a:p>
        </p:txBody>
      </p:sp>
      <p:pic>
        <p:nvPicPr>
          <p:cNvPr id="11" name="図 10">
            <a:extLst>
              <a:ext uri="{FF2B5EF4-FFF2-40B4-BE49-F238E27FC236}">
                <a16:creationId xmlns:a16="http://schemas.microsoft.com/office/drawing/2014/main" id="{0C24CE47-5AB2-8654-A855-FD1BC5D8E4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4287" y="4078093"/>
            <a:ext cx="2319356" cy="1739517"/>
          </a:xfrm>
          <a:prstGeom prst="rect">
            <a:avLst/>
          </a:prstGeom>
        </p:spPr>
      </p:pic>
      <p:sp>
        <p:nvSpPr>
          <p:cNvPr id="12" name="矢印: 下 11">
            <a:extLst>
              <a:ext uri="{FF2B5EF4-FFF2-40B4-BE49-F238E27FC236}">
                <a16:creationId xmlns:a16="http://schemas.microsoft.com/office/drawing/2014/main" id="{C2596A80-6447-503D-E1CA-56BEABBEF887}"/>
              </a:ext>
            </a:extLst>
          </p:cNvPr>
          <p:cNvSpPr/>
          <p:nvPr/>
        </p:nvSpPr>
        <p:spPr>
          <a:xfrm rot="16200000">
            <a:off x="3250323" y="4622030"/>
            <a:ext cx="367862" cy="651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F49FF0E-214B-8529-45E5-7052E26D8FED}"/>
              </a:ext>
            </a:extLst>
          </p:cNvPr>
          <p:cNvSpPr txBox="1"/>
          <p:nvPr/>
        </p:nvSpPr>
        <p:spPr>
          <a:xfrm>
            <a:off x="1855073" y="5992454"/>
            <a:ext cx="3158361" cy="646331"/>
          </a:xfrm>
          <a:prstGeom prst="rect">
            <a:avLst/>
          </a:prstGeom>
          <a:noFill/>
        </p:spPr>
        <p:txBody>
          <a:bodyPr wrap="square" rtlCol="0">
            <a:spAutoFit/>
          </a:bodyPr>
          <a:lstStyle/>
          <a:p>
            <a:pPr algn="ctr"/>
            <a:r>
              <a:rPr kumimoji="1" lang="ja-JP" altLang="en-US" b="1" dirty="0"/>
              <a:t>白飛びなどのノイズ除去</a:t>
            </a:r>
            <a:endParaRPr kumimoji="1" lang="en-US" altLang="ja-JP" b="1" dirty="0"/>
          </a:p>
          <a:p>
            <a:pPr algn="ctr"/>
            <a:r>
              <a:rPr lang="ja-JP" altLang="en-US" b="1" dirty="0"/>
              <a:t>（ガウシアンフィルタ等）</a:t>
            </a:r>
            <a:endParaRPr kumimoji="1" lang="ja-JP" altLang="en-US" b="1" dirty="0"/>
          </a:p>
        </p:txBody>
      </p:sp>
      <p:pic>
        <p:nvPicPr>
          <p:cNvPr id="15" name="図 14">
            <a:extLst>
              <a:ext uri="{FF2B5EF4-FFF2-40B4-BE49-F238E27FC236}">
                <a16:creationId xmlns:a16="http://schemas.microsoft.com/office/drawing/2014/main" id="{590280C2-832A-B975-0FB0-ED4DF48919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58452" y="4075440"/>
            <a:ext cx="2319356" cy="1739517"/>
          </a:xfrm>
          <a:prstGeom prst="rect">
            <a:avLst/>
          </a:prstGeom>
        </p:spPr>
      </p:pic>
      <p:sp>
        <p:nvSpPr>
          <p:cNvPr id="16" name="矢印: 下 15">
            <a:extLst>
              <a:ext uri="{FF2B5EF4-FFF2-40B4-BE49-F238E27FC236}">
                <a16:creationId xmlns:a16="http://schemas.microsoft.com/office/drawing/2014/main" id="{338A486C-D5C7-9B9D-81E1-040CF3AA4E56}"/>
              </a:ext>
            </a:extLst>
          </p:cNvPr>
          <p:cNvSpPr/>
          <p:nvPr/>
        </p:nvSpPr>
        <p:spPr>
          <a:xfrm rot="16200000">
            <a:off x="6907117" y="4622029"/>
            <a:ext cx="367862" cy="651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98B6282-2A9A-7D21-CB21-50B68365533F}"/>
              </a:ext>
            </a:extLst>
          </p:cNvPr>
          <p:cNvSpPr txBox="1"/>
          <p:nvPr/>
        </p:nvSpPr>
        <p:spPr>
          <a:xfrm>
            <a:off x="6574219" y="5863811"/>
            <a:ext cx="3158361" cy="646331"/>
          </a:xfrm>
          <a:prstGeom prst="rect">
            <a:avLst/>
          </a:prstGeom>
          <a:noFill/>
        </p:spPr>
        <p:txBody>
          <a:bodyPr wrap="square" rtlCol="0">
            <a:spAutoFit/>
          </a:bodyPr>
          <a:lstStyle/>
          <a:p>
            <a:pPr algn="ctr"/>
            <a:r>
              <a:rPr kumimoji="1" lang="ja-JP" altLang="en-US" b="1" dirty="0"/>
              <a:t>コントラスト調整</a:t>
            </a:r>
            <a:endParaRPr kumimoji="1" lang="en-US" altLang="ja-JP" b="1" dirty="0"/>
          </a:p>
          <a:p>
            <a:pPr algn="ctr"/>
            <a:r>
              <a:rPr lang="ja-JP" altLang="en-US" b="1" dirty="0"/>
              <a:t>（</a:t>
            </a:r>
            <a:r>
              <a:rPr lang="en-US" altLang="ja-JP" b="1" dirty="0"/>
              <a:t>lut_contrast.py</a:t>
            </a:r>
            <a:r>
              <a:rPr lang="ja-JP" altLang="en-US" b="1" dirty="0"/>
              <a:t>参照）</a:t>
            </a:r>
            <a:endParaRPr kumimoji="1" lang="en-US" altLang="ja-JP" b="1" dirty="0"/>
          </a:p>
        </p:txBody>
      </p:sp>
      <p:sp>
        <p:nvSpPr>
          <p:cNvPr id="18" name="矢印: 下 17">
            <a:extLst>
              <a:ext uri="{FF2B5EF4-FFF2-40B4-BE49-F238E27FC236}">
                <a16:creationId xmlns:a16="http://schemas.microsoft.com/office/drawing/2014/main" id="{E8DD18F3-EA5E-4AB3-534C-06D392567272}"/>
              </a:ext>
            </a:extLst>
          </p:cNvPr>
          <p:cNvSpPr/>
          <p:nvPr/>
        </p:nvSpPr>
        <p:spPr>
          <a:xfrm rot="10800000">
            <a:off x="8734199" y="3322795"/>
            <a:ext cx="367862" cy="651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DD873333-E9B9-F9D0-B65C-8EBC42C846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47440" y="219216"/>
            <a:ext cx="3951788" cy="2963842"/>
          </a:xfrm>
          <a:prstGeom prst="rect">
            <a:avLst/>
          </a:prstGeom>
        </p:spPr>
      </p:pic>
      <p:sp>
        <p:nvSpPr>
          <p:cNvPr id="21" name="テキスト ボックス 20">
            <a:extLst>
              <a:ext uri="{FF2B5EF4-FFF2-40B4-BE49-F238E27FC236}">
                <a16:creationId xmlns:a16="http://schemas.microsoft.com/office/drawing/2014/main" id="{D744910C-E7A1-BEAA-0FDE-A5EA56E12985}"/>
              </a:ext>
            </a:extLst>
          </p:cNvPr>
          <p:cNvSpPr txBox="1"/>
          <p:nvPr/>
        </p:nvSpPr>
        <p:spPr>
          <a:xfrm>
            <a:off x="9159870" y="3332882"/>
            <a:ext cx="1518747" cy="646331"/>
          </a:xfrm>
          <a:prstGeom prst="rect">
            <a:avLst/>
          </a:prstGeom>
          <a:noFill/>
        </p:spPr>
        <p:txBody>
          <a:bodyPr wrap="square" rtlCol="0">
            <a:spAutoFit/>
          </a:bodyPr>
          <a:lstStyle/>
          <a:p>
            <a:pPr algn="ctr"/>
            <a:r>
              <a:rPr kumimoji="1" lang="ja-JP" altLang="en-US" b="1" dirty="0"/>
              <a:t>エッジ検出</a:t>
            </a:r>
            <a:endParaRPr kumimoji="1" lang="en-US" altLang="ja-JP" b="1" dirty="0"/>
          </a:p>
          <a:p>
            <a:pPr algn="ctr"/>
            <a:r>
              <a:rPr lang="ja-JP" altLang="en-US" b="1" dirty="0"/>
              <a:t>（</a:t>
            </a:r>
            <a:r>
              <a:rPr lang="en-US" altLang="ja-JP" b="1" dirty="0"/>
              <a:t>Sobel</a:t>
            </a:r>
            <a:r>
              <a:rPr lang="ja-JP" altLang="en-US" b="1" dirty="0"/>
              <a:t>等）</a:t>
            </a:r>
            <a:endParaRPr kumimoji="1" lang="en-US" altLang="ja-JP" b="1" dirty="0"/>
          </a:p>
        </p:txBody>
      </p:sp>
      <p:sp>
        <p:nvSpPr>
          <p:cNvPr id="22" name="フッター プレースホルダー 21">
            <a:extLst>
              <a:ext uri="{FF2B5EF4-FFF2-40B4-BE49-F238E27FC236}">
                <a16:creationId xmlns:a16="http://schemas.microsoft.com/office/drawing/2014/main" id="{927BD0B6-6CC4-EE22-A76B-36C33F8125ED}"/>
              </a:ext>
            </a:extLst>
          </p:cNvPr>
          <p:cNvSpPr>
            <a:spLocks noGrp="1"/>
          </p:cNvSpPr>
          <p:nvPr>
            <p:ph type="ftr" sz="quarter" idx="11"/>
          </p:nvPr>
        </p:nvSpPr>
        <p:spPr/>
        <p:txBody>
          <a:bodyPr/>
          <a:lstStyle/>
          <a:p>
            <a:r>
              <a:rPr kumimoji="1" lang="ja-JP" altLang="en-US"/>
              <a:t>ポリテクセンター栃木</a:t>
            </a:r>
          </a:p>
        </p:txBody>
      </p:sp>
      <p:sp>
        <p:nvSpPr>
          <p:cNvPr id="23" name="スライド番号プレースホルダー 22">
            <a:extLst>
              <a:ext uri="{FF2B5EF4-FFF2-40B4-BE49-F238E27FC236}">
                <a16:creationId xmlns:a16="http://schemas.microsoft.com/office/drawing/2014/main" id="{FB11F07F-CC53-41AA-692C-54C8E154EC2F}"/>
              </a:ext>
            </a:extLst>
          </p:cNvPr>
          <p:cNvSpPr>
            <a:spLocks noGrp="1"/>
          </p:cNvSpPr>
          <p:nvPr>
            <p:ph type="sldNum" sz="quarter" idx="12"/>
          </p:nvPr>
        </p:nvSpPr>
        <p:spPr/>
        <p:txBody>
          <a:bodyPr/>
          <a:lstStyle/>
          <a:p>
            <a:fld id="{82EE47C2-3066-499F-97BE-8094ED607EB5}" type="slidenum">
              <a:rPr kumimoji="1" lang="ja-JP" altLang="en-US" smtClean="0"/>
              <a:t>33</a:t>
            </a:fld>
            <a:endParaRPr kumimoji="1" lang="ja-JP" altLang="en-US"/>
          </a:p>
        </p:txBody>
      </p:sp>
    </p:spTree>
    <p:extLst>
      <p:ext uri="{BB962C8B-B14F-4D97-AF65-F5344CB8AC3E}">
        <p14:creationId xmlns:p14="http://schemas.microsoft.com/office/powerpoint/2010/main" val="117262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BFFB43-127F-09A8-9DEF-D4556DD6B820}"/>
              </a:ext>
            </a:extLst>
          </p:cNvPr>
          <p:cNvSpPr>
            <a:spLocks noGrp="1"/>
          </p:cNvSpPr>
          <p:nvPr>
            <p:ph type="title"/>
          </p:nvPr>
        </p:nvSpPr>
        <p:spPr>
          <a:xfrm>
            <a:off x="838200" y="365125"/>
            <a:ext cx="10515600" cy="791013"/>
          </a:xfrm>
        </p:spPr>
        <p:txBody>
          <a:bodyPr/>
          <a:lstStyle/>
          <a:p>
            <a:r>
              <a:rPr kumimoji="1" lang="ja-JP" altLang="en-US" dirty="0"/>
              <a:t>１章　外乱を抑える　まとめ</a:t>
            </a:r>
          </a:p>
        </p:txBody>
      </p:sp>
      <p:sp>
        <p:nvSpPr>
          <p:cNvPr id="3" name="コンテンツ プレースホルダー 2">
            <a:extLst>
              <a:ext uri="{FF2B5EF4-FFF2-40B4-BE49-F238E27FC236}">
                <a16:creationId xmlns:a16="http://schemas.microsoft.com/office/drawing/2014/main" id="{4DDFACA4-A4DF-0D76-018B-1FB170592A51}"/>
              </a:ext>
            </a:extLst>
          </p:cNvPr>
          <p:cNvSpPr>
            <a:spLocks noGrp="1"/>
          </p:cNvSpPr>
          <p:nvPr>
            <p:ph idx="1"/>
          </p:nvPr>
        </p:nvSpPr>
        <p:spPr>
          <a:xfrm>
            <a:off x="838200" y="1156138"/>
            <a:ext cx="10515600" cy="5444359"/>
          </a:xfrm>
        </p:spPr>
        <p:txBody>
          <a:bodyPr>
            <a:normAutofit/>
          </a:bodyPr>
          <a:lstStyle/>
          <a:p>
            <a:r>
              <a:rPr kumimoji="1" lang="ja-JP" altLang="en-US" dirty="0"/>
              <a:t>外乱とは「今回のシステムにとって邪魔なもの」</a:t>
            </a:r>
            <a:endParaRPr kumimoji="1" lang="en-US" altLang="ja-JP" dirty="0"/>
          </a:p>
          <a:p>
            <a:r>
              <a:rPr lang="ja-JP" altLang="en-US" dirty="0"/>
              <a:t>外乱を抑える手法として</a:t>
            </a:r>
            <a:r>
              <a:rPr lang="en-US" altLang="ja-JP" dirty="0"/>
              <a:t>LUT</a:t>
            </a:r>
            <a:r>
              <a:rPr lang="ja-JP" altLang="en-US" dirty="0"/>
              <a:t>を使った画素変換や空間フィルタリングがある</a:t>
            </a:r>
            <a:endParaRPr lang="en-US" altLang="ja-JP" dirty="0"/>
          </a:p>
          <a:p>
            <a:r>
              <a:rPr lang="ja-JP" altLang="en-US" dirty="0"/>
              <a:t>ここは</a:t>
            </a:r>
            <a:r>
              <a:rPr lang="en-US" altLang="ja-JP" dirty="0"/>
              <a:t>AI</a:t>
            </a:r>
            <a:r>
              <a:rPr lang="ja-JP" altLang="en-US" dirty="0"/>
              <a:t>に任せないほうが無難（出力が毎度異なる、厳密な値が保証されない、オーバーシュートしがち、速度が遅い）</a:t>
            </a:r>
            <a:endParaRPr lang="en-US" altLang="ja-JP" dirty="0"/>
          </a:p>
          <a:p>
            <a:endParaRPr lang="en-US" altLang="ja-JP" dirty="0"/>
          </a:p>
          <a:p>
            <a:r>
              <a:rPr lang="ja-JP" altLang="en-US" dirty="0"/>
              <a:t>「最終的に検知したいもの」と「現在の環境で撮れる画像」との差異を縮めるのがココの処理です！</a:t>
            </a:r>
            <a:endParaRPr lang="en-US" altLang="ja-JP" dirty="0"/>
          </a:p>
          <a:p>
            <a:r>
              <a:rPr lang="ja-JP" altLang="en-US" dirty="0"/>
              <a:t>「ゴマノイズが多いから中央値フィルタ」、「照明が弱く画面全体が暗いからガンマ補正」など、理由とセットで処理を覚えるように様々な画像で何度も反復しましょう</a:t>
            </a:r>
            <a:endParaRPr lang="en-US" altLang="ja-JP" dirty="0"/>
          </a:p>
          <a:p>
            <a:endParaRPr lang="en-US" altLang="ja-JP" dirty="0"/>
          </a:p>
        </p:txBody>
      </p:sp>
      <p:sp>
        <p:nvSpPr>
          <p:cNvPr id="4" name="フッター プレースホルダー 3">
            <a:extLst>
              <a:ext uri="{FF2B5EF4-FFF2-40B4-BE49-F238E27FC236}">
                <a16:creationId xmlns:a16="http://schemas.microsoft.com/office/drawing/2014/main" id="{BD9E8C3A-50DE-652B-5339-84F15C638042}"/>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BC5D7BA9-F58E-6CF2-3F30-743CB7F9050D}"/>
              </a:ext>
            </a:extLst>
          </p:cNvPr>
          <p:cNvSpPr>
            <a:spLocks noGrp="1"/>
          </p:cNvSpPr>
          <p:nvPr>
            <p:ph type="sldNum" sz="quarter" idx="12"/>
          </p:nvPr>
        </p:nvSpPr>
        <p:spPr/>
        <p:txBody>
          <a:bodyPr/>
          <a:lstStyle/>
          <a:p>
            <a:fld id="{82EE47C2-3066-499F-97BE-8094ED607EB5}" type="slidenum">
              <a:rPr kumimoji="1" lang="ja-JP" altLang="en-US" smtClean="0"/>
              <a:t>34</a:t>
            </a:fld>
            <a:endParaRPr kumimoji="1" lang="ja-JP" altLang="en-US"/>
          </a:p>
        </p:txBody>
      </p:sp>
    </p:spTree>
    <p:extLst>
      <p:ext uri="{BB962C8B-B14F-4D97-AF65-F5344CB8AC3E}">
        <p14:creationId xmlns:p14="http://schemas.microsoft.com/office/powerpoint/2010/main" val="1343822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ACF104-799F-E781-B8C3-D88EF5F5A453}"/>
              </a:ext>
            </a:extLst>
          </p:cNvPr>
          <p:cNvSpPr>
            <a:spLocks noGrp="1"/>
          </p:cNvSpPr>
          <p:nvPr>
            <p:ph type="title"/>
          </p:nvPr>
        </p:nvSpPr>
        <p:spPr/>
        <p:txBody>
          <a:bodyPr/>
          <a:lstStyle/>
          <a:p>
            <a:r>
              <a:rPr kumimoji="1" lang="ja-JP" altLang="en-US" dirty="0"/>
              <a:t>２章　色による画像処理</a:t>
            </a:r>
          </a:p>
        </p:txBody>
      </p:sp>
      <p:sp>
        <p:nvSpPr>
          <p:cNvPr id="3" name="コンテンツ プレースホルダー 2">
            <a:extLst>
              <a:ext uri="{FF2B5EF4-FFF2-40B4-BE49-F238E27FC236}">
                <a16:creationId xmlns:a16="http://schemas.microsoft.com/office/drawing/2014/main" id="{C37572A9-9C23-57C3-1FC6-BD4EBC97EAFD}"/>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42FAC166-1007-71E0-F145-A8580C6354E1}"/>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BF4B6C19-A3F6-57EF-233B-4DDDA8FAD9C1}"/>
              </a:ext>
            </a:extLst>
          </p:cNvPr>
          <p:cNvSpPr>
            <a:spLocks noGrp="1"/>
          </p:cNvSpPr>
          <p:nvPr>
            <p:ph type="sldNum" sz="quarter" idx="12"/>
          </p:nvPr>
        </p:nvSpPr>
        <p:spPr/>
        <p:txBody>
          <a:bodyPr/>
          <a:lstStyle/>
          <a:p>
            <a:fld id="{82EE47C2-3066-499F-97BE-8094ED607EB5}" type="slidenum">
              <a:rPr kumimoji="1" lang="ja-JP" altLang="en-US" smtClean="0"/>
              <a:t>35</a:t>
            </a:fld>
            <a:endParaRPr kumimoji="1" lang="ja-JP" altLang="en-US"/>
          </a:p>
        </p:txBody>
      </p:sp>
    </p:spTree>
    <p:extLst>
      <p:ext uri="{BB962C8B-B14F-4D97-AF65-F5344CB8AC3E}">
        <p14:creationId xmlns:p14="http://schemas.microsoft.com/office/powerpoint/2010/main" val="815882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lstStyle/>
          <a:p>
            <a:r>
              <a:rPr kumimoji="1" lang="ja-JP" altLang="en-US" b="1" dirty="0"/>
              <a:t>形状による物体認識</a:t>
            </a:r>
          </a:p>
        </p:txBody>
      </p:sp>
      <p:sp>
        <p:nvSpPr>
          <p:cNvPr id="3" name="コンテンツ プレースホルダー 2">
            <a:extLst>
              <a:ext uri="{FF2B5EF4-FFF2-40B4-BE49-F238E27FC236}">
                <a16:creationId xmlns:a16="http://schemas.microsoft.com/office/drawing/2014/main" id="{BB689AEB-0EF2-9D26-F146-A86C6210ADD9}"/>
              </a:ext>
            </a:extLst>
          </p:cNvPr>
          <p:cNvSpPr>
            <a:spLocks noGrp="1"/>
          </p:cNvSpPr>
          <p:nvPr>
            <p:ph idx="1"/>
          </p:nvPr>
        </p:nvSpPr>
        <p:spPr>
          <a:xfrm>
            <a:off x="838199" y="1324304"/>
            <a:ext cx="10765221" cy="4852659"/>
          </a:xfrm>
        </p:spPr>
        <p:txBody>
          <a:bodyPr>
            <a:normAutofit/>
          </a:bodyPr>
          <a:lstStyle/>
          <a:p>
            <a:r>
              <a:rPr kumimoji="1" lang="ja-JP" altLang="en-US" dirty="0"/>
              <a:t>グレースケール画像はカラー画像のおよそ</a:t>
            </a:r>
            <a:r>
              <a:rPr kumimoji="1" lang="en-US" altLang="ja-JP" dirty="0"/>
              <a:t>1/3</a:t>
            </a:r>
            <a:r>
              <a:rPr kumimoji="1" lang="ja-JP" altLang="en-US" dirty="0"/>
              <a:t>の情報量（データ量）です</a:t>
            </a:r>
            <a:endParaRPr kumimoji="1" lang="en-US" altLang="ja-JP" dirty="0"/>
          </a:p>
          <a:p>
            <a:r>
              <a:rPr lang="ja-JP" altLang="en-US" dirty="0"/>
              <a:t>グレースケール画像から得られるデータは「形状」です</a:t>
            </a:r>
            <a:endParaRPr lang="en-US" altLang="ja-JP" dirty="0"/>
          </a:p>
          <a:p>
            <a:r>
              <a:rPr kumimoji="1" lang="ja-JP" altLang="en-US" dirty="0"/>
              <a:t>物体の欠損、傷、面積、周囲長など、色が無関係なデータを検知したい場合には、処理が軽いグレースケールに変換してから画像処理を行うとよいでしょう</a:t>
            </a:r>
            <a:endParaRPr kumimoji="1" lang="en-US" altLang="ja-JP" dirty="0"/>
          </a:p>
          <a:p>
            <a:endParaRPr lang="en-US" altLang="ja-JP" dirty="0"/>
          </a:p>
          <a:p>
            <a:r>
              <a:rPr kumimoji="1" lang="en-US" altLang="ja-JP" dirty="0"/>
              <a:t>24bit</a:t>
            </a:r>
            <a:r>
              <a:rPr kumimoji="1" lang="ja-JP" altLang="en-US" dirty="0"/>
              <a:t>カラー画像から</a:t>
            </a:r>
            <a:r>
              <a:rPr kumimoji="1" lang="en-US" altLang="ja-JP" dirty="0"/>
              <a:t>8bit</a:t>
            </a:r>
            <a:r>
              <a:rPr kumimoji="1" lang="ja-JP" altLang="en-US" dirty="0"/>
              <a:t>グレースケール画像への変換式</a:t>
            </a:r>
            <a:endParaRPr kumimoji="1" lang="en-US" altLang="ja-JP" dirty="0"/>
          </a:p>
          <a:p>
            <a:r>
              <a:rPr lang="en-US" altLang="ja-JP" sz="2800" dirty="0"/>
              <a:t>RGB to Gray:</a:t>
            </a:r>
            <a:r>
              <a:rPr lang="ja-JP" altLang="en-US" sz="2800" dirty="0"/>
              <a:t>　</a:t>
            </a:r>
            <a:r>
              <a:rPr lang="en-US" altLang="ja-JP" sz="2800" dirty="0"/>
              <a:t>Y =</a:t>
            </a:r>
            <a:r>
              <a:rPr lang="ja-JP" altLang="en-US" sz="2800" dirty="0"/>
              <a:t> </a:t>
            </a:r>
            <a:r>
              <a:rPr lang="en-US" altLang="ja-JP" sz="2800" dirty="0"/>
              <a:t>0.299⋅R</a:t>
            </a:r>
            <a:r>
              <a:rPr lang="ja-JP" altLang="en-US" sz="2800" dirty="0"/>
              <a:t> </a:t>
            </a:r>
            <a:r>
              <a:rPr lang="en-US" altLang="ja-JP" sz="2800" dirty="0"/>
              <a:t>+</a:t>
            </a:r>
            <a:r>
              <a:rPr lang="ja-JP" altLang="en-US" sz="2800" dirty="0"/>
              <a:t> </a:t>
            </a:r>
            <a:r>
              <a:rPr lang="en-US" altLang="ja-JP" sz="2800" dirty="0"/>
              <a:t>0.587⋅G</a:t>
            </a:r>
            <a:r>
              <a:rPr lang="ja-JP" altLang="en-US" sz="2800" dirty="0"/>
              <a:t> </a:t>
            </a:r>
            <a:r>
              <a:rPr lang="en-US" altLang="ja-JP" sz="2800" dirty="0"/>
              <a:t>+</a:t>
            </a:r>
            <a:r>
              <a:rPr lang="ja-JP" altLang="en-US" sz="2800" dirty="0"/>
              <a:t> </a:t>
            </a:r>
            <a:r>
              <a:rPr lang="en-US" altLang="ja-JP" sz="2800" dirty="0"/>
              <a:t>0.114⋅B</a:t>
            </a:r>
          </a:p>
          <a:p>
            <a:r>
              <a:rPr kumimoji="1" lang="ja-JP" altLang="en-US" dirty="0"/>
              <a:t>プログラムでは </a:t>
            </a:r>
            <a:r>
              <a:rPr kumimoji="1" lang="en-US" altLang="ja-JP" sz="2800" dirty="0" err="1">
                <a:solidFill>
                  <a:schemeClr val="tx1"/>
                </a:solidFill>
              </a:rPr>
              <a:t>cvtColor</a:t>
            </a:r>
            <a:r>
              <a:rPr kumimoji="1" lang="en-US" altLang="ja-JP" sz="2800" dirty="0">
                <a:solidFill>
                  <a:schemeClr val="tx1"/>
                </a:solidFill>
              </a:rPr>
              <a:t>(</a:t>
            </a:r>
            <a:r>
              <a:rPr kumimoji="1" lang="ja-JP" altLang="en-US" sz="2800" dirty="0">
                <a:solidFill>
                  <a:schemeClr val="tx1"/>
                </a:solidFill>
              </a:rPr>
              <a:t>カラー画像</a:t>
            </a:r>
            <a:r>
              <a:rPr kumimoji="1" lang="en-US" altLang="ja-JP" sz="2800" dirty="0">
                <a:solidFill>
                  <a:schemeClr val="tx1"/>
                </a:solidFill>
              </a:rPr>
              <a:t>,cv2. COLOR_BGR2GRAY)</a:t>
            </a:r>
            <a:endParaRPr kumimoji="1" lang="ja-JP" altLang="en-US" dirty="0"/>
          </a:p>
        </p:txBody>
      </p:sp>
      <p:sp>
        <p:nvSpPr>
          <p:cNvPr id="4" name="フッター プレースホルダー 3">
            <a:extLst>
              <a:ext uri="{FF2B5EF4-FFF2-40B4-BE49-F238E27FC236}">
                <a16:creationId xmlns:a16="http://schemas.microsoft.com/office/drawing/2014/main" id="{7BCB2036-CF46-862D-36E9-60128F492FAC}"/>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859310D6-4D32-E422-9A3B-80F48ABDABB7}"/>
              </a:ext>
            </a:extLst>
          </p:cNvPr>
          <p:cNvSpPr>
            <a:spLocks noGrp="1"/>
          </p:cNvSpPr>
          <p:nvPr>
            <p:ph type="sldNum" sz="quarter" idx="12"/>
          </p:nvPr>
        </p:nvSpPr>
        <p:spPr/>
        <p:txBody>
          <a:bodyPr/>
          <a:lstStyle/>
          <a:p>
            <a:fld id="{82EE47C2-3066-499F-97BE-8094ED607EB5}" type="slidenum">
              <a:rPr kumimoji="1" lang="ja-JP" altLang="en-US" smtClean="0"/>
              <a:t>36</a:t>
            </a:fld>
            <a:endParaRPr kumimoji="1" lang="ja-JP" altLang="en-US"/>
          </a:p>
        </p:txBody>
      </p:sp>
    </p:spTree>
    <p:extLst>
      <p:ext uri="{BB962C8B-B14F-4D97-AF65-F5344CB8AC3E}">
        <p14:creationId xmlns:p14="http://schemas.microsoft.com/office/powerpoint/2010/main" val="2280482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lstStyle/>
          <a:p>
            <a:r>
              <a:rPr lang="ja-JP" altLang="en-US" b="1" dirty="0"/>
              <a:t>色</a:t>
            </a:r>
            <a:r>
              <a:rPr kumimoji="1" lang="ja-JP" altLang="en-US" b="1" dirty="0"/>
              <a:t>による物体認識 </a:t>
            </a:r>
            <a:r>
              <a:rPr kumimoji="1" lang="en-US" altLang="ja-JP" b="1" dirty="0"/>
              <a:t>RGB</a:t>
            </a:r>
            <a:r>
              <a:rPr kumimoji="1" lang="ja-JP" altLang="en-US" b="1" dirty="0"/>
              <a:t>の問題点</a:t>
            </a:r>
          </a:p>
        </p:txBody>
      </p:sp>
      <p:sp>
        <p:nvSpPr>
          <p:cNvPr id="3" name="コンテンツ プレースホルダー 2">
            <a:extLst>
              <a:ext uri="{FF2B5EF4-FFF2-40B4-BE49-F238E27FC236}">
                <a16:creationId xmlns:a16="http://schemas.microsoft.com/office/drawing/2014/main" id="{BB689AEB-0EF2-9D26-F146-A86C6210ADD9}"/>
              </a:ext>
            </a:extLst>
          </p:cNvPr>
          <p:cNvSpPr>
            <a:spLocks noGrp="1"/>
          </p:cNvSpPr>
          <p:nvPr>
            <p:ph idx="1"/>
          </p:nvPr>
        </p:nvSpPr>
        <p:spPr>
          <a:xfrm>
            <a:off x="838199" y="1324304"/>
            <a:ext cx="10765221" cy="5273073"/>
          </a:xfrm>
        </p:spPr>
        <p:txBody>
          <a:bodyPr>
            <a:normAutofit lnSpcReduction="10000"/>
          </a:bodyPr>
          <a:lstStyle/>
          <a:p>
            <a:r>
              <a:rPr kumimoji="1" lang="ja-JP" altLang="en-US" dirty="0"/>
              <a:t>カラー画像は各</a:t>
            </a:r>
            <a:r>
              <a:rPr kumimoji="1" lang="en-US" altLang="ja-JP" dirty="0"/>
              <a:t>pixel</a:t>
            </a:r>
            <a:r>
              <a:rPr kumimoji="1" lang="ja-JP" altLang="en-US" dirty="0"/>
              <a:t>に赤・緑・青がそれぞれ</a:t>
            </a:r>
            <a:r>
              <a:rPr kumimoji="1" lang="en-US" altLang="ja-JP" dirty="0"/>
              <a:t>8bit</a:t>
            </a:r>
            <a:r>
              <a:rPr lang="ja-JP" altLang="en-US" dirty="0"/>
              <a:t>定義されます</a:t>
            </a:r>
            <a:endParaRPr lang="en-US" altLang="ja-JP" dirty="0"/>
          </a:p>
          <a:p>
            <a:pPr marL="0" indent="0">
              <a:buNone/>
            </a:pPr>
            <a:r>
              <a:rPr kumimoji="1" lang="ja-JP" altLang="en-US" dirty="0"/>
              <a:t>（例えば</a:t>
            </a:r>
            <a:r>
              <a:rPr kumimoji="1" lang="en-US" altLang="ja-JP" dirty="0"/>
              <a:t>(R, G, B) = (255, 0, 0)</a:t>
            </a:r>
            <a:r>
              <a:rPr kumimoji="1" lang="ja-JP" altLang="en-US" dirty="0"/>
              <a:t>なら真っ赤な</a:t>
            </a:r>
            <a:r>
              <a:rPr kumimoji="1" lang="en-US" altLang="ja-JP" dirty="0"/>
              <a:t>pixel</a:t>
            </a:r>
            <a:r>
              <a:rPr kumimoji="1" lang="ja-JP" altLang="en-US" dirty="0"/>
              <a:t>）</a:t>
            </a:r>
            <a:endParaRPr kumimoji="1" lang="en-US" altLang="ja-JP" dirty="0"/>
          </a:p>
          <a:p>
            <a:pPr marL="0" indent="0">
              <a:buNone/>
            </a:pPr>
            <a:endParaRPr kumimoji="1" lang="en-US" altLang="ja-JP" dirty="0"/>
          </a:p>
          <a:p>
            <a:pPr marL="0" indent="0">
              <a:buNone/>
            </a:pPr>
            <a:endParaRPr kumimoji="1" lang="en-US" altLang="ja-JP" dirty="0"/>
          </a:p>
          <a:p>
            <a:r>
              <a:rPr kumimoji="1" lang="ja-JP" altLang="en-US" dirty="0"/>
              <a:t>表示するには（モニターにあるカラーフィルタが</a:t>
            </a:r>
            <a:r>
              <a:rPr kumimoji="1" lang="en-US" altLang="ja-JP" dirty="0"/>
              <a:t>RGB</a:t>
            </a:r>
            <a:r>
              <a:rPr kumimoji="1" lang="ja-JP" altLang="en-US" dirty="0"/>
              <a:t>なので）</a:t>
            </a:r>
            <a:r>
              <a:rPr kumimoji="1" lang="en-US" altLang="ja-JP" dirty="0"/>
              <a:t>RGB</a:t>
            </a:r>
            <a:r>
              <a:rPr kumimoji="1" lang="ja-JP" altLang="en-US" dirty="0"/>
              <a:t>が適切でも、画像処理では</a:t>
            </a:r>
            <a:r>
              <a:rPr kumimoji="1" lang="en-US" altLang="ja-JP" dirty="0"/>
              <a:t>RGB</a:t>
            </a:r>
            <a:r>
              <a:rPr kumimoji="1" lang="ja-JP" altLang="en-US" dirty="0"/>
              <a:t>が非常に扱いづらい！</a:t>
            </a:r>
            <a:endParaRPr kumimoji="1" lang="en-US" altLang="ja-JP" dirty="0"/>
          </a:p>
          <a:p>
            <a:pPr marL="0" indent="0">
              <a:buNone/>
            </a:pPr>
            <a:r>
              <a:rPr lang="ja-JP" altLang="en-US" dirty="0"/>
              <a:t>赤系の色を抽出するときに </a:t>
            </a:r>
            <a:r>
              <a:rPr kumimoji="1" lang="en-US" altLang="ja-JP" dirty="0"/>
              <a:t>(R, G, B) = (255, 0, 0) </a:t>
            </a:r>
            <a:r>
              <a:rPr kumimoji="1" lang="ja-JP" altLang="en-US" dirty="0"/>
              <a:t>はいいとして、</a:t>
            </a:r>
            <a:endParaRPr kumimoji="1" lang="en-US" altLang="ja-JP" dirty="0"/>
          </a:p>
          <a:p>
            <a:pPr marL="0" indent="0">
              <a:buNone/>
            </a:pPr>
            <a:r>
              <a:rPr lang="ja-JP" altLang="en-US" dirty="0"/>
              <a:t>ピンク </a:t>
            </a:r>
            <a:r>
              <a:rPr lang="en-US" altLang="ja-JP" dirty="0"/>
              <a:t>= (249, 115, 233)</a:t>
            </a:r>
            <a:r>
              <a:rPr lang="ja-JP" altLang="en-US" dirty="0"/>
              <a:t>とか赤茶色 </a:t>
            </a:r>
            <a:r>
              <a:rPr lang="en-US" altLang="ja-JP" dirty="0"/>
              <a:t>= (115, 37, 57)</a:t>
            </a:r>
            <a:r>
              <a:rPr lang="ja-JP" altLang="en-US" dirty="0"/>
              <a:t>とか</a:t>
            </a:r>
            <a:r>
              <a:rPr lang="en-US" altLang="ja-JP" dirty="0"/>
              <a:t>…</a:t>
            </a:r>
          </a:p>
          <a:p>
            <a:pPr marL="0" indent="0">
              <a:buNone/>
            </a:pPr>
            <a:endParaRPr lang="en-US" altLang="ja-JP" dirty="0"/>
          </a:p>
          <a:p>
            <a:pPr marL="0" indent="0">
              <a:buNone/>
            </a:pPr>
            <a:endParaRPr lang="en-US" altLang="ja-JP" dirty="0"/>
          </a:p>
          <a:p>
            <a:pPr marL="0" indent="0">
              <a:buNone/>
            </a:pPr>
            <a:r>
              <a:rPr lang="ja-JP" altLang="en-US" dirty="0"/>
              <a:t>　　　　　　　　暗い赤色 </a:t>
            </a:r>
            <a:r>
              <a:rPr lang="en-US" altLang="ja-JP" dirty="0"/>
              <a:t>= (214, 36, 36)</a:t>
            </a:r>
            <a:r>
              <a:rPr lang="ja-JP" altLang="en-US" dirty="0"/>
              <a:t>　　　とか無理。</a:t>
            </a:r>
            <a:endParaRPr lang="en-US" altLang="ja-JP" dirty="0"/>
          </a:p>
          <a:p>
            <a:pPr marL="0" indent="0">
              <a:buNone/>
            </a:pPr>
            <a:endParaRPr lang="en-US" altLang="ja-JP" dirty="0"/>
          </a:p>
        </p:txBody>
      </p:sp>
      <p:sp>
        <p:nvSpPr>
          <p:cNvPr id="4" name="正方形/長方形 3">
            <a:extLst>
              <a:ext uri="{FF2B5EF4-FFF2-40B4-BE49-F238E27FC236}">
                <a16:creationId xmlns:a16="http://schemas.microsoft.com/office/drawing/2014/main" id="{6AC572CB-02F4-FCEB-AE01-F9C4F8FD5A71}"/>
              </a:ext>
            </a:extLst>
          </p:cNvPr>
          <p:cNvSpPr/>
          <p:nvPr/>
        </p:nvSpPr>
        <p:spPr>
          <a:xfrm>
            <a:off x="6563710" y="4829503"/>
            <a:ext cx="698938" cy="686019"/>
          </a:xfrm>
          <a:prstGeom prst="rect">
            <a:avLst/>
          </a:prstGeom>
          <a:solidFill>
            <a:srgbClr val="7325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E34D7076-FD58-9109-B368-4FA4658565F0}"/>
              </a:ext>
            </a:extLst>
          </p:cNvPr>
          <p:cNvSpPr/>
          <p:nvPr/>
        </p:nvSpPr>
        <p:spPr>
          <a:xfrm>
            <a:off x="1886606" y="4829503"/>
            <a:ext cx="698938" cy="686019"/>
          </a:xfrm>
          <a:prstGeom prst="rect">
            <a:avLst/>
          </a:prstGeom>
          <a:solidFill>
            <a:srgbClr val="F973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99E1EB-B7A8-85F1-3E4C-4D8310F8A707}"/>
              </a:ext>
            </a:extLst>
          </p:cNvPr>
          <p:cNvSpPr/>
          <p:nvPr/>
        </p:nvSpPr>
        <p:spPr>
          <a:xfrm>
            <a:off x="8995540" y="1863068"/>
            <a:ext cx="914400" cy="840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24A59AF8-365B-38B7-97DD-5998123A4965}"/>
              </a:ext>
            </a:extLst>
          </p:cNvPr>
          <p:cNvSpPr/>
          <p:nvPr/>
        </p:nvSpPr>
        <p:spPr>
          <a:xfrm>
            <a:off x="7777480" y="5515522"/>
            <a:ext cx="914400" cy="840828"/>
          </a:xfrm>
          <a:prstGeom prst="rect">
            <a:avLst/>
          </a:prstGeom>
          <a:solidFill>
            <a:srgbClr val="D624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ッター プレースホルダー 7">
            <a:extLst>
              <a:ext uri="{FF2B5EF4-FFF2-40B4-BE49-F238E27FC236}">
                <a16:creationId xmlns:a16="http://schemas.microsoft.com/office/drawing/2014/main" id="{E8DB8569-2CF7-AE25-8C9E-09696869B982}"/>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5CAD8063-A61E-7F4D-1F60-1177CEAE323C}"/>
              </a:ext>
            </a:extLst>
          </p:cNvPr>
          <p:cNvSpPr>
            <a:spLocks noGrp="1"/>
          </p:cNvSpPr>
          <p:nvPr>
            <p:ph type="sldNum" sz="quarter" idx="12"/>
          </p:nvPr>
        </p:nvSpPr>
        <p:spPr/>
        <p:txBody>
          <a:bodyPr/>
          <a:lstStyle/>
          <a:p>
            <a:fld id="{82EE47C2-3066-499F-97BE-8094ED607EB5}" type="slidenum">
              <a:rPr kumimoji="1" lang="ja-JP" altLang="en-US" smtClean="0"/>
              <a:t>37</a:t>
            </a:fld>
            <a:endParaRPr kumimoji="1" lang="ja-JP" altLang="en-US"/>
          </a:p>
        </p:txBody>
      </p:sp>
    </p:spTree>
    <p:extLst>
      <p:ext uri="{BB962C8B-B14F-4D97-AF65-F5344CB8AC3E}">
        <p14:creationId xmlns:p14="http://schemas.microsoft.com/office/powerpoint/2010/main" val="1930363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画像処理のための色の定義　</a:t>
            </a:r>
            <a:r>
              <a:rPr lang="en-US" altLang="ja-JP" b="1" dirty="0"/>
              <a:t>HSV</a:t>
            </a:r>
            <a:r>
              <a:rPr lang="ja-JP" altLang="en-US" b="1" dirty="0"/>
              <a:t>色空間</a:t>
            </a:r>
            <a:endParaRPr kumimoji="1" lang="ja-JP" altLang="en-US" b="1" dirty="0"/>
          </a:p>
        </p:txBody>
      </p:sp>
      <p:sp>
        <p:nvSpPr>
          <p:cNvPr id="3" name="コンテンツ プレースホルダー 2">
            <a:extLst>
              <a:ext uri="{FF2B5EF4-FFF2-40B4-BE49-F238E27FC236}">
                <a16:creationId xmlns:a16="http://schemas.microsoft.com/office/drawing/2014/main" id="{BB689AEB-0EF2-9D26-F146-A86C6210ADD9}"/>
              </a:ext>
            </a:extLst>
          </p:cNvPr>
          <p:cNvSpPr>
            <a:spLocks noGrp="1"/>
          </p:cNvSpPr>
          <p:nvPr>
            <p:ph idx="1"/>
          </p:nvPr>
        </p:nvSpPr>
        <p:spPr>
          <a:xfrm>
            <a:off x="838199" y="1324304"/>
            <a:ext cx="5751787" cy="4852659"/>
          </a:xfrm>
        </p:spPr>
        <p:txBody>
          <a:bodyPr>
            <a:normAutofit/>
          </a:bodyPr>
          <a:lstStyle/>
          <a:p>
            <a:r>
              <a:rPr kumimoji="1" lang="en-US" altLang="ja-JP" dirty="0"/>
              <a:t>HSV</a:t>
            </a:r>
            <a:r>
              <a:rPr kumimoji="1" lang="ja-JP" altLang="en-US" dirty="0"/>
              <a:t>色空間では</a:t>
            </a:r>
            <a:r>
              <a:rPr kumimoji="1" lang="en-US" altLang="ja-JP" dirty="0"/>
              <a:t>H</a:t>
            </a:r>
            <a:r>
              <a:rPr lang="en-US" altLang="ja-JP" dirty="0"/>
              <a:t>(</a:t>
            </a:r>
            <a:r>
              <a:rPr lang="ja-JP" altLang="en-US" dirty="0"/>
              <a:t>色相</a:t>
            </a:r>
            <a:r>
              <a:rPr lang="en-US" altLang="ja-JP" dirty="0"/>
              <a:t>)</a:t>
            </a:r>
            <a:r>
              <a:rPr kumimoji="1" lang="ja-JP" altLang="en-US" dirty="0"/>
              <a:t>、</a:t>
            </a:r>
            <a:r>
              <a:rPr kumimoji="1" lang="en-US" altLang="ja-JP" dirty="0"/>
              <a:t>S(</a:t>
            </a:r>
            <a:r>
              <a:rPr lang="ja-JP" altLang="en-US" dirty="0"/>
              <a:t>彩度</a:t>
            </a:r>
            <a:r>
              <a:rPr kumimoji="1" lang="en-US" altLang="ja-JP" dirty="0"/>
              <a:t>)</a:t>
            </a:r>
            <a:r>
              <a:rPr kumimoji="1" lang="ja-JP" altLang="en-US" dirty="0"/>
              <a:t>、</a:t>
            </a:r>
            <a:r>
              <a:rPr kumimoji="1" lang="en-US" altLang="ja-JP" dirty="0"/>
              <a:t>V(</a:t>
            </a:r>
            <a:r>
              <a:rPr kumimoji="1" lang="ja-JP" altLang="en-US" dirty="0"/>
              <a:t>明度</a:t>
            </a:r>
            <a:r>
              <a:rPr kumimoji="1" lang="en-US" altLang="ja-JP" dirty="0"/>
              <a:t>)</a:t>
            </a:r>
            <a:r>
              <a:rPr kumimoji="1" lang="ja-JP" altLang="en-US" dirty="0"/>
              <a:t>で色を表現！</a:t>
            </a:r>
            <a:endParaRPr kumimoji="1" lang="en-US" altLang="ja-JP" dirty="0"/>
          </a:p>
          <a:p>
            <a:r>
              <a:rPr lang="ja-JP" altLang="en-US" dirty="0"/>
              <a:t>赤系だけを抽出するなら</a:t>
            </a:r>
            <a:endParaRPr lang="en-US" altLang="ja-JP" dirty="0"/>
          </a:p>
          <a:p>
            <a:pPr marL="0" indent="0">
              <a:buNone/>
            </a:pPr>
            <a:r>
              <a:rPr lang="ja-JP" altLang="en-US" dirty="0"/>
              <a:t>　</a:t>
            </a:r>
            <a:r>
              <a:rPr lang="en-US" altLang="ja-JP" dirty="0"/>
              <a:t>H </a:t>
            </a:r>
            <a:r>
              <a:rPr lang="ja-JP" altLang="en-US" dirty="0"/>
              <a:t>が </a:t>
            </a:r>
            <a:r>
              <a:rPr lang="en-US" altLang="ja-JP" dirty="0"/>
              <a:t>0°</a:t>
            </a:r>
            <a:r>
              <a:rPr lang="ja-JP" altLang="en-US" dirty="0"/>
              <a:t>～</a:t>
            </a:r>
            <a:r>
              <a:rPr lang="en-US" altLang="ja-JP" dirty="0"/>
              <a:t>20°</a:t>
            </a:r>
            <a:r>
              <a:rPr lang="ja-JP" altLang="en-US" dirty="0"/>
              <a:t>、</a:t>
            </a:r>
            <a:r>
              <a:rPr lang="en-US" altLang="ja-JP" dirty="0"/>
              <a:t>340°</a:t>
            </a:r>
            <a:r>
              <a:rPr lang="ja-JP" altLang="en-US" dirty="0"/>
              <a:t>～</a:t>
            </a:r>
            <a:r>
              <a:rPr lang="en-US" altLang="ja-JP" dirty="0"/>
              <a:t>360°</a:t>
            </a:r>
          </a:p>
          <a:p>
            <a:pPr marL="0" indent="0">
              <a:buNone/>
            </a:pPr>
            <a:r>
              <a:rPr lang="ja-JP" altLang="en-US" dirty="0"/>
              <a:t>　</a:t>
            </a:r>
            <a:r>
              <a:rPr lang="en-US" altLang="ja-JP" dirty="0"/>
              <a:t>S</a:t>
            </a:r>
            <a:r>
              <a:rPr lang="ja-JP" altLang="en-US" dirty="0"/>
              <a:t>は</a:t>
            </a:r>
            <a:r>
              <a:rPr lang="en-US" altLang="ja-JP" dirty="0"/>
              <a:t>100</a:t>
            </a:r>
            <a:r>
              <a:rPr lang="ja-JP" altLang="en-US" dirty="0"/>
              <a:t>～</a:t>
            </a:r>
            <a:r>
              <a:rPr lang="en-US" altLang="ja-JP" dirty="0"/>
              <a:t>255</a:t>
            </a:r>
          </a:p>
          <a:p>
            <a:pPr marL="0" indent="0">
              <a:buNone/>
            </a:pPr>
            <a:r>
              <a:rPr lang="ja-JP" altLang="en-US" dirty="0"/>
              <a:t>　</a:t>
            </a:r>
            <a:r>
              <a:rPr lang="en-US" altLang="ja-JP" dirty="0"/>
              <a:t>V</a:t>
            </a:r>
            <a:r>
              <a:rPr lang="ja-JP" altLang="en-US" dirty="0"/>
              <a:t>は</a:t>
            </a:r>
            <a:r>
              <a:rPr lang="en-US" altLang="ja-JP" dirty="0"/>
              <a:t>100</a:t>
            </a:r>
            <a:r>
              <a:rPr lang="ja-JP" altLang="en-US" dirty="0"/>
              <a:t>～</a:t>
            </a:r>
            <a:r>
              <a:rPr lang="en-US" altLang="ja-JP" dirty="0"/>
              <a:t>255</a:t>
            </a:r>
          </a:p>
          <a:p>
            <a:pPr marL="0" indent="0">
              <a:buNone/>
            </a:pPr>
            <a:r>
              <a:rPr lang="ja-JP" altLang="en-US" dirty="0"/>
              <a:t>（</a:t>
            </a:r>
            <a:r>
              <a:rPr lang="en-US" altLang="ja-JP" dirty="0"/>
              <a:t>S,V 100</a:t>
            </a:r>
            <a:r>
              <a:rPr lang="ja-JP" altLang="en-US" dirty="0"/>
              <a:t>以下はほぼ白・灰・黒の無彩色）</a:t>
            </a:r>
            <a:endParaRPr lang="en-US" altLang="ja-JP" dirty="0"/>
          </a:p>
          <a:p>
            <a:pPr marL="0" indent="0">
              <a:buNone/>
            </a:pPr>
            <a:endParaRPr lang="en-US" altLang="ja-JP" dirty="0"/>
          </a:p>
        </p:txBody>
      </p:sp>
      <p:pic>
        <p:nvPicPr>
          <p:cNvPr id="1026" name="Picture 2" descr="外観検査のための】HSV色空間による画像処理と色抽出│Vol.91｜YouTube動画｜セブンシックス株式会社｜sevensix -think  next-">
            <a:extLst>
              <a:ext uri="{FF2B5EF4-FFF2-40B4-BE49-F238E27FC236}">
                <a16:creationId xmlns:a16="http://schemas.microsoft.com/office/drawing/2014/main" id="{FE291930-205F-1BBC-D094-C5EC19489B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53" t="26770" r="25304" b="24657"/>
          <a:stretch/>
        </p:blipFill>
        <p:spPr bwMode="auto">
          <a:xfrm>
            <a:off x="6589986" y="2212537"/>
            <a:ext cx="5487162" cy="3079532"/>
          </a:xfrm>
          <a:prstGeom prst="rect">
            <a:avLst/>
          </a:prstGeom>
          <a:noFill/>
          <a:extLst>
            <a:ext uri="{909E8E84-426E-40DD-AFC4-6F175D3DCCD1}">
              <a14:hiddenFill xmlns:a14="http://schemas.microsoft.com/office/drawing/2010/main">
                <a:solidFill>
                  <a:srgbClr val="FFFFFF"/>
                </a:solidFill>
              </a14:hiddenFill>
            </a:ext>
          </a:extLst>
        </p:spPr>
      </p:pic>
      <p:sp>
        <p:nvSpPr>
          <p:cNvPr id="8" name="フッター プレースホルダー 7">
            <a:extLst>
              <a:ext uri="{FF2B5EF4-FFF2-40B4-BE49-F238E27FC236}">
                <a16:creationId xmlns:a16="http://schemas.microsoft.com/office/drawing/2014/main" id="{06A5C3E2-2F40-E2F9-B6D0-FB9FEB3E15D8}"/>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ABD10C95-9D7E-1816-AEB0-89C11D68E567}"/>
              </a:ext>
            </a:extLst>
          </p:cNvPr>
          <p:cNvSpPr>
            <a:spLocks noGrp="1"/>
          </p:cNvSpPr>
          <p:nvPr>
            <p:ph type="sldNum" sz="quarter" idx="12"/>
          </p:nvPr>
        </p:nvSpPr>
        <p:spPr/>
        <p:txBody>
          <a:bodyPr/>
          <a:lstStyle/>
          <a:p>
            <a:fld id="{82EE47C2-3066-499F-97BE-8094ED607EB5}" type="slidenum">
              <a:rPr kumimoji="1" lang="ja-JP" altLang="en-US" smtClean="0"/>
              <a:t>38</a:t>
            </a:fld>
            <a:endParaRPr kumimoji="1" lang="ja-JP" altLang="en-US"/>
          </a:p>
        </p:txBody>
      </p:sp>
    </p:spTree>
    <p:extLst>
      <p:ext uri="{BB962C8B-B14F-4D97-AF65-F5344CB8AC3E}">
        <p14:creationId xmlns:p14="http://schemas.microsoft.com/office/powerpoint/2010/main" val="3091918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en-US" altLang="ja-JP" b="1" dirty="0"/>
              <a:t>OpenCV</a:t>
            </a:r>
            <a:r>
              <a:rPr lang="ja-JP" altLang="en-US" b="1" dirty="0"/>
              <a:t>で</a:t>
            </a:r>
            <a:r>
              <a:rPr lang="en-US" altLang="ja-JP" b="1" dirty="0"/>
              <a:t>HSV</a:t>
            </a:r>
            <a:r>
              <a:rPr lang="ja-JP" altLang="en-US" b="1" dirty="0"/>
              <a:t>空間を扱う</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en-US" altLang="ja-JP" b="0" dirty="0">
                <a:solidFill>
                  <a:srgbClr val="000000"/>
                </a:solidFill>
                <a:effectLst/>
                <a:latin typeface="Consolas" panose="020B0609020204030204" pitchFamily="49" charset="0"/>
              </a:rPr>
              <a:t>RGB</a:t>
            </a:r>
            <a:r>
              <a:rPr lang="ja-JP" altLang="en-US" b="0" dirty="0">
                <a:solidFill>
                  <a:srgbClr val="000000"/>
                </a:solidFill>
                <a:effectLst/>
                <a:latin typeface="Consolas" panose="020B0609020204030204" pitchFamily="49" charset="0"/>
              </a:rPr>
              <a:t>から</a:t>
            </a:r>
            <a:r>
              <a:rPr lang="en-US" altLang="ja-JP" dirty="0">
                <a:solidFill>
                  <a:srgbClr val="000000"/>
                </a:solidFill>
                <a:latin typeface="Consolas" panose="020B0609020204030204" pitchFamily="49" charset="0"/>
              </a:rPr>
              <a:t>HSV</a:t>
            </a:r>
            <a:r>
              <a:rPr lang="ja-JP" altLang="en-US" dirty="0">
                <a:solidFill>
                  <a:srgbClr val="000000"/>
                </a:solidFill>
                <a:latin typeface="Consolas" panose="020B0609020204030204" pitchFamily="49" charset="0"/>
              </a:rPr>
              <a:t>に変換するには下記の構文</a:t>
            </a:r>
            <a:endParaRPr lang="en-US" altLang="ja-JP" b="0" dirty="0">
              <a:solidFill>
                <a:srgbClr val="000000"/>
              </a:solidFill>
              <a:effectLst/>
              <a:latin typeface="Consolas" panose="020B0609020204030204" pitchFamily="49" charset="0"/>
            </a:endParaRPr>
          </a:p>
          <a:p>
            <a:pPr marL="0" indent="0" algn="ctr">
              <a:buNone/>
            </a:pPr>
            <a:r>
              <a:rPr lang="en-US" altLang="ja-JP" b="0" dirty="0">
                <a:solidFill>
                  <a:srgbClr val="000000"/>
                </a:solidFill>
                <a:effectLst/>
                <a:latin typeface="Consolas" panose="020B0609020204030204" pitchFamily="49" charset="0"/>
              </a:rPr>
              <a:t>cv2.cvtColor(</a:t>
            </a:r>
            <a:r>
              <a:rPr lang="en-US" altLang="ja-JP" b="0" dirty="0" err="1">
                <a:solidFill>
                  <a:srgbClr val="000000"/>
                </a:solidFill>
                <a:effectLst/>
                <a:latin typeface="Consolas" panose="020B0609020204030204" pitchFamily="49" charset="0"/>
              </a:rPr>
              <a:t>img_src</a:t>
            </a:r>
            <a:r>
              <a:rPr lang="en-US" altLang="ja-JP" b="0" dirty="0">
                <a:solidFill>
                  <a:srgbClr val="000000"/>
                </a:solidFill>
                <a:effectLst/>
                <a:latin typeface="Consolas" panose="020B0609020204030204" pitchFamily="49" charset="0"/>
              </a:rPr>
              <a:t>, cv2.COLOR_BGR2HSV)</a:t>
            </a:r>
          </a:p>
          <a:p>
            <a:pPr marL="0" indent="0" algn="ctr">
              <a:buNone/>
            </a:pPr>
            <a:endParaRPr lang="en-US" altLang="ja-JP" b="0" dirty="0">
              <a:solidFill>
                <a:srgbClr val="000000"/>
              </a:solidFill>
              <a:effectLst/>
              <a:latin typeface="Consolas" panose="020B0609020204030204" pitchFamily="49" charset="0"/>
            </a:endParaRPr>
          </a:p>
          <a:p>
            <a:r>
              <a:rPr lang="ja-JP" altLang="en-US" dirty="0"/>
              <a:t>特定の範囲のみの色を抽出するには以下の構文</a:t>
            </a:r>
            <a:endParaRPr lang="en-US" altLang="ja-JP" dirty="0"/>
          </a:p>
          <a:p>
            <a:pPr marL="0" indent="0">
              <a:buNone/>
            </a:pPr>
            <a:r>
              <a:rPr lang="en-US" altLang="ja-JP" b="0" dirty="0" err="1">
                <a:solidFill>
                  <a:srgbClr val="000000"/>
                </a:solidFill>
                <a:effectLst/>
                <a:latin typeface="Consolas" panose="020B0609020204030204" pitchFamily="49" charset="0"/>
              </a:rPr>
              <a:t>hsvLower</a:t>
            </a:r>
            <a:r>
              <a:rPr lang="en-US" altLang="ja-JP" b="0" dirty="0">
                <a:solidFill>
                  <a:srgbClr val="000000"/>
                </a:solidFill>
                <a:effectLst/>
                <a:latin typeface="Consolas" panose="020B0609020204030204" pitchFamily="49" charset="0"/>
              </a:rPr>
              <a:t> = </a:t>
            </a:r>
            <a:r>
              <a:rPr lang="en-US" altLang="ja-JP" b="0" dirty="0" err="1">
                <a:solidFill>
                  <a:srgbClr val="000000"/>
                </a:solidFill>
                <a:effectLst/>
                <a:latin typeface="Consolas" panose="020B0609020204030204" pitchFamily="49" charset="0"/>
              </a:rPr>
              <a:t>np.array</a:t>
            </a:r>
            <a:r>
              <a:rPr lang="en-US" altLang="ja-JP" b="0" dirty="0">
                <a:solidFill>
                  <a:srgbClr val="000000"/>
                </a:solidFill>
                <a:effectLst/>
                <a:latin typeface="Consolas" panose="020B0609020204030204" pitchFamily="49" charset="0"/>
              </a:rPr>
              <a:t>([</a:t>
            </a:r>
            <a:r>
              <a:rPr lang="en-US" altLang="ja-JP" b="0" dirty="0">
                <a:solidFill>
                  <a:srgbClr val="098658"/>
                </a:solidFill>
                <a:effectLst/>
                <a:latin typeface="Consolas" panose="020B0609020204030204" pitchFamily="49" charset="0"/>
              </a:rPr>
              <a:t>10</a:t>
            </a:r>
            <a:r>
              <a:rPr lang="en-US" altLang="ja-JP" b="0" dirty="0">
                <a:solidFill>
                  <a:srgbClr val="000000"/>
                </a:solidFill>
                <a:effectLst/>
                <a:latin typeface="Consolas" panose="020B0609020204030204" pitchFamily="49" charset="0"/>
              </a:rPr>
              <a:t>, </a:t>
            </a:r>
            <a:r>
              <a:rPr lang="en-US" altLang="ja-JP" b="0" dirty="0">
                <a:solidFill>
                  <a:srgbClr val="098658"/>
                </a:solidFill>
                <a:effectLst/>
                <a:latin typeface="Consolas" panose="020B0609020204030204" pitchFamily="49" charset="0"/>
              </a:rPr>
              <a:t>40</a:t>
            </a:r>
            <a:r>
              <a:rPr lang="en-US" altLang="ja-JP" b="0" dirty="0">
                <a:solidFill>
                  <a:srgbClr val="000000"/>
                </a:solidFill>
                <a:effectLst/>
                <a:latin typeface="Consolas" panose="020B0609020204030204" pitchFamily="49" charset="0"/>
              </a:rPr>
              <a:t>, </a:t>
            </a:r>
            <a:r>
              <a:rPr lang="en-US" altLang="ja-JP" b="0" dirty="0">
                <a:solidFill>
                  <a:srgbClr val="098658"/>
                </a:solidFill>
                <a:effectLst/>
                <a:latin typeface="Consolas" panose="020B0609020204030204" pitchFamily="49" charset="0"/>
              </a:rPr>
              <a:t>100</a:t>
            </a: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←左から</a:t>
            </a:r>
            <a:r>
              <a:rPr lang="en-US" altLang="ja-JP" b="0" dirty="0">
                <a:solidFill>
                  <a:srgbClr val="000000"/>
                </a:solidFill>
                <a:effectLst/>
                <a:latin typeface="Consolas" panose="020B0609020204030204" pitchFamily="49" charset="0"/>
              </a:rPr>
              <a:t>H,S,V</a:t>
            </a:r>
          </a:p>
          <a:p>
            <a:pPr marL="0" indent="0">
              <a:buNone/>
            </a:pPr>
            <a:r>
              <a:rPr lang="en-US" altLang="ja-JP" dirty="0" err="1">
                <a:solidFill>
                  <a:srgbClr val="000000"/>
                </a:solidFill>
                <a:latin typeface="Consolas" panose="020B0609020204030204" pitchFamily="49" charset="0"/>
              </a:rPr>
              <a:t>h</a:t>
            </a:r>
            <a:r>
              <a:rPr lang="en-US" altLang="ja-JP" b="0" dirty="0" err="1">
                <a:solidFill>
                  <a:srgbClr val="000000"/>
                </a:solidFill>
                <a:effectLst/>
                <a:latin typeface="Consolas" panose="020B0609020204030204" pitchFamily="49" charset="0"/>
              </a:rPr>
              <a:t>svUpper</a:t>
            </a:r>
            <a:r>
              <a:rPr lang="en-US" altLang="ja-JP" b="0" dirty="0">
                <a:solidFill>
                  <a:srgbClr val="000000"/>
                </a:solidFill>
                <a:effectLst/>
                <a:latin typeface="Consolas" panose="020B0609020204030204" pitchFamily="49" charset="0"/>
              </a:rPr>
              <a:t> = </a:t>
            </a:r>
            <a:r>
              <a:rPr lang="en-US" altLang="ja-JP" b="0" dirty="0" err="1">
                <a:solidFill>
                  <a:srgbClr val="000000"/>
                </a:solidFill>
                <a:effectLst/>
                <a:latin typeface="Consolas" panose="020B0609020204030204" pitchFamily="49" charset="0"/>
              </a:rPr>
              <a:t>np.array</a:t>
            </a:r>
            <a:r>
              <a:rPr lang="en-US" altLang="ja-JP" b="0" dirty="0">
                <a:solidFill>
                  <a:srgbClr val="000000"/>
                </a:solidFill>
                <a:effectLst/>
                <a:latin typeface="Consolas" panose="020B0609020204030204" pitchFamily="49" charset="0"/>
              </a:rPr>
              <a:t>([</a:t>
            </a:r>
            <a:r>
              <a:rPr lang="en-US" altLang="ja-JP" b="0" dirty="0">
                <a:solidFill>
                  <a:srgbClr val="098658"/>
                </a:solidFill>
                <a:effectLst/>
                <a:latin typeface="Consolas" panose="020B0609020204030204" pitchFamily="49" charset="0"/>
              </a:rPr>
              <a:t>30</a:t>
            </a:r>
            <a:r>
              <a:rPr lang="en-US" altLang="ja-JP" b="0" dirty="0">
                <a:solidFill>
                  <a:srgbClr val="000000"/>
                </a:solidFill>
                <a:effectLst/>
                <a:latin typeface="Consolas" panose="020B0609020204030204" pitchFamily="49" charset="0"/>
              </a:rPr>
              <a:t>, </a:t>
            </a:r>
            <a:r>
              <a:rPr lang="en-US" altLang="ja-JP" b="0" dirty="0">
                <a:solidFill>
                  <a:srgbClr val="098658"/>
                </a:solidFill>
                <a:effectLst/>
                <a:latin typeface="Consolas" panose="020B0609020204030204" pitchFamily="49" charset="0"/>
              </a:rPr>
              <a:t>140</a:t>
            </a:r>
            <a:r>
              <a:rPr lang="en-US" altLang="ja-JP" b="0" dirty="0">
                <a:solidFill>
                  <a:srgbClr val="000000"/>
                </a:solidFill>
                <a:effectLst/>
                <a:latin typeface="Consolas" panose="020B0609020204030204" pitchFamily="49" charset="0"/>
              </a:rPr>
              <a:t>, </a:t>
            </a:r>
            <a:r>
              <a:rPr lang="en-US" altLang="ja-JP" b="0" dirty="0">
                <a:solidFill>
                  <a:srgbClr val="098658"/>
                </a:solidFill>
                <a:effectLst/>
                <a:latin typeface="Consolas" panose="020B0609020204030204" pitchFamily="49" charset="0"/>
              </a:rPr>
              <a:t>250</a:t>
            </a:r>
            <a:r>
              <a:rPr lang="en-US" altLang="ja-JP" b="0" dirty="0">
                <a:solidFill>
                  <a:srgbClr val="000000"/>
                </a:solidFill>
                <a:effectLst/>
                <a:latin typeface="Consolas" panose="020B0609020204030204" pitchFamily="49" charset="0"/>
              </a:rPr>
              <a:t>])</a:t>
            </a:r>
            <a:endParaRPr lang="ja-JP" altLang="en-US" b="0" dirty="0">
              <a:solidFill>
                <a:srgbClr val="000000"/>
              </a:solidFill>
              <a:effectLst/>
              <a:latin typeface="Consolas" panose="020B0609020204030204" pitchFamily="49" charset="0"/>
            </a:endParaRPr>
          </a:p>
          <a:p>
            <a:pPr marL="0" indent="0">
              <a:buNone/>
            </a:pPr>
            <a:r>
              <a:rPr lang="en-US" altLang="ja-JP" dirty="0">
                <a:solidFill>
                  <a:srgbClr val="000000"/>
                </a:solidFill>
                <a:latin typeface="Consolas" panose="020B0609020204030204" pitchFamily="49" charset="0"/>
              </a:rPr>
              <a:t>mask</a:t>
            </a:r>
            <a:r>
              <a:rPr lang="en-US" altLang="ja-JP" b="0" dirty="0">
                <a:solidFill>
                  <a:srgbClr val="000000"/>
                </a:solidFill>
                <a:effectLst/>
                <a:latin typeface="Consolas" panose="020B0609020204030204" pitchFamily="49" charset="0"/>
              </a:rPr>
              <a:t> = cv2.inRange(</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hsvLower</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hsvUpper</a:t>
            </a:r>
            <a:r>
              <a:rPr lang="en-US" altLang="ja-JP" b="0" dirty="0">
                <a:solidFill>
                  <a:srgbClr val="000000"/>
                </a:solidFill>
                <a:effectLst/>
                <a:latin typeface="Consolas" panose="020B0609020204030204" pitchFamily="49" charset="0"/>
              </a:rPr>
              <a:t>)</a:t>
            </a:r>
          </a:p>
          <a:p>
            <a:pPr marL="0" indent="0">
              <a:buNone/>
            </a:pPr>
            <a:endParaRPr lang="en-US" altLang="ja-JP" dirty="0">
              <a:solidFill>
                <a:srgbClr val="000000"/>
              </a:solidFill>
              <a:latin typeface="Consolas" panose="020B0609020204030204" pitchFamily="49" charset="0"/>
            </a:endParaRPr>
          </a:p>
          <a:p>
            <a:pPr marL="0" indent="0">
              <a:buNone/>
            </a:pPr>
            <a:r>
              <a:rPr lang="ja-JP" altLang="en-US" b="0" dirty="0">
                <a:solidFill>
                  <a:srgbClr val="000000"/>
                </a:solidFill>
                <a:effectLst/>
                <a:latin typeface="Consolas" panose="020B0609020204030204" pitchFamily="49" charset="0"/>
              </a:rPr>
              <a:t>ただし</a:t>
            </a:r>
            <a:r>
              <a:rPr lang="en-US" altLang="ja-JP" b="0" dirty="0">
                <a:solidFill>
                  <a:srgbClr val="000000"/>
                </a:solidFill>
                <a:effectLst/>
                <a:latin typeface="Consolas" panose="020B0609020204030204" pitchFamily="49" charset="0"/>
              </a:rPr>
              <a:t>OpenCV</a:t>
            </a:r>
            <a:r>
              <a:rPr lang="ja-JP" altLang="en-US" b="0" dirty="0">
                <a:solidFill>
                  <a:srgbClr val="000000"/>
                </a:solidFill>
                <a:effectLst/>
                <a:latin typeface="Consolas" panose="020B0609020204030204" pitchFamily="49" charset="0"/>
              </a:rPr>
              <a:t>では</a:t>
            </a:r>
            <a:r>
              <a:rPr lang="en-US" altLang="ja-JP" b="0" dirty="0">
                <a:solidFill>
                  <a:srgbClr val="000000"/>
                </a:solidFill>
                <a:effectLst/>
                <a:latin typeface="Consolas" panose="020B0609020204030204" pitchFamily="49" charset="0"/>
              </a:rPr>
              <a:t>H</a:t>
            </a:r>
            <a:r>
              <a:rPr lang="ja-JP" altLang="en-US" b="0" dirty="0">
                <a:solidFill>
                  <a:srgbClr val="000000"/>
                </a:solidFill>
                <a:effectLst/>
                <a:latin typeface="Consolas" panose="020B0609020204030204" pitchFamily="49" charset="0"/>
              </a:rPr>
              <a:t>が</a:t>
            </a:r>
            <a:r>
              <a:rPr lang="en-US" altLang="ja-JP" b="0" dirty="0">
                <a:solidFill>
                  <a:srgbClr val="000000"/>
                </a:solidFill>
                <a:effectLst/>
                <a:latin typeface="Consolas" panose="020B0609020204030204" pitchFamily="49" charset="0"/>
              </a:rPr>
              <a:t>0</a:t>
            </a:r>
            <a:r>
              <a:rPr lang="ja-JP" altLang="en-US" b="0" dirty="0">
                <a:solidFill>
                  <a:srgbClr val="000000"/>
                </a:solidFill>
                <a:effectLst/>
                <a:latin typeface="Consolas" panose="020B0609020204030204" pitchFamily="49" charset="0"/>
              </a:rPr>
              <a:t>から</a:t>
            </a:r>
            <a:r>
              <a:rPr lang="en-US" altLang="ja-JP" b="0" dirty="0">
                <a:solidFill>
                  <a:srgbClr val="000000"/>
                </a:solidFill>
                <a:effectLst/>
                <a:latin typeface="Consolas" panose="020B0609020204030204" pitchFamily="49" charset="0"/>
              </a:rPr>
              <a:t>360</a:t>
            </a:r>
            <a:r>
              <a:rPr lang="ja-JP" altLang="en-US" b="0" dirty="0">
                <a:solidFill>
                  <a:srgbClr val="000000"/>
                </a:solidFill>
                <a:effectLst/>
                <a:latin typeface="Consolas" panose="020B0609020204030204" pitchFamily="49" charset="0"/>
              </a:rPr>
              <a:t>ではなく</a:t>
            </a:r>
            <a:r>
              <a:rPr lang="en-US" altLang="ja-JP" b="0" dirty="0">
                <a:solidFill>
                  <a:srgbClr val="000000"/>
                </a:solidFill>
                <a:effectLst/>
                <a:latin typeface="Consolas" panose="020B0609020204030204" pitchFamily="49" charset="0"/>
              </a:rPr>
              <a:t>0</a:t>
            </a:r>
            <a:r>
              <a:rPr lang="ja-JP" altLang="en-US" b="0" dirty="0">
                <a:solidFill>
                  <a:srgbClr val="000000"/>
                </a:solidFill>
                <a:effectLst/>
                <a:latin typeface="Consolas" panose="020B0609020204030204" pitchFamily="49" charset="0"/>
              </a:rPr>
              <a:t>から</a:t>
            </a:r>
            <a:r>
              <a:rPr lang="en-US" altLang="ja-JP" b="0" dirty="0">
                <a:solidFill>
                  <a:srgbClr val="000000"/>
                </a:solidFill>
                <a:effectLst/>
                <a:latin typeface="Consolas" panose="020B0609020204030204" pitchFamily="49" charset="0"/>
              </a:rPr>
              <a:t>179</a:t>
            </a:r>
            <a:r>
              <a:rPr lang="ja-JP" altLang="en-US" b="0" dirty="0">
                <a:solidFill>
                  <a:srgbClr val="000000"/>
                </a:solidFill>
                <a:effectLst/>
                <a:latin typeface="Consolas" panose="020B0609020204030204" pitchFamily="49" charset="0"/>
              </a:rPr>
              <a:t>まで。内部で倍にされて処理される</a:t>
            </a:r>
          </a:p>
        </p:txBody>
      </p:sp>
      <p:sp>
        <p:nvSpPr>
          <p:cNvPr id="8" name="フッター プレースホルダー 7">
            <a:extLst>
              <a:ext uri="{FF2B5EF4-FFF2-40B4-BE49-F238E27FC236}">
                <a16:creationId xmlns:a16="http://schemas.microsoft.com/office/drawing/2014/main" id="{354286C6-D483-CD7C-4C0E-305696B8D2C5}"/>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1AD5E7FF-D3C7-92BA-0EC7-4318EB930D44}"/>
              </a:ext>
            </a:extLst>
          </p:cNvPr>
          <p:cNvSpPr>
            <a:spLocks noGrp="1"/>
          </p:cNvSpPr>
          <p:nvPr>
            <p:ph type="sldNum" sz="quarter" idx="12"/>
          </p:nvPr>
        </p:nvSpPr>
        <p:spPr/>
        <p:txBody>
          <a:bodyPr/>
          <a:lstStyle/>
          <a:p>
            <a:fld id="{82EE47C2-3066-499F-97BE-8094ED607EB5}" type="slidenum">
              <a:rPr kumimoji="1" lang="ja-JP" altLang="en-US" smtClean="0"/>
              <a:t>39</a:t>
            </a:fld>
            <a:endParaRPr kumimoji="1" lang="ja-JP" altLang="en-US"/>
          </a:p>
        </p:txBody>
      </p:sp>
    </p:spTree>
    <p:extLst>
      <p:ext uri="{BB962C8B-B14F-4D97-AF65-F5344CB8AC3E}">
        <p14:creationId xmlns:p14="http://schemas.microsoft.com/office/powerpoint/2010/main" val="303519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複数の色範囲指定</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fontScale="92500"/>
          </a:bodyPr>
          <a:lstStyle/>
          <a:p>
            <a:r>
              <a:rPr lang="ja-JP" altLang="en-US" b="0" dirty="0">
                <a:solidFill>
                  <a:srgbClr val="000000"/>
                </a:solidFill>
                <a:effectLst/>
                <a:latin typeface="Consolas" panose="020B0609020204030204" pitchFamily="49" charset="0"/>
              </a:rPr>
              <a:t>複数の色を指定したい場合や</a:t>
            </a:r>
            <a:r>
              <a:rPr lang="en-US" altLang="ja-JP" b="0" dirty="0">
                <a:solidFill>
                  <a:srgbClr val="000000"/>
                </a:solidFill>
                <a:effectLst/>
                <a:latin typeface="Consolas" panose="020B0609020204030204" pitchFamily="49" charset="0"/>
              </a:rPr>
              <a:t>H</a:t>
            </a:r>
            <a:r>
              <a:rPr lang="ja-JP" altLang="en-US" b="0" dirty="0">
                <a:solidFill>
                  <a:srgbClr val="000000"/>
                </a:solidFill>
                <a:effectLst/>
                <a:latin typeface="Consolas" panose="020B0609020204030204" pitchFamily="49" charset="0"/>
              </a:rPr>
              <a:t>が</a:t>
            </a:r>
            <a:r>
              <a:rPr lang="en-US" altLang="ja-JP" b="0" dirty="0">
                <a:solidFill>
                  <a:srgbClr val="000000"/>
                </a:solidFill>
                <a:effectLst/>
                <a:latin typeface="Consolas" panose="020B0609020204030204" pitchFamily="49" charset="0"/>
              </a:rPr>
              <a:t>0</a:t>
            </a:r>
            <a:r>
              <a:rPr lang="ja-JP" altLang="en-US" b="0" dirty="0">
                <a:solidFill>
                  <a:srgbClr val="000000"/>
                </a:solidFill>
                <a:effectLst/>
                <a:latin typeface="Consolas" panose="020B0609020204030204" pitchFamily="49" charset="0"/>
              </a:rPr>
              <a:t>をまたがる赤系の色を指定したい場合は次のように書く</a:t>
            </a:r>
            <a:endParaRPr lang="en-US" altLang="ja-JP" b="0" dirty="0">
              <a:solidFill>
                <a:srgbClr val="000000"/>
              </a:solidFill>
              <a:effectLst/>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pPr marL="0" indent="0">
              <a:buNone/>
            </a:pP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赤の下側レンジ</a:t>
            </a:r>
            <a:endParaRPr lang="en-US" altLang="ja-JP" b="0" dirty="0">
              <a:solidFill>
                <a:srgbClr val="000000"/>
              </a:solidFill>
              <a:effectLst/>
              <a:latin typeface="Consolas" panose="020B0609020204030204" pitchFamily="49" charset="0"/>
            </a:endParaRPr>
          </a:p>
          <a:p>
            <a:pPr marL="0" indent="0">
              <a:buNone/>
            </a:pPr>
            <a:r>
              <a:rPr lang="en-US" altLang="ja-JP" b="0" dirty="0">
                <a:solidFill>
                  <a:srgbClr val="000000"/>
                </a:solidFill>
                <a:effectLst/>
                <a:latin typeface="Consolas" panose="020B0609020204030204" pitchFamily="49" charset="0"/>
              </a:rPr>
              <a:t>mask1 = cv2.inRange(</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hsvLower1, hsvUpper1)</a:t>
            </a:r>
          </a:p>
          <a:p>
            <a:pPr marL="0" indent="0">
              <a:buNone/>
            </a:pP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赤の上側レンジ</a:t>
            </a:r>
            <a:endParaRPr lang="en-US" altLang="ja-JP" b="0" dirty="0">
              <a:solidFill>
                <a:srgbClr val="000000"/>
              </a:solidFill>
              <a:effectLst/>
              <a:latin typeface="Consolas" panose="020B0609020204030204" pitchFamily="49" charset="0"/>
            </a:endParaRPr>
          </a:p>
          <a:p>
            <a:pPr marL="0" indent="0">
              <a:buNone/>
            </a:pPr>
            <a:r>
              <a:rPr lang="en-US" altLang="ja-JP" b="0" dirty="0">
                <a:solidFill>
                  <a:srgbClr val="000000"/>
                </a:solidFill>
                <a:effectLst/>
                <a:latin typeface="Consolas" panose="020B0609020204030204" pitchFamily="49" charset="0"/>
              </a:rPr>
              <a:t>mask2 = cv2.inRange(</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hsvLower2, hsvUpper2)</a:t>
            </a:r>
          </a:p>
          <a:p>
            <a:pPr marL="0" indent="0">
              <a:buNone/>
            </a:pPr>
            <a:r>
              <a:rPr lang="en-US" altLang="ja-JP" b="0" dirty="0">
                <a:solidFill>
                  <a:srgbClr val="000000"/>
                </a:solidFill>
                <a:effectLst/>
                <a:latin typeface="Consolas" panose="020B0609020204030204" pitchFamily="49" charset="0"/>
              </a:rPr>
              <a:t># 2</a:t>
            </a:r>
            <a:r>
              <a:rPr lang="ja-JP" altLang="en-US" b="0" dirty="0">
                <a:solidFill>
                  <a:srgbClr val="000000"/>
                </a:solidFill>
                <a:effectLst/>
                <a:latin typeface="Consolas" panose="020B0609020204030204" pitchFamily="49" charset="0"/>
              </a:rPr>
              <a:t>つのマスクを合体（論理和）</a:t>
            </a:r>
            <a:endParaRPr lang="en-US" altLang="ja-JP" b="0" dirty="0">
              <a:solidFill>
                <a:srgbClr val="000000"/>
              </a:solidFill>
              <a:effectLst/>
              <a:latin typeface="Consolas" panose="020B0609020204030204" pitchFamily="49" charset="0"/>
            </a:endParaRPr>
          </a:p>
          <a:p>
            <a:pPr marL="0" indent="0">
              <a:buNone/>
            </a:pPr>
            <a:r>
              <a:rPr lang="en-US" altLang="ja-JP" b="0" dirty="0">
                <a:solidFill>
                  <a:srgbClr val="000000"/>
                </a:solidFill>
                <a:effectLst/>
                <a:latin typeface="Consolas" panose="020B0609020204030204" pitchFamily="49" charset="0"/>
              </a:rPr>
              <a:t>mask = cv2.bitwise_or(mask1, mask2)</a:t>
            </a:r>
          </a:p>
          <a:p>
            <a:pPr marL="0" indent="0">
              <a:buNone/>
            </a:pP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マスクを画像に適用</a:t>
            </a:r>
            <a:endParaRPr lang="en-US" altLang="ja-JP" b="0" dirty="0">
              <a:solidFill>
                <a:srgbClr val="000000"/>
              </a:solidFill>
              <a:effectLst/>
              <a:latin typeface="Consolas" panose="020B0609020204030204" pitchFamily="49" charset="0"/>
            </a:endParaRPr>
          </a:p>
          <a:p>
            <a:pPr marL="0" indent="0">
              <a:buNone/>
            </a:pPr>
            <a:r>
              <a:rPr lang="en-US" altLang="ja-JP" b="0" dirty="0" err="1">
                <a:solidFill>
                  <a:srgbClr val="000000"/>
                </a:solidFill>
                <a:effectLst/>
                <a:latin typeface="Consolas" panose="020B0609020204030204" pitchFamily="49" charset="0"/>
              </a:rPr>
              <a:t>img_dst</a:t>
            </a:r>
            <a:r>
              <a:rPr lang="en-US" altLang="ja-JP" b="0" dirty="0">
                <a:solidFill>
                  <a:srgbClr val="000000"/>
                </a:solidFill>
                <a:effectLst/>
                <a:latin typeface="Consolas" panose="020B0609020204030204" pitchFamily="49" charset="0"/>
              </a:rPr>
              <a:t> = cv2.bitwise_and(</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mask=mask)</a:t>
            </a:r>
            <a:endParaRPr lang="ja-JP" altLang="en-US" b="0" dirty="0">
              <a:solidFill>
                <a:srgbClr val="000000"/>
              </a:solidFill>
              <a:effectLst/>
              <a:latin typeface="Consolas" panose="020B0609020204030204" pitchFamily="49" charset="0"/>
            </a:endParaRPr>
          </a:p>
        </p:txBody>
      </p:sp>
      <p:sp>
        <p:nvSpPr>
          <p:cNvPr id="6" name="フッター プレースホルダー 5">
            <a:extLst>
              <a:ext uri="{FF2B5EF4-FFF2-40B4-BE49-F238E27FC236}">
                <a16:creationId xmlns:a16="http://schemas.microsoft.com/office/drawing/2014/main" id="{38580D66-D489-B777-1EDB-842FA082040E}"/>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DB3679D2-0204-6057-7B74-B59C4FC80D2F}"/>
              </a:ext>
            </a:extLst>
          </p:cNvPr>
          <p:cNvSpPr>
            <a:spLocks noGrp="1"/>
          </p:cNvSpPr>
          <p:nvPr>
            <p:ph type="sldNum" sz="quarter" idx="12"/>
          </p:nvPr>
        </p:nvSpPr>
        <p:spPr/>
        <p:txBody>
          <a:bodyPr/>
          <a:lstStyle/>
          <a:p>
            <a:fld id="{82EE47C2-3066-499F-97BE-8094ED607EB5}" type="slidenum">
              <a:rPr kumimoji="1" lang="ja-JP" altLang="en-US" smtClean="0"/>
              <a:t>40</a:t>
            </a:fld>
            <a:endParaRPr kumimoji="1" lang="ja-JP" altLang="en-US"/>
          </a:p>
        </p:txBody>
      </p:sp>
    </p:spTree>
    <p:extLst>
      <p:ext uri="{BB962C8B-B14F-4D97-AF65-F5344CB8AC3E}">
        <p14:creationId xmlns:p14="http://schemas.microsoft.com/office/powerpoint/2010/main" val="3041183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マスク</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en-US" altLang="ja-JP" dirty="0">
                <a:solidFill>
                  <a:srgbClr val="000000"/>
                </a:solidFill>
                <a:latin typeface="Consolas" panose="020B0609020204030204" pitchFamily="49" charset="0"/>
              </a:rPr>
              <a:t>mask</a:t>
            </a:r>
            <a:r>
              <a:rPr lang="en-US" altLang="ja-JP" b="0" dirty="0">
                <a:solidFill>
                  <a:srgbClr val="000000"/>
                </a:solidFill>
                <a:effectLst/>
                <a:latin typeface="Consolas" panose="020B0609020204030204" pitchFamily="49" charset="0"/>
              </a:rPr>
              <a:t> = cv2.inRange(</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hsvLower</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hsvUpper</a:t>
            </a:r>
            <a:r>
              <a:rPr lang="en-US" altLang="ja-JP" b="0" dirty="0">
                <a:solidFill>
                  <a:srgbClr val="000000"/>
                </a:solidFill>
                <a:effectLst/>
                <a:latin typeface="Consolas" panose="020B0609020204030204" pitchFamily="49" charset="0"/>
              </a:rPr>
              <a:t>)</a:t>
            </a:r>
          </a:p>
          <a:p>
            <a:r>
              <a:rPr lang="en-US" altLang="ja-JP" dirty="0" err="1">
                <a:solidFill>
                  <a:srgbClr val="000000"/>
                </a:solidFill>
                <a:latin typeface="Consolas" panose="020B0609020204030204" pitchFamily="49" charset="0"/>
              </a:rPr>
              <a:t>inRange</a:t>
            </a:r>
            <a:r>
              <a:rPr lang="ja-JP" altLang="en-US" dirty="0">
                <a:solidFill>
                  <a:srgbClr val="000000"/>
                </a:solidFill>
                <a:latin typeface="Consolas" panose="020B0609020204030204" pitchFamily="49" charset="0"/>
              </a:rPr>
              <a:t>で得られるものは</a:t>
            </a:r>
            <a:r>
              <a:rPr lang="en-US" altLang="ja-JP" dirty="0">
                <a:solidFill>
                  <a:srgbClr val="000000"/>
                </a:solidFill>
                <a:latin typeface="Consolas" panose="020B0609020204030204" pitchFamily="49" charset="0"/>
              </a:rPr>
              <a:t>0(</a:t>
            </a:r>
            <a:r>
              <a:rPr lang="ja-JP" altLang="en-US" dirty="0">
                <a:solidFill>
                  <a:srgbClr val="000000"/>
                </a:solidFill>
                <a:latin typeface="Consolas" panose="020B0609020204030204" pitchFamily="49" charset="0"/>
              </a:rPr>
              <a:t>黒</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と</a:t>
            </a:r>
            <a:r>
              <a:rPr lang="en-US" altLang="ja-JP" dirty="0">
                <a:solidFill>
                  <a:srgbClr val="000000"/>
                </a:solidFill>
                <a:latin typeface="Consolas" panose="020B0609020204030204" pitchFamily="49" charset="0"/>
              </a:rPr>
              <a:t>255(</a:t>
            </a:r>
            <a:r>
              <a:rPr lang="ja-JP" altLang="en-US" dirty="0">
                <a:solidFill>
                  <a:srgbClr val="000000"/>
                </a:solidFill>
                <a:latin typeface="Consolas" panose="020B0609020204030204" pitchFamily="49" charset="0"/>
              </a:rPr>
              <a:t>白</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からなる</a:t>
            </a:r>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値画像</a:t>
            </a:r>
            <a:endParaRPr lang="en-US" altLang="ja-JP" dirty="0">
              <a:solidFill>
                <a:srgbClr val="000000"/>
              </a:solidFill>
              <a:latin typeface="Consolas" panose="020B0609020204030204" pitchFamily="49" charset="0"/>
            </a:endParaRPr>
          </a:p>
          <a:p>
            <a:r>
              <a:rPr lang="ja-JP" altLang="en-US" b="0" dirty="0">
                <a:solidFill>
                  <a:srgbClr val="000000"/>
                </a:solidFill>
                <a:effectLst/>
                <a:latin typeface="Consolas" panose="020B0609020204030204" pitchFamily="49" charset="0"/>
              </a:rPr>
              <a:t>特定の色の部分を白、それ以外の部分を黒としている</a:t>
            </a:r>
            <a:endParaRPr lang="en-US" altLang="ja-JP" b="0" dirty="0">
              <a:solidFill>
                <a:srgbClr val="000000"/>
              </a:solidFill>
              <a:effectLst/>
              <a:latin typeface="Consolas" panose="020B0609020204030204" pitchFamily="49" charset="0"/>
            </a:endParaRPr>
          </a:p>
          <a:p>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使う部分を白、使わない部分を黒と見たときの</a:t>
            </a:r>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値画像を</a:t>
            </a:r>
            <a:r>
              <a:rPr lang="ja-JP" altLang="en-US" b="1" dirty="0">
                <a:solidFill>
                  <a:srgbClr val="000000"/>
                </a:solidFill>
                <a:latin typeface="Consolas" panose="020B0609020204030204" pitchFamily="49" charset="0"/>
              </a:rPr>
              <a:t>マスク</a:t>
            </a:r>
            <a:r>
              <a:rPr lang="ja-JP" altLang="en-US" dirty="0">
                <a:solidFill>
                  <a:srgbClr val="000000"/>
                </a:solidFill>
                <a:latin typeface="Consolas" panose="020B0609020204030204" pitchFamily="49" charset="0"/>
              </a:rPr>
              <a:t>（</a:t>
            </a:r>
            <a:r>
              <a:rPr lang="ja-JP" altLang="en-US" b="1" dirty="0">
                <a:solidFill>
                  <a:srgbClr val="000000"/>
                </a:solidFill>
                <a:latin typeface="Consolas" panose="020B0609020204030204" pitchFamily="49" charset="0"/>
              </a:rPr>
              <a:t>マスク画像</a:t>
            </a:r>
            <a:r>
              <a:rPr lang="ja-JP" altLang="en-US" dirty="0">
                <a:solidFill>
                  <a:srgbClr val="000000"/>
                </a:solidFill>
                <a:latin typeface="Consolas" panose="020B0609020204030204" pitchFamily="49" charset="0"/>
              </a:rPr>
              <a:t>）という</a:t>
            </a:r>
            <a:endParaRPr lang="ja-JP" altLang="en-US" b="0" dirty="0">
              <a:solidFill>
                <a:srgbClr val="000000"/>
              </a:solidFill>
              <a:effectLst/>
              <a:latin typeface="Consolas" panose="020B0609020204030204" pitchFamily="49" charset="0"/>
            </a:endParaRPr>
          </a:p>
        </p:txBody>
      </p:sp>
      <p:sp>
        <p:nvSpPr>
          <p:cNvPr id="6" name="フッター プレースホルダー 5">
            <a:extLst>
              <a:ext uri="{FF2B5EF4-FFF2-40B4-BE49-F238E27FC236}">
                <a16:creationId xmlns:a16="http://schemas.microsoft.com/office/drawing/2014/main" id="{38580D66-D489-B777-1EDB-842FA082040E}"/>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DB3679D2-0204-6057-7B74-B59C4FC80D2F}"/>
              </a:ext>
            </a:extLst>
          </p:cNvPr>
          <p:cNvSpPr>
            <a:spLocks noGrp="1"/>
          </p:cNvSpPr>
          <p:nvPr>
            <p:ph type="sldNum" sz="quarter" idx="12"/>
          </p:nvPr>
        </p:nvSpPr>
        <p:spPr/>
        <p:txBody>
          <a:bodyPr/>
          <a:lstStyle/>
          <a:p>
            <a:fld id="{82EE47C2-3066-499F-97BE-8094ED607EB5}" type="slidenum">
              <a:rPr kumimoji="1" lang="ja-JP" altLang="en-US" smtClean="0"/>
              <a:t>41</a:t>
            </a:fld>
            <a:endParaRPr kumimoji="1" lang="ja-JP" altLang="en-US"/>
          </a:p>
        </p:txBody>
      </p:sp>
    </p:spTree>
    <p:extLst>
      <p:ext uri="{BB962C8B-B14F-4D97-AF65-F5344CB8AC3E}">
        <p14:creationId xmlns:p14="http://schemas.microsoft.com/office/powerpoint/2010/main" val="1702192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マスクのイメージ</a:t>
            </a:r>
            <a:endParaRPr kumimoji="1" lang="ja-JP" altLang="en-US" b="1" dirty="0"/>
          </a:p>
        </p:txBody>
      </p:sp>
      <p:sp>
        <p:nvSpPr>
          <p:cNvPr id="6" name="フッター プレースホルダー 5">
            <a:extLst>
              <a:ext uri="{FF2B5EF4-FFF2-40B4-BE49-F238E27FC236}">
                <a16:creationId xmlns:a16="http://schemas.microsoft.com/office/drawing/2014/main" id="{38580D66-D489-B777-1EDB-842FA082040E}"/>
              </a:ext>
            </a:extLst>
          </p:cNvPr>
          <p:cNvSpPr>
            <a:spLocks noGrp="1"/>
          </p:cNvSpPr>
          <p:nvPr>
            <p:ph type="ftr" sz="quarter" idx="11"/>
          </p:nvPr>
        </p:nvSpPr>
        <p:spPr/>
        <p:txBody>
          <a:bodyPr/>
          <a:lstStyle/>
          <a:p>
            <a:r>
              <a:rPr kumimoji="1" lang="ja-JP" altLang="en-US"/>
              <a:t>ポリテクセンター栃木</a:t>
            </a:r>
          </a:p>
        </p:txBody>
      </p:sp>
      <p:sp>
        <p:nvSpPr>
          <p:cNvPr id="7" name="スライド番号プレースホルダー 6">
            <a:extLst>
              <a:ext uri="{FF2B5EF4-FFF2-40B4-BE49-F238E27FC236}">
                <a16:creationId xmlns:a16="http://schemas.microsoft.com/office/drawing/2014/main" id="{DB3679D2-0204-6057-7B74-B59C4FC80D2F}"/>
              </a:ext>
            </a:extLst>
          </p:cNvPr>
          <p:cNvSpPr>
            <a:spLocks noGrp="1"/>
          </p:cNvSpPr>
          <p:nvPr>
            <p:ph type="sldNum" sz="quarter" idx="12"/>
          </p:nvPr>
        </p:nvSpPr>
        <p:spPr/>
        <p:txBody>
          <a:bodyPr/>
          <a:lstStyle/>
          <a:p>
            <a:fld id="{82EE47C2-3066-499F-97BE-8094ED607EB5}" type="slidenum">
              <a:rPr kumimoji="1" lang="ja-JP" altLang="en-US" smtClean="0"/>
              <a:t>42</a:t>
            </a:fld>
            <a:endParaRPr kumimoji="1" lang="ja-JP" altLang="en-US"/>
          </a:p>
        </p:txBody>
      </p:sp>
      <p:pic>
        <p:nvPicPr>
          <p:cNvPr id="4" name="図 3">
            <a:extLst>
              <a:ext uri="{FF2B5EF4-FFF2-40B4-BE49-F238E27FC236}">
                <a16:creationId xmlns:a16="http://schemas.microsoft.com/office/drawing/2014/main" id="{1B6DBA6D-43F3-6B3A-665B-8A6CADB60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39" y="1317558"/>
            <a:ext cx="2338102" cy="1558735"/>
          </a:xfrm>
          <a:prstGeom prst="rect">
            <a:avLst/>
          </a:prstGeom>
        </p:spPr>
      </p:pic>
      <p:sp>
        <p:nvSpPr>
          <p:cNvPr id="8" name="テキスト ボックス 7">
            <a:extLst>
              <a:ext uri="{FF2B5EF4-FFF2-40B4-BE49-F238E27FC236}">
                <a16:creationId xmlns:a16="http://schemas.microsoft.com/office/drawing/2014/main" id="{A2DBBC43-85CB-BEE8-7268-8FBFF6D80A0F}"/>
              </a:ext>
            </a:extLst>
          </p:cNvPr>
          <p:cNvSpPr txBox="1"/>
          <p:nvPr/>
        </p:nvSpPr>
        <p:spPr>
          <a:xfrm>
            <a:off x="709899" y="2876293"/>
            <a:ext cx="1809782" cy="369332"/>
          </a:xfrm>
          <a:prstGeom prst="rect">
            <a:avLst/>
          </a:prstGeom>
          <a:noFill/>
        </p:spPr>
        <p:txBody>
          <a:bodyPr wrap="square" rtlCol="0">
            <a:spAutoFit/>
          </a:bodyPr>
          <a:lstStyle/>
          <a:p>
            <a:pPr algn="ctr"/>
            <a:r>
              <a:rPr lang="ja-JP" altLang="en-US" b="1" dirty="0"/>
              <a:t>元画像</a:t>
            </a:r>
            <a:endParaRPr kumimoji="1" lang="en-US" altLang="ja-JP" b="1" dirty="0"/>
          </a:p>
        </p:txBody>
      </p:sp>
      <p:pic>
        <p:nvPicPr>
          <p:cNvPr id="10" name="図 9">
            <a:extLst>
              <a:ext uri="{FF2B5EF4-FFF2-40B4-BE49-F238E27FC236}">
                <a16:creationId xmlns:a16="http://schemas.microsoft.com/office/drawing/2014/main" id="{054960BF-23A6-A748-2B20-D9DE63E54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4919" y="4032171"/>
            <a:ext cx="2338103" cy="1558735"/>
          </a:xfrm>
          <a:prstGeom prst="rect">
            <a:avLst/>
          </a:prstGeom>
        </p:spPr>
      </p:pic>
      <p:sp>
        <p:nvSpPr>
          <p:cNvPr id="11" name="テキスト ボックス 10">
            <a:extLst>
              <a:ext uri="{FF2B5EF4-FFF2-40B4-BE49-F238E27FC236}">
                <a16:creationId xmlns:a16="http://schemas.microsoft.com/office/drawing/2014/main" id="{2D44210A-F47B-1547-E614-ACCE84AED6B7}"/>
              </a:ext>
            </a:extLst>
          </p:cNvPr>
          <p:cNvSpPr txBox="1"/>
          <p:nvPr/>
        </p:nvSpPr>
        <p:spPr>
          <a:xfrm>
            <a:off x="-1" y="5692101"/>
            <a:ext cx="5093351" cy="646331"/>
          </a:xfrm>
          <a:prstGeom prst="rect">
            <a:avLst/>
          </a:prstGeom>
          <a:noFill/>
        </p:spPr>
        <p:txBody>
          <a:bodyPr wrap="square" rtlCol="0">
            <a:spAutoFit/>
          </a:bodyPr>
          <a:lstStyle/>
          <a:p>
            <a:pPr algn="ctr"/>
            <a:r>
              <a:rPr lang="ja-JP" altLang="en-US" b="1" dirty="0"/>
              <a:t>ある条件で</a:t>
            </a:r>
            <a:r>
              <a:rPr kumimoji="1" lang="ja-JP" altLang="en-US" b="1" dirty="0"/>
              <a:t>マスク作成</a:t>
            </a:r>
            <a:endParaRPr kumimoji="1" lang="en-US" altLang="ja-JP" b="1" dirty="0"/>
          </a:p>
          <a:p>
            <a:pPr algn="ctr"/>
            <a:r>
              <a:rPr lang="ja-JP" altLang="en-US" b="1" dirty="0"/>
              <a:t>（今回の条件は「色がオレンジっぽい部分」）</a:t>
            </a:r>
            <a:endParaRPr lang="en-US" altLang="ja-JP" b="1" dirty="0"/>
          </a:p>
        </p:txBody>
      </p:sp>
      <p:pic>
        <p:nvPicPr>
          <p:cNvPr id="15" name="図 14">
            <a:extLst>
              <a:ext uri="{FF2B5EF4-FFF2-40B4-BE49-F238E27FC236}">
                <a16:creationId xmlns:a16="http://schemas.microsoft.com/office/drawing/2014/main" id="{62EA6003-FFD6-7C8C-F1BF-101B5A0D49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0876" y="1653113"/>
            <a:ext cx="5000625" cy="3333750"/>
          </a:xfrm>
          <a:prstGeom prst="rect">
            <a:avLst/>
          </a:prstGeom>
        </p:spPr>
      </p:pic>
      <p:sp>
        <p:nvSpPr>
          <p:cNvPr id="16" name="矢印: 下 15">
            <a:extLst>
              <a:ext uri="{FF2B5EF4-FFF2-40B4-BE49-F238E27FC236}">
                <a16:creationId xmlns:a16="http://schemas.microsoft.com/office/drawing/2014/main" id="{FCED324B-2DC2-9280-E89E-EEADD8255C6E}"/>
              </a:ext>
            </a:extLst>
          </p:cNvPr>
          <p:cNvSpPr/>
          <p:nvPr/>
        </p:nvSpPr>
        <p:spPr>
          <a:xfrm rot="20669569">
            <a:off x="1691178" y="3326331"/>
            <a:ext cx="574040" cy="649587"/>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9F649D9C-D28B-B1BF-28EE-195782644867}"/>
              </a:ext>
            </a:extLst>
          </p:cNvPr>
          <p:cNvSpPr txBox="1"/>
          <p:nvPr/>
        </p:nvSpPr>
        <p:spPr>
          <a:xfrm>
            <a:off x="284979" y="3319988"/>
            <a:ext cx="4297981" cy="584775"/>
          </a:xfrm>
          <a:prstGeom prst="rect">
            <a:avLst/>
          </a:prstGeom>
          <a:solidFill>
            <a:srgbClr val="FFFFFF">
              <a:alpha val="20000"/>
            </a:srgbClr>
          </a:solidFill>
        </p:spPr>
        <p:txBody>
          <a:bodyPr wrap="square">
            <a:spAutoFit/>
          </a:bodyPr>
          <a:lstStyle/>
          <a:p>
            <a:pPr marL="0" indent="0">
              <a:buNone/>
            </a:pPr>
            <a:r>
              <a:rPr lang="en-US" altLang="ja-JP" sz="1600" dirty="0">
                <a:solidFill>
                  <a:srgbClr val="000000"/>
                </a:solidFill>
                <a:latin typeface="Consolas" panose="020B0609020204030204" pitchFamily="49" charset="0"/>
              </a:rPr>
              <a:t>mask</a:t>
            </a:r>
            <a:r>
              <a:rPr lang="en-US" altLang="ja-JP" sz="1600" b="0" dirty="0">
                <a:solidFill>
                  <a:srgbClr val="000000"/>
                </a:solidFill>
                <a:effectLst/>
                <a:latin typeface="Consolas" panose="020B0609020204030204" pitchFamily="49" charset="0"/>
              </a:rPr>
              <a:t> = </a:t>
            </a:r>
          </a:p>
          <a:p>
            <a:pPr marL="0" indent="0">
              <a:buNone/>
            </a:pPr>
            <a:r>
              <a:rPr lang="ja-JP" altLang="en-US" sz="1600" dirty="0">
                <a:solidFill>
                  <a:srgbClr val="000000"/>
                </a:solidFill>
                <a:latin typeface="Consolas" panose="020B0609020204030204" pitchFamily="49" charset="0"/>
              </a:rPr>
              <a:t>　</a:t>
            </a:r>
            <a:r>
              <a:rPr lang="en-US" altLang="ja-JP" sz="1600" b="0" dirty="0">
                <a:solidFill>
                  <a:srgbClr val="000000"/>
                </a:solidFill>
                <a:effectLst/>
                <a:latin typeface="Consolas" panose="020B0609020204030204" pitchFamily="49" charset="0"/>
              </a:rPr>
              <a:t>cv2.inRange(</a:t>
            </a:r>
            <a:r>
              <a:rPr lang="en-US" altLang="ja-JP" sz="1600" b="0" dirty="0" err="1">
                <a:solidFill>
                  <a:srgbClr val="000000"/>
                </a:solidFill>
                <a:effectLst/>
                <a:latin typeface="Consolas" panose="020B0609020204030204" pitchFamily="49" charset="0"/>
              </a:rPr>
              <a:t>img_temp</a:t>
            </a:r>
            <a:r>
              <a:rPr lang="en-US" altLang="ja-JP" sz="1600" b="0" dirty="0">
                <a:solidFill>
                  <a:srgbClr val="000000"/>
                </a:solidFill>
                <a:effectLst/>
                <a:latin typeface="Consolas" panose="020B0609020204030204" pitchFamily="49" charset="0"/>
              </a:rPr>
              <a:t>, </a:t>
            </a:r>
            <a:r>
              <a:rPr lang="en-US" altLang="ja-JP" sz="1600" dirty="0">
                <a:solidFill>
                  <a:srgbClr val="000000"/>
                </a:solidFill>
                <a:latin typeface="Consolas" panose="020B0609020204030204" pitchFamily="49" charset="0"/>
              </a:rPr>
              <a:t>l</a:t>
            </a:r>
            <a:r>
              <a:rPr lang="en-US" altLang="ja-JP" sz="1600" b="0" dirty="0">
                <a:solidFill>
                  <a:srgbClr val="000000"/>
                </a:solidFill>
                <a:effectLst/>
                <a:latin typeface="Consolas" panose="020B0609020204030204" pitchFamily="49" charset="0"/>
              </a:rPr>
              <a:t>ower, upper)</a:t>
            </a:r>
          </a:p>
        </p:txBody>
      </p:sp>
      <p:sp>
        <p:nvSpPr>
          <p:cNvPr id="20" name="矢印: 下 19">
            <a:extLst>
              <a:ext uri="{FF2B5EF4-FFF2-40B4-BE49-F238E27FC236}">
                <a16:creationId xmlns:a16="http://schemas.microsoft.com/office/drawing/2014/main" id="{B74B2B10-C80B-3992-1AC3-56B8BB1E29B9}"/>
              </a:ext>
            </a:extLst>
          </p:cNvPr>
          <p:cNvSpPr/>
          <p:nvPr/>
        </p:nvSpPr>
        <p:spPr>
          <a:xfrm rot="14480949">
            <a:off x="5110269" y="2965794"/>
            <a:ext cx="574040" cy="2769983"/>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A361E03-478A-2554-4392-D4988E3003F8}"/>
              </a:ext>
            </a:extLst>
          </p:cNvPr>
          <p:cNvSpPr txBox="1"/>
          <p:nvPr/>
        </p:nvSpPr>
        <p:spPr>
          <a:xfrm>
            <a:off x="6601808" y="5108070"/>
            <a:ext cx="5318760" cy="369332"/>
          </a:xfrm>
          <a:prstGeom prst="rect">
            <a:avLst/>
          </a:prstGeom>
          <a:noFill/>
        </p:spPr>
        <p:txBody>
          <a:bodyPr wrap="square" rtlCol="0">
            <a:spAutoFit/>
          </a:bodyPr>
          <a:lstStyle/>
          <a:p>
            <a:pPr algn="ctr"/>
            <a:r>
              <a:rPr lang="ja-JP" altLang="en-US" b="1" dirty="0"/>
              <a:t>マスクの白の部分だけが残る</a:t>
            </a:r>
            <a:endParaRPr lang="en-US" altLang="ja-JP" b="1" dirty="0"/>
          </a:p>
        </p:txBody>
      </p:sp>
      <p:sp>
        <p:nvSpPr>
          <p:cNvPr id="23" name="テキスト ボックス 22">
            <a:extLst>
              <a:ext uri="{FF2B5EF4-FFF2-40B4-BE49-F238E27FC236}">
                <a16:creationId xmlns:a16="http://schemas.microsoft.com/office/drawing/2014/main" id="{1D1CC21B-D988-8B94-F8E3-FBF547BF3D04}"/>
              </a:ext>
            </a:extLst>
          </p:cNvPr>
          <p:cNvSpPr txBox="1"/>
          <p:nvPr/>
        </p:nvSpPr>
        <p:spPr>
          <a:xfrm>
            <a:off x="5768688" y="943788"/>
            <a:ext cx="6207760" cy="369332"/>
          </a:xfrm>
          <a:prstGeom prst="rect">
            <a:avLst/>
          </a:prstGeom>
          <a:noFill/>
        </p:spPr>
        <p:txBody>
          <a:bodyPr wrap="square">
            <a:spAutoFit/>
          </a:bodyPr>
          <a:lstStyle/>
          <a:p>
            <a:pPr algn="ctr"/>
            <a:r>
              <a:rPr lang="en-US" altLang="ja-JP" b="0" dirty="0">
                <a:solidFill>
                  <a:srgbClr val="000000"/>
                </a:solidFill>
                <a:effectLst/>
                <a:latin typeface="Consolas" panose="020B0609020204030204" pitchFamily="49" charset="0"/>
              </a:rPr>
              <a:t>cv2.bitwise_and(</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a:t>
            </a:r>
            <a:r>
              <a:rPr lang="en-US" altLang="ja-JP" b="0" dirty="0" err="1">
                <a:solidFill>
                  <a:srgbClr val="000000"/>
                </a:solidFill>
                <a:effectLst/>
                <a:latin typeface="Consolas" panose="020B0609020204030204" pitchFamily="49" charset="0"/>
              </a:rPr>
              <a:t>img_temp</a:t>
            </a:r>
            <a:r>
              <a:rPr lang="en-US" altLang="ja-JP" b="0" dirty="0">
                <a:solidFill>
                  <a:srgbClr val="000000"/>
                </a:solidFill>
                <a:effectLst/>
                <a:latin typeface="Consolas" panose="020B0609020204030204" pitchFamily="49" charset="0"/>
              </a:rPr>
              <a:t>, </a:t>
            </a:r>
            <a:r>
              <a:rPr lang="en-US" altLang="ja-JP" b="0" dirty="0">
                <a:solidFill>
                  <a:srgbClr val="001080"/>
                </a:solidFill>
                <a:effectLst/>
                <a:latin typeface="Consolas" panose="020B0609020204030204" pitchFamily="49" charset="0"/>
              </a:rPr>
              <a:t>mask</a:t>
            </a:r>
            <a:r>
              <a:rPr lang="en-US" altLang="ja-JP" b="0" dirty="0">
                <a:solidFill>
                  <a:srgbClr val="000000"/>
                </a:solidFill>
                <a:effectLst/>
                <a:latin typeface="Consolas" panose="020B0609020204030204" pitchFamily="49" charset="0"/>
              </a:rPr>
              <a:t>=mask)</a:t>
            </a:r>
          </a:p>
        </p:txBody>
      </p:sp>
      <p:sp>
        <p:nvSpPr>
          <p:cNvPr id="25" name="テキスト ボックス 24">
            <a:extLst>
              <a:ext uri="{FF2B5EF4-FFF2-40B4-BE49-F238E27FC236}">
                <a16:creationId xmlns:a16="http://schemas.microsoft.com/office/drawing/2014/main" id="{4E2C133C-0B8A-0A85-D826-8C6F2D5F07A3}"/>
              </a:ext>
            </a:extLst>
          </p:cNvPr>
          <p:cNvSpPr txBox="1"/>
          <p:nvPr/>
        </p:nvSpPr>
        <p:spPr>
          <a:xfrm>
            <a:off x="5918350" y="1273617"/>
            <a:ext cx="6207760" cy="369332"/>
          </a:xfrm>
          <a:prstGeom prst="rect">
            <a:avLst/>
          </a:prstGeom>
          <a:noFill/>
        </p:spPr>
        <p:txBody>
          <a:bodyPr wrap="square">
            <a:spAutoFit/>
          </a:bodyPr>
          <a:lstStyle/>
          <a:p>
            <a:r>
              <a:rPr lang="en-US" altLang="ja-JP" b="0" dirty="0">
                <a:solidFill>
                  <a:srgbClr val="000000"/>
                </a:solidFill>
                <a:effectLst/>
                <a:latin typeface="Consolas" panose="020B0609020204030204" pitchFamily="49" charset="0"/>
              </a:rPr>
              <a:t>cv2.cvtColor(</a:t>
            </a:r>
            <a:r>
              <a:rPr lang="en-US" altLang="ja-JP" b="0" dirty="0" err="1">
                <a:solidFill>
                  <a:srgbClr val="000000"/>
                </a:solidFill>
                <a:effectLst/>
                <a:latin typeface="Consolas" panose="020B0609020204030204" pitchFamily="49" charset="0"/>
              </a:rPr>
              <a:t>img_hsv_masked</a:t>
            </a:r>
            <a:r>
              <a:rPr lang="en-US" altLang="ja-JP" b="0" dirty="0">
                <a:solidFill>
                  <a:srgbClr val="000000"/>
                </a:solidFill>
                <a:effectLst/>
                <a:latin typeface="Consolas" panose="020B0609020204030204" pitchFamily="49" charset="0"/>
              </a:rPr>
              <a:t>, cv2.COLOR_HSV2BGR)</a:t>
            </a:r>
          </a:p>
        </p:txBody>
      </p:sp>
    </p:spTree>
    <p:extLst>
      <p:ext uri="{BB962C8B-B14F-4D97-AF65-F5344CB8AC3E}">
        <p14:creationId xmlns:p14="http://schemas.microsoft.com/office/powerpoint/2010/main" val="42155884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特定の色を画像から抽出　</a:t>
            </a:r>
            <a:r>
              <a:rPr kumimoji="1" lang="en-US" altLang="ja-JP" b="1" dirty="0"/>
              <a:t>orange_pict.py</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6027420" cy="5168570"/>
          </a:xfrm>
        </p:spPr>
        <p:txBody>
          <a:bodyPr>
            <a:normAutofit/>
          </a:bodyPr>
          <a:lstStyle/>
          <a:p>
            <a:r>
              <a:rPr lang="ja-JP" altLang="en-US" b="0" dirty="0">
                <a:solidFill>
                  <a:srgbClr val="000000"/>
                </a:solidFill>
                <a:effectLst/>
                <a:latin typeface="Consolas" panose="020B0609020204030204" pitchFamily="49" charset="0"/>
              </a:rPr>
              <a:t>右の画像からみかんだけを抽出します（遠近法で葉がみかんの形に見えることもあり得るので形状から判別は不可能）</a:t>
            </a:r>
            <a:endParaRPr lang="en-US" altLang="ja-JP" b="0" dirty="0">
              <a:solidFill>
                <a:srgbClr val="000000"/>
              </a:solidFill>
              <a:effectLst/>
              <a:latin typeface="Consolas" panose="020B0609020204030204" pitchFamily="49" charset="0"/>
            </a:endParaRPr>
          </a:p>
          <a:p>
            <a:r>
              <a:rPr lang="en-US" altLang="ja-JP" dirty="0">
                <a:solidFill>
                  <a:srgbClr val="000000"/>
                </a:solidFill>
                <a:latin typeface="Consolas" panose="020B0609020204030204" pitchFamily="49" charset="0"/>
              </a:rPr>
              <a:t>H</a:t>
            </a:r>
            <a:r>
              <a:rPr lang="ja-JP" altLang="en-US" dirty="0">
                <a:solidFill>
                  <a:srgbClr val="000000"/>
                </a:solidFill>
                <a:latin typeface="Consolas" panose="020B0609020204030204" pitchFamily="49" charset="0"/>
              </a:rPr>
              <a:t>が大体</a:t>
            </a:r>
            <a:r>
              <a:rPr lang="en-US" altLang="ja-JP" dirty="0">
                <a:solidFill>
                  <a:srgbClr val="000000"/>
                </a:solidFill>
                <a:latin typeface="Consolas" panose="020B0609020204030204" pitchFamily="49" charset="0"/>
              </a:rPr>
              <a:t>10</a:t>
            </a:r>
            <a:r>
              <a:rPr lang="ja-JP" altLang="en-US" dirty="0">
                <a:solidFill>
                  <a:srgbClr val="000000"/>
                </a:solidFill>
                <a:latin typeface="Consolas" panose="020B0609020204030204" pitchFamily="49" charset="0"/>
              </a:rPr>
              <a:t>～</a:t>
            </a:r>
            <a:r>
              <a:rPr lang="en-US" altLang="ja-JP" dirty="0">
                <a:solidFill>
                  <a:srgbClr val="000000"/>
                </a:solidFill>
                <a:latin typeface="Consolas" panose="020B0609020204030204" pitchFamily="49" charset="0"/>
              </a:rPr>
              <a:t>40</a:t>
            </a:r>
            <a:r>
              <a:rPr lang="ja-JP" altLang="en-US" dirty="0">
                <a:solidFill>
                  <a:srgbClr val="000000"/>
                </a:solidFill>
                <a:latin typeface="Consolas" panose="020B0609020204030204" pitchFamily="49" charset="0"/>
              </a:rPr>
              <a:t>付近で実際にやってみる</a:t>
            </a:r>
            <a:endParaRPr lang="ja-JP" altLang="en-US"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DE5219A3-E2B9-EFCA-FC8C-7743E1D9EF7A}"/>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19B847A-F556-3E05-C6A5-B0C0DB9E978C}"/>
              </a:ext>
            </a:extLst>
          </p:cNvPr>
          <p:cNvSpPr>
            <a:spLocks noGrp="1"/>
          </p:cNvSpPr>
          <p:nvPr>
            <p:ph type="sldNum" sz="quarter" idx="12"/>
          </p:nvPr>
        </p:nvSpPr>
        <p:spPr/>
        <p:txBody>
          <a:bodyPr/>
          <a:lstStyle/>
          <a:p>
            <a:fld id="{82EE47C2-3066-499F-97BE-8094ED607EB5}" type="slidenum">
              <a:rPr kumimoji="1" lang="ja-JP" altLang="en-US" smtClean="0"/>
              <a:t>43</a:t>
            </a:fld>
            <a:endParaRPr kumimoji="1" lang="ja-JP" altLang="en-US"/>
          </a:p>
        </p:txBody>
      </p:sp>
      <p:pic>
        <p:nvPicPr>
          <p:cNvPr id="12290" name="Picture 2" descr="フリー写真画像: 葉、果物、食品、自然、みかん、ミカン、柑橘類、ビタミン">
            <a:extLst>
              <a:ext uri="{FF2B5EF4-FFF2-40B4-BE49-F238E27FC236}">
                <a16:creationId xmlns:a16="http://schemas.microsoft.com/office/drawing/2014/main" id="{53796288-CC2E-D05C-2E4D-F077A30D9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5620" y="1142321"/>
            <a:ext cx="4998720" cy="333248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9815C2B4-6F9F-9BF9-31A1-F1FCB4BA5654}"/>
              </a:ext>
            </a:extLst>
          </p:cNvPr>
          <p:cNvPicPr>
            <a:picLocks noChangeAspect="1"/>
          </p:cNvPicPr>
          <p:nvPr/>
        </p:nvPicPr>
        <p:blipFill>
          <a:blip r:embed="rId4"/>
          <a:stretch>
            <a:fillRect/>
          </a:stretch>
        </p:blipFill>
        <p:spPr>
          <a:xfrm>
            <a:off x="1690560" y="4572590"/>
            <a:ext cx="8967280" cy="1722777"/>
          </a:xfrm>
          <a:prstGeom prst="rect">
            <a:avLst/>
          </a:prstGeom>
        </p:spPr>
      </p:pic>
    </p:spTree>
    <p:extLst>
      <p:ext uri="{BB962C8B-B14F-4D97-AF65-F5344CB8AC3E}">
        <p14:creationId xmlns:p14="http://schemas.microsoft.com/office/powerpoint/2010/main" val="16077847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青色だけ検出するカメラ　</a:t>
            </a:r>
            <a:r>
              <a:rPr kumimoji="1" lang="en-US" altLang="ja-JP" b="1" dirty="0"/>
              <a:t>blue_move.py</a:t>
            </a:r>
            <a:endParaRPr kumimoji="1" lang="ja-JP" altLang="en-US" b="1" dirty="0"/>
          </a:p>
        </p:txBody>
      </p:sp>
      <p:sp>
        <p:nvSpPr>
          <p:cNvPr id="3" name="フッター プレースホルダー 2">
            <a:extLst>
              <a:ext uri="{FF2B5EF4-FFF2-40B4-BE49-F238E27FC236}">
                <a16:creationId xmlns:a16="http://schemas.microsoft.com/office/drawing/2014/main" id="{376587EE-6A96-0CBA-842D-0A60A1890368}"/>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33839C0E-691F-23D2-98CB-15872FCFF313}"/>
              </a:ext>
            </a:extLst>
          </p:cNvPr>
          <p:cNvSpPr>
            <a:spLocks noGrp="1"/>
          </p:cNvSpPr>
          <p:nvPr>
            <p:ph type="sldNum" sz="quarter" idx="12"/>
          </p:nvPr>
        </p:nvSpPr>
        <p:spPr/>
        <p:txBody>
          <a:bodyPr/>
          <a:lstStyle/>
          <a:p>
            <a:fld id="{82EE47C2-3066-499F-97BE-8094ED607EB5}" type="slidenum">
              <a:rPr kumimoji="1" lang="ja-JP" altLang="en-US" smtClean="0"/>
              <a:t>44</a:t>
            </a:fld>
            <a:endParaRPr kumimoji="1" lang="ja-JP" altLang="en-US"/>
          </a:p>
        </p:txBody>
      </p:sp>
      <p:pic>
        <p:nvPicPr>
          <p:cNvPr id="7" name="図 6">
            <a:extLst>
              <a:ext uri="{FF2B5EF4-FFF2-40B4-BE49-F238E27FC236}">
                <a16:creationId xmlns:a16="http://schemas.microsoft.com/office/drawing/2014/main" id="{C2457104-94B2-AEB8-7FE8-8C877CD17B80}"/>
              </a:ext>
            </a:extLst>
          </p:cNvPr>
          <p:cNvPicPr>
            <a:picLocks noChangeAspect="1"/>
          </p:cNvPicPr>
          <p:nvPr/>
        </p:nvPicPr>
        <p:blipFill>
          <a:blip r:embed="rId3"/>
          <a:stretch>
            <a:fillRect/>
          </a:stretch>
        </p:blipFill>
        <p:spPr>
          <a:xfrm>
            <a:off x="1720451" y="1222704"/>
            <a:ext cx="8261749" cy="5032046"/>
          </a:xfrm>
          <a:prstGeom prst="rect">
            <a:avLst/>
          </a:prstGeom>
        </p:spPr>
      </p:pic>
    </p:spTree>
    <p:extLst>
      <p:ext uri="{BB962C8B-B14F-4D97-AF65-F5344CB8AC3E}">
        <p14:creationId xmlns:p14="http://schemas.microsoft.com/office/powerpoint/2010/main" val="1397335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画像の合成　</a:t>
            </a:r>
            <a:r>
              <a:rPr lang="en-US" altLang="ja-JP" b="1" dirty="0"/>
              <a:t>orange_pict_add.py</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sz="2400" b="0" dirty="0">
                <a:solidFill>
                  <a:srgbClr val="000000"/>
                </a:solidFill>
                <a:effectLst/>
                <a:latin typeface="Consolas" panose="020B0609020204030204" pitchFamily="49" charset="0"/>
              </a:rPr>
              <a:t>マスクを利用して合成画像の作成も可能</a:t>
            </a:r>
          </a:p>
        </p:txBody>
      </p:sp>
      <p:sp>
        <p:nvSpPr>
          <p:cNvPr id="4" name="フッター プレースホルダー 3">
            <a:extLst>
              <a:ext uri="{FF2B5EF4-FFF2-40B4-BE49-F238E27FC236}">
                <a16:creationId xmlns:a16="http://schemas.microsoft.com/office/drawing/2014/main" id="{582BC651-D992-3344-442C-0EDB4E8CADCD}"/>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1EFC452A-C8C1-F434-2C97-1972FA9D6FE9}"/>
              </a:ext>
            </a:extLst>
          </p:cNvPr>
          <p:cNvSpPr>
            <a:spLocks noGrp="1"/>
          </p:cNvSpPr>
          <p:nvPr>
            <p:ph type="sldNum" sz="quarter" idx="12"/>
          </p:nvPr>
        </p:nvSpPr>
        <p:spPr/>
        <p:txBody>
          <a:bodyPr/>
          <a:lstStyle/>
          <a:p>
            <a:fld id="{82EE47C2-3066-499F-97BE-8094ED607EB5}" type="slidenum">
              <a:rPr kumimoji="1" lang="ja-JP" altLang="en-US" smtClean="0"/>
              <a:t>45</a:t>
            </a:fld>
            <a:endParaRPr kumimoji="1" lang="ja-JP" altLang="en-US"/>
          </a:p>
        </p:txBody>
      </p:sp>
      <p:pic>
        <p:nvPicPr>
          <p:cNvPr id="8" name="図 7">
            <a:extLst>
              <a:ext uri="{FF2B5EF4-FFF2-40B4-BE49-F238E27FC236}">
                <a16:creationId xmlns:a16="http://schemas.microsoft.com/office/drawing/2014/main" id="{262CEFE2-C7C3-ADB0-327E-A52C11B86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304" y="3060959"/>
            <a:ext cx="2338102" cy="1558735"/>
          </a:xfrm>
          <a:prstGeom prst="rect">
            <a:avLst/>
          </a:prstGeom>
        </p:spPr>
      </p:pic>
      <p:pic>
        <p:nvPicPr>
          <p:cNvPr id="9" name="図 8">
            <a:extLst>
              <a:ext uri="{FF2B5EF4-FFF2-40B4-BE49-F238E27FC236}">
                <a16:creationId xmlns:a16="http://schemas.microsoft.com/office/drawing/2014/main" id="{11C44290-83ED-77A7-EC03-89058CDCA7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3022" y="1914423"/>
            <a:ext cx="2338103" cy="1558735"/>
          </a:xfrm>
          <a:prstGeom prst="rect">
            <a:avLst/>
          </a:prstGeom>
        </p:spPr>
      </p:pic>
      <p:pic>
        <p:nvPicPr>
          <p:cNvPr id="10" name="図 9">
            <a:extLst>
              <a:ext uri="{FF2B5EF4-FFF2-40B4-BE49-F238E27FC236}">
                <a16:creationId xmlns:a16="http://schemas.microsoft.com/office/drawing/2014/main" id="{FEABDE9C-29D3-767C-6B38-1F8C106318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3891" y="1914423"/>
            <a:ext cx="2338104" cy="1558736"/>
          </a:xfrm>
          <a:prstGeom prst="rect">
            <a:avLst/>
          </a:prstGeom>
        </p:spPr>
      </p:pic>
      <p:pic>
        <p:nvPicPr>
          <p:cNvPr id="13" name="図 12">
            <a:extLst>
              <a:ext uri="{FF2B5EF4-FFF2-40B4-BE49-F238E27FC236}">
                <a16:creationId xmlns:a16="http://schemas.microsoft.com/office/drawing/2014/main" id="{953606CB-540F-8C6F-E363-C7AA288705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0928" y="4427255"/>
            <a:ext cx="2338101" cy="1560712"/>
          </a:xfrm>
          <a:prstGeom prst="rect">
            <a:avLst/>
          </a:prstGeom>
        </p:spPr>
      </p:pic>
      <p:pic>
        <p:nvPicPr>
          <p:cNvPr id="15" name="図 14">
            <a:extLst>
              <a:ext uri="{FF2B5EF4-FFF2-40B4-BE49-F238E27FC236}">
                <a16:creationId xmlns:a16="http://schemas.microsoft.com/office/drawing/2014/main" id="{7C69E59D-5049-31A7-0469-891A9A0083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98979" y="2836031"/>
            <a:ext cx="3027586" cy="2018390"/>
          </a:xfrm>
          <a:prstGeom prst="rect">
            <a:avLst/>
          </a:prstGeom>
        </p:spPr>
      </p:pic>
      <p:pic>
        <p:nvPicPr>
          <p:cNvPr id="16" name="図 15">
            <a:extLst>
              <a:ext uri="{FF2B5EF4-FFF2-40B4-BE49-F238E27FC236}">
                <a16:creationId xmlns:a16="http://schemas.microsoft.com/office/drawing/2014/main" id="{A8D59F14-2851-8248-B7C3-7245AD119AD8}"/>
              </a:ext>
            </a:extLst>
          </p:cNvPr>
          <p:cNvPicPr>
            <a:picLocks noChangeAspect="1"/>
          </p:cNvPicPr>
          <p:nvPr/>
        </p:nvPicPr>
        <p:blipFill>
          <a:blip r:embed="rId8">
            <a:clrChange>
              <a:clrFrom>
                <a:srgbClr val="000000"/>
              </a:clrFrom>
              <a:clrTo>
                <a:srgbClr val="000000">
                  <a:alpha val="0"/>
                </a:srgbClr>
              </a:clrTo>
            </a:clrChange>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3090057" y="4427256"/>
            <a:ext cx="2341067" cy="1560711"/>
          </a:xfrm>
          <a:prstGeom prst="rect">
            <a:avLst/>
          </a:prstGeom>
        </p:spPr>
      </p:pic>
      <p:pic>
        <p:nvPicPr>
          <p:cNvPr id="18" name="図 17">
            <a:extLst>
              <a:ext uri="{FF2B5EF4-FFF2-40B4-BE49-F238E27FC236}">
                <a16:creationId xmlns:a16="http://schemas.microsoft.com/office/drawing/2014/main" id="{0F2C21D8-E3FC-9A3F-DE42-3E1B8320DED3}"/>
              </a:ext>
            </a:extLst>
          </p:cNvPr>
          <p:cNvPicPr>
            <a:picLocks noChangeAspect="1"/>
          </p:cNvPicPr>
          <p:nvPr/>
        </p:nvPicPr>
        <p:blipFill>
          <a:blip r:embed="rId8">
            <a:clrChange>
              <a:clrFrom>
                <a:srgbClr val="000000"/>
              </a:clrFrom>
              <a:clrTo>
                <a:srgbClr val="000000">
                  <a:alpha val="0"/>
                </a:srgbClr>
              </a:clrTo>
            </a:clrChange>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6200928" y="4427256"/>
            <a:ext cx="2341067" cy="1560711"/>
          </a:xfrm>
          <a:prstGeom prst="rect">
            <a:avLst/>
          </a:prstGeom>
        </p:spPr>
      </p:pic>
      <p:sp>
        <p:nvSpPr>
          <p:cNvPr id="19" name="テキスト ボックス 18">
            <a:extLst>
              <a:ext uri="{FF2B5EF4-FFF2-40B4-BE49-F238E27FC236}">
                <a16:creationId xmlns:a16="http://schemas.microsoft.com/office/drawing/2014/main" id="{BB6A693E-9597-8BF0-CC45-9FE10B31B7AB}"/>
              </a:ext>
            </a:extLst>
          </p:cNvPr>
          <p:cNvSpPr txBox="1"/>
          <p:nvPr/>
        </p:nvSpPr>
        <p:spPr>
          <a:xfrm>
            <a:off x="551464" y="4619694"/>
            <a:ext cx="1809782" cy="369332"/>
          </a:xfrm>
          <a:prstGeom prst="rect">
            <a:avLst/>
          </a:prstGeom>
          <a:noFill/>
        </p:spPr>
        <p:txBody>
          <a:bodyPr wrap="square" rtlCol="0">
            <a:spAutoFit/>
          </a:bodyPr>
          <a:lstStyle/>
          <a:p>
            <a:pPr algn="ctr"/>
            <a:r>
              <a:rPr lang="ja-JP" altLang="en-US" b="1" dirty="0"/>
              <a:t>元画像</a:t>
            </a:r>
            <a:endParaRPr kumimoji="1" lang="en-US" altLang="ja-JP" b="1" dirty="0"/>
          </a:p>
        </p:txBody>
      </p:sp>
      <p:sp>
        <p:nvSpPr>
          <p:cNvPr id="20" name="矢印: 下 19">
            <a:extLst>
              <a:ext uri="{FF2B5EF4-FFF2-40B4-BE49-F238E27FC236}">
                <a16:creationId xmlns:a16="http://schemas.microsoft.com/office/drawing/2014/main" id="{2F4AB557-3515-2AD9-F1FA-9539E3D25341}"/>
              </a:ext>
            </a:extLst>
          </p:cNvPr>
          <p:cNvSpPr/>
          <p:nvPr/>
        </p:nvSpPr>
        <p:spPr>
          <a:xfrm rot="14467245">
            <a:off x="2508177" y="2404476"/>
            <a:ext cx="441670" cy="690010"/>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3310468-7EB8-E247-8D52-58125E1FD575}"/>
              </a:ext>
            </a:extLst>
          </p:cNvPr>
          <p:cNvSpPr txBox="1"/>
          <p:nvPr/>
        </p:nvSpPr>
        <p:spPr>
          <a:xfrm>
            <a:off x="950803" y="2355889"/>
            <a:ext cx="1809782" cy="369332"/>
          </a:xfrm>
          <a:prstGeom prst="rect">
            <a:avLst/>
          </a:prstGeom>
          <a:noFill/>
        </p:spPr>
        <p:txBody>
          <a:bodyPr wrap="square" rtlCol="0">
            <a:spAutoFit/>
          </a:bodyPr>
          <a:lstStyle/>
          <a:p>
            <a:pPr algn="ctr"/>
            <a:r>
              <a:rPr kumimoji="1" lang="ja-JP" altLang="en-US" b="1" dirty="0"/>
              <a:t>① マスク作成</a:t>
            </a:r>
            <a:endParaRPr kumimoji="1" lang="en-US" altLang="ja-JP" b="1" dirty="0"/>
          </a:p>
        </p:txBody>
      </p:sp>
      <p:sp>
        <p:nvSpPr>
          <p:cNvPr id="22" name="矢印: 下 21">
            <a:extLst>
              <a:ext uri="{FF2B5EF4-FFF2-40B4-BE49-F238E27FC236}">
                <a16:creationId xmlns:a16="http://schemas.microsoft.com/office/drawing/2014/main" id="{68E88DD6-3245-B27C-5D67-4CAD8F38C924}"/>
              </a:ext>
            </a:extLst>
          </p:cNvPr>
          <p:cNvSpPr/>
          <p:nvPr/>
        </p:nvSpPr>
        <p:spPr>
          <a:xfrm>
            <a:off x="3379355" y="3563584"/>
            <a:ext cx="441670" cy="690010"/>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7BEAF8E-720E-1F5D-2D45-902659AA93A8}"/>
              </a:ext>
            </a:extLst>
          </p:cNvPr>
          <p:cNvSpPr txBox="1"/>
          <p:nvPr/>
        </p:nvSpPr>
        <p:spPr>
          <a:xfrm>
            <a:off x="3379355" y="3624502"/>
            <a:ext cx="1897511" cy="646331"/>
          </a:xfrm>
          <a:prstGeom prst="rect">
            <a:avLst/>
          </a:prstGeom>
          <a:noFill/>
        </p:spPr>
        <p:txBody>
          <a:bodyPr wrap="square" rtlCol="0">
            <a:spAutoFit/>
          </a:bodyPr>
          <a:lstStyle/>
          <a:p>
            <a:pPr algn="ctr"/>
            <a:r>
              <a:rPr kumimoji="1" lang="ja-JP" altLang="en-US" b="1" dirty="0"/>
              <a:t>②反転した</a:t>
            </a:r>
            <a:endParaRPr kumimoji="1" lang="en-US" altLang="ja-JP" b="1" dirty="0"/>
          </a:p>
          <a:p>
            <a:pPr algn="ctr"/>
            <a:r>
              <a:rPr lang="ja-JP" altLang="en-US" b="1" dirty="0"/>
              <a:t>　　</a:t>
            </a:r>
            <a:r>
              <a:rPr kumimoji="1" lang="ja-JP" altLang="en-US" b="1" dirty="0"/>
              <a:t>マスク作成</a:t>
            </a:r>
            <a:endParaRPr kumimoji="1" lang="en-US" altLang="ja-JP" b="1" dirty="0"/>
          </a:p>
        </p:txBody>
      </p:sp>
      <p:sp>
        <p:nvSpPr>
          <p:cNvPr id="24" name="矢印: 下 23">
            <a:extLst>
              <a:ext uri="{FF2B5EF4-FFF2-40B4-BE49-F238E27FC236}">
                <a16:creationId xmlns:a16="http://schemas.microsoft.com/office/drawing/2014/main" id="{C378B4CF-8861-C3B2-3294-9335D7095B9A}"/>
              </a:ext>
            </a:extLst>
          </p:cNvPr>
          <p:cNvSpPr/>
          <p:nvPr/>
        </p:nvSpPr>
        <p:spPr>
          <a:xfrm rot="16200000">
            <a:off x="5596673" y="2531897"/>
            <a:ext cx="441670" cy="458985"/>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下 24">
            <a:extLst>
              <a:ext uri="{FF2B5EF4-FFF2-40B4-BE49-F238E27FC236}">
                <a16:creationId xmlns:a16="http://schemas.microsoft.com/office/drawing/2014/main" id="{9232EBED-6ACA-A190-90B7-ADFB52F0EC84}"/>
              </a:ext>
            </a:extLst>
          </p:cNvPr>
          <p:cNvSpPr/>
          <p:nvPr/>
        </p:nvSpPr>
        <p:spPr>
          <a:xfrm rot="16200000">
            <a:off x="5596674" y="5083368"/>
            <a:ext cx="441670" cy="458985"/>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54212E8-D64B-9467-3510-03F144ABCA92}"/>
              </a:ext>
            </a:extLst>
          </p:cNvPr>
          <p:cNvSpPr txBox="1"/>
          <p:nvPr/>
        </p:nvSpPr>
        <p:spPr>
          <a:xfrm>
            <a:off x="6047896" y="3607263"/>
            <a:ext cx="2353521" cy="646331"/>
          </a:xfrm>
          <a:prstGeom prst="rect">
            <a:avLst/>
          </a:prstGeom>
          <a:noFill/>
        </p:spPr>
        <p:txBody>
          <a:bodyPr wrap="square" rtlCol="0">
            <a:spAutoFit/>
          </a:bodyPr>
          <a:lstStyle/>
          <a:p>
            <a:pPr algn="ctr"/>
            <a:r>
              <a:rPr kumimoji="1" lang="ja-JP" altLang="en-US" b="1" dirty="0"/>
              <a:t>③ 元画像と合成画像にマスクを適用</a:t>
            </a:r>
            <a:endParaRPr kumimoji="1" lang="en-US" altLang="ja-JP" b="1" dirty="0"/>
          </a:p>
        </p:txBody>
      </p:sp>
      <p:sp>
        <p:nvSpPr>
          <p:cNvPr id="27" name="矢印: 下 26">
            <a:extLst>
              <a:ext uri="{FF2B5EF4-FFF2-40B4-BE49-F238E27FC236}">
                <a16:creationId xmlns:a16="http://schemas.microsoft.com/office/drawing/2014/main" id="{F0B01C6A-3EAE-9889-7C5E-4B7081111123}"/>
              </a:ext>
            </a:extLst>
          </p:cNvPr>
          <p:cNvSpPr/>
          <p:nvPr/>
        </p:nvSpPr>
        <p:spPr>
          <a:xfrm rot="18278095">
            <a:off x="8598169" y="3441898"/>
            <a:ext cx="441670" cy="458985"/>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1F8EA71B-DC5C-044E-A3FF-26CB40E5EDA4}"/>
              </a:ext>
            </a:extLst>
          </p:cNvPr>
          <p:cNvSpPr/>
          <p:nvPr/>
        </p:nvSpPr>
        <p:spPr>
          <a:xfrm rot="14360963">
            <a:off x="8593847" y="3999410"/>
            <a:ext cx="441670" cy="458985"/>
          </a:xfrm>
          <a:prstGeom prst="downArrow">
            <a:avLst>
              <a:gd name="adj1" fmla="val 36159"/>
              <a:gd name="adj2" fmla="val 363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5D02B23C-7D05-B193-D1E9-7BA38D9115FC}"/>
              </a:ext>
            </a:extLst>
          </p:cNvPr>
          <p:cNvSpPr txBox="1"/>
          <p:nvPr/>
        </p:nvSpPr>
        <p:spPr>
          <a:xfrm>
            <a:off x="9264057" y="4997244"/>
            <a:ext cx="2697430" cy="923330"/>
          </a:xfrm>
          <a:prstGeom prst="rect">
            <a:avLst/>
          </a:prstGeom>
          <a:noFill/>
        </p:spPr>
        <p:txBody>
          <a:bodyPr wrap="square" rtlCol="0">
            <a:spAutoFit/>
          </a:bodyPr>
          <a:lstStyle/>
          <a:p>
            <a:pPr algn="ctr"/>
            <a:r>
              <a:rPr kumimoji="1" lang="ja-JP" altLang="en-US" b="1" dirty="0"/>
              <a:t>③ ２つの画像の各</a:t>
            </a:r>
            <a:r>
              <a:rPr kumimoji="1" lang="en-US" altLang="ja-JP" b="1" dirty="0"/>
              <a:t>pixel</a:t>
            </a:r>
            <a:r>
              <a:rPr kumimoji="1" lang="ja-JP" altLang="en-US" b="1" dirty="0"/>
              <a:t>の値を足し合わせる</a:t>
            </a:r>
            <a:endParaRPr kumimoji="1" lang="en-US" altLang="ja-JP" b="1" dirty="0"/>
          </a:p>
          <a:p>
            <a:pPr algn="ctr"/>
            <a:r>
              <a:rPr lang="ja-JP" altLang="en-US" b="1" dirty="0"/>
              <a:t>（黒い部分は</a:t>
            </a:r>
            <a:r>
              <a:rPr lang="en-US" altLang="ja-JP" b="1" dirty="0"/>
              <a:t>0</a:t>
            </a:r>
            <a:r>
              <a:rPr lang="ja-JP" altLang="en-US" b="1" dirty="0"/>
              <a:t>）</a:t>
            </a:r>
            <a:endParaRPr kumimoji="1" lang="en-US" altLang="ja-JP" b="1" dirty="0"/>
          </a:p>
        </p:txBody>
      </p:sp>
    </p:spTree>
    <p:extLst>
      <p:ext uri="{BB962C8B-B14F-4D97-AF65-F5344CB8AC3E}">
        <p14:creationId xmlns:p14="http://schemas.microsoft.com/office/powerpoint/2010/main" val="1205536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A35FE8-BEF1-6AA6-F997-5DAEB397D064}"/>
              </a:ext>
            </a:extLst>
          </p:cNvPr>
          <p:cNvSpPr>
            <a:spLocks noGrp="1"/>
          </p:cNvSpPr>
          <p:nvPr>
            <p:ph type="title"/>
          </p:nvPr>
        </p:nvSpPr>
        <p:spPr/>
        <p:txBody>
          <a:bodyPr/>
          <a:lstStyle/>
          <a:p>
            <a:r>
              <a:rPr lang="ja-JP" altLang="en-US" dirty="0"/>
              <a:t>練習</a:t>
            </a:r>
            <a:endParaRPr kumimoji="1" lang="ja-JP" altLang="en-US" dirty="0"/>
          </a:p>
        </p:txBody>
      </p:sp>
      <p:sp>
        <p:nvSpPr>
          <p:cNvPr id="7" name="コンテンツ プレースホルダー 6">
            <a:extLst>
              <a:ext uri="{FF2B5EF4-FFF2-40B4-BE49-F238E27FC236}">
                <a16:creationId xmlns:a16="http://schemas.microsoft.com/office/drawing/2014/main" id="{E21CAB04-E5AD-81EE-8B86-284303433659}"/>
              </a:ext>
            </a:extLst>
          </p:cNvPr>
          <p:cNvSpPr>
            <a:spLocks noGrp="1"/>
          </p:cNvSpPr>
          <p:nvPr>
            <p:ph idx="1"/>
          </p:nvPr>
        </p:nvSpPr>
        <p:spPr>
          <a:xfrm>
            <a:off x="838200" y="1452880"/>
            <a:ext cx="10515600" cy="4724083"/>
          </a:xfrm>
        </p:spPr>
        <p:txBody>
          <a:bodyPr/>
          <a:lstStyle/>
          <a:p>
            <a:r>
              <a:rPr lang="ja-JP" altLang="en-US" dirty="0"/>
              <a:t>クロマキー合成カメラを作成します。</a:t>
            </a:r>
            <a:endParaRPr lang="en-US" altLang="ja-JP" dirty="0"/>
          </a:p>
          <a:p>
            <a:r>
              <a:rPr lang="ja-JP" altLang="en-US" dirty="0"/>
              <a:t>特定の色をマスクし、別の画像をのっけてラズパイカメラを起動してください</a:t>
            </a:r>
            <a:endParaRPr lang="en-US" altLang="ja-JP" dirty="0"/>
          </a:p>
        </p:txBody>
      </p:sp>
      <p:sp>
        <p:nvSpPr>
          <p:cNvPr id="8" name="フッター プレースホルダー 7">
            <a:extLst>
              <a:ext uri="{FF2B5EF4-FFF2-40B4-BE49-F238E27FC236}">
                <a16:creationId xmlns:a16="http://schemas.microsoft.com/office/drawing/2014/main" id="{5ABC7AE2-9DAC-4CD9-572C-868C7E3C50B1}"/>
              </a:ext>
            </a:extLst>
          </p:cNvPr>
          <p:cNvSpPr>
            <a:spLocks noGrp="1"/>
          </p:cNvSpPr>
          <p:nvPr>
            <p:ph type="ftr" sz="quarter" idx="11"/>
          </p:nvPr>
        </p:nvSpPr>
        <p:spPr/>
        <p:txBody>
          <a:bodyPr/>
          <a:lstStyle/>
          <a:p>
            <a:r>
              <a:rPr kumimoji="1" lang="ja-JP" altLang="en-US"/>
              <a:t>ポリテクセンター栃木</a:t>
            </a:r>
          </a:p>
        </p:txBody>
      </p:sp>
      <p:sp>
        <p:nvSpPr>
          <p:cNvPr id="9" name="スライド番号プレースホルダー 8">
            <a:extLst>
              <a:ext uri="{FF2B5EF4-FFF2-40B4-BE49-F238E27FC236}">
                <a16:creationId xmlns:a16="http://schemas.microsoft.com/office/drawing/2014/main" id="{A1FAAE8F-E8A0-B057-2717-8299E7ABB40A}"/>
              </a:ext>
            </a:extLst>
          </p:cNvPr>
          <p:cNvSpPr>
            <a:spLocks noGrp="1"/>
          </p:cNvSpPr>
          <p:nvPr>
            <p:ph type="sldNum" sz="quarter" idx="12"/>
          </p:nvPr>
        </p:nvSpPr>
        <p:spPr/>
        <p:txBody>
          <a:bodyPr/>
          <a:lstStyle/>
          <a:p>
            <a:fld id="{82EE47C2-3066-499F-97BE-8094ED607EB5}" type="slidenum">
              <a:rPr kumimoji="1" lang="ja-JP" altLang="en-US" smtClean="0"/>
              <a:t>46</a:t>
            </a:fld>
            <a:endParaRPr kumimoji="1" lang="ja-JP" altLang="en-US"/>
          </a:p>
        </p:txBody>
      </p:sp>
    </p:spTree>
    <p:extLst>
      <p:ext uri="{BB962C8B-B14F-4D97-AF65-F5344CB8AC3E}">
        <p14:creationId xmlns:p14="http://schemas.microsoft.com/office/powerpoint/2010/main" val="1213802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44FB98-1CAE-82CD-8A55-2A13331EC614}"/>
              </a:ext>
            </a:extLst>
          </p:cNvPr>
          <p:cNvSpPr>
            <a:spLocks noGrp="1"/>
          </p:cNvSpPr>
          <p:nvPr>
            <p:ph type="title"/>
          </p:nvPr>
        </p:nvSpPr>
        <p:spPr/>
        <p:txBody>
          <a:bodyPr/>
          <a:lstStyle/>
          <a:p>
            <a:r>
              <a:rPr kumimoji="1" lang="ja-JP" altLang="en-US" dirty="0"/>
              <a:t>３章　形状による画像処理</a:t>
            </a:r>
          </a:p>
        </p:txBody>
      </p:sp>
      <p:sp>
        <p:nvSpPr>
          <p:cNvPr id="3" name="コンテンツ プレースホルダー 2">
            <a:extLst>
              <a:ext uri="{FF2B5EF4-FFF2-40B4-BE49-F238E27FC236}">
                <a16:creationId xmlns:a16="http://schemas.microsoft.com/office/drawing/2014/main" id="{865F102E-E5C5-51EF-40EC-47FEEE6948FC}"/>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28344E53-A4AD-5645-D15B-CBCC6EB289C3}"/>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B6DF9005-0827-F030-B4C9-615287D9A010}"/>
              </a:ext>
            </a:extLst>
          </p:cNvPr>
          <p:cNvSpPr>
            <a:spLocks noGrp="1"/>
          </p:cNvSpPr>
          <p:nvPr>
            <p:ph type="sldNum" sz="quarter" idx="12"/>
          </p:nvPr>
        </p:nvSpPr>
        <p:spPr/>
        <p:txBody>
          <a:bodyPr/>
          <a:lstStyle/>
          <a:p>
            <a:fld id="{82EE47C2-3066-499F-97BE-8094ED607EB5}" type="slidenum">
              <a:rPr kumimoji="1" lang="ja-JP" altLang="en-US" smtClean="0"/>
              <a:t>47</a:t>
            </a:fld>
            <a:endParaRPr kumimoji="1" lang="ja-JP" altLang="en-US"/>
          </a:p>
        </p:txBody>
      </p:sp>
    </p:spTree>
    <p:extLst>
      <p:ext uri="{BB962C8B-B14F-4D97-AF65-F5344CB8AC3E}">
        <p14:creationId xmlns:p14="http://schemas.microsoft.com/office/powerpoint/2010/main" val="376351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形状 とは何か</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lnSpcReduction="10000"/>
          </a:bodyPr>
          <a:lstStyle/>
          <a:p>
            <a:r>
              <a:rPr lang="ja-JP" altLang="en-US" dirty="0">
                <a:solidFill>
                  <a:srgbClr val="000000"/>
                </a:solidFill>
                <a:latin typeface="Consolas" panose="020B0609020204030204" pitchFamily="49" charset="0"/>
              </a:rPr>
              <a:t>形状とは、丸い・四角い・ギザギザ・輪郭がなめらか</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などの「見た目の形そのもの」</a:t>
            </a:r>
            <a:endParaRPr lang="en-US" altLang="ja-JP" dirty="0">
              <a:solidFill>
                <a:srgbClr val="000000"/>
              </a:solidFill>
              <a:latin typeface="Consolas" panose="020B0609020204030204" pitchFamily="49" charset="0"/>
            </a:endParaRPr>
          </a:p>
          <a:p>
            <a:r>
              <a:rPr lang="ja-JP" altLang="en-US" b="0" dirty="0">
                <a:solidFill>
                  <a:srgbClr val="000000"/>
                </a:solidFill>
                <a:effectLst/>
                <a:latin typeface="Consolas" panose="020B0609020204030204" pitchFamily="49" charset="0"/>
              </a:rPr>
              <a:t>プログラムはそんなあいまいなものを扱えない！</a:t>
            </a:r>
            <a:endParaRPr lang="en-US" altLang="ja-JP" b="0" dirty="0">
              <a:solidFill>
                <a:srgbClr val="000000"/>
              </a:solidFill>
              <a:effectLst/>
              <a:latin typeface="Consolas" panose="020B0609020204030204" pitchFamily="49" charset="0"/>
            </a:endParaRPr>
          </a:p>
          <a:p>
            <a:r>
              <a:rPr lang="ja-JP" altLang="en-US" dirty="0">
                <a:solidFill>
                  <a:srgbClr val="000000"/>
                </a:solidFill>
                <a:latin typeface="Consolas" panose="020B0609020204030204" pitchFamily="49" charset="0"/>
              </a:rPr>
              <a:t>代わりに、形を数値で表した指標である</a:t>
            </a:r>
            <a:r>
              <a:rPr lang="ja-JP" altLang="en-US" b="1" dirty="0">
                <a:solidFill>
                  <a:srgbClr val="000000"/>
                </a:solidFill>
                <a:latin typeface="Consolas" panose="020B0609020204030204" pitchFamily="49" charset="0"/>
              </a:rPr>
              <a:t>形状特徴パラメータ</a:t>
            </a:r>
            <a:r>
              <a:rPr lang="ja-JP" altLang="en-US" dirty="0">
                <a:solidFill>
                  <a:srgbClr val="000000"/>
                </a:solidFill>
                <a:latin typeface="Consolas" panose="020B0609020204030204" pitchFamily="49" charset="0"/>
              </a:rPr>
              <a:t>を利用する</a:t>
            </a:r>
            <a:endParaRPr lang="en-US" altLang="ja-JP" dirty="0">
              <a:solidFill>
                <a:srgbClr val="000000"/>
              </a:solidFill>
              <a:latin typeface="Consolas" panose="020B0609020204030204" pitchFamily="49" charset="0"/>
            </a:endParaRPr>
          </a:p>
          <a:p>
            <a:pPr marL="0" indent="0">
              <a:buNone/>
            </a:pPr>
            <a:r>
              <a:rPr lang="ja-JP" altLang="en-US" b="0" dirty="0">
                <a:solidFill>
                  <a:srgbClr val="000000"/>
                </a:solidFill>
                <a:effectLst/>
                <a:latin typeface="Consolas" panose="020B0609020204030204" pitchFamily="49" charset="0"/>
              </a:rPr>
              <a:t>例↓</a:t>
            </a:r>
            <a:endParaRPr lang="en-US" altLang="ja-JP" b="0" dirty="0">
              <a:solidFill>
                <a:srgbClr val="000000"/>
              </a:solidFill>
              <a:effectLst/>
              <a:latin typeface="Consolas" panose="020B0609020204030204" pitchFamily="49" charset="0"/>
            </a:endParaRPr>
          </a:p>
          <a:p>
            <a:pPr marL="0" indent="0">
              <a:buNone/>
            </a:pPr>
            <a:r>
              <a:rPr lang="ja-JP" altLang="en-US" b="1" dirty="0">
                <a:solidFill>
                  <a:srgbClr val="000000"/>
                </a:solidFill>
                <a:latin typeface="Consolas" panose="020B0609020204030204" pitchFamily="49" charset="0"/>
              </a:rPr>
              <a:t>面積</a:t>
            </a: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 </a:t>
            </a:r>
            <a:r>
              <a:rPr lang="ja-JP" altLang="en-US" dirty="0">
                <a:solidFill>
                  <a:srgbClr val="000000"/>
                </a:solidFill>
                <a:latin typeface="Consolas" panose="020B0609020204030204" pitchFamily="49" charset="0"/>
              </a:rPr>
              <a:t>エッジ内の</a:t>
            </a:r>
            <a:r>
              <a:rPr lang="en-US" altLang="ja-JP" dirty="0">
                <a:solidFill>
                  <a:srgbClr val="000000"/>
                </a:solidFill>
                <a:latin typeface="Consolas" panose="020B0609020204030204" pitchFamily="49" charset="0"/>
              </a:rPr>
              <a:t>pixel</a:t>
            </a:r>
            <a:r>
              <a:rPr lang="ja-JP" altLang="en-US" dirty="0">
                <a:solidFill>
                  <a:srgbClr val="000000"/>
                </a:solidFill>
                <a:latin typeface="Consolas" panose="020B0609020204030204" pitchFamily="49" charset="0"/>
              </a:rPr>
              <a:t>数</a:t>
            </a:r>
            <a:endParaRPr lang="en-US" altLang="ja-JP" dirty="0">
              <a:solidFill>
                <a:srgbClr val="000000"/>
              </a:solidFill>
              <a:latin typeface="Consolas" panose="020B0609020204030204" pitchFamily="49" charset="0"/>
            </a:endParaRPr>
          </a:p>
          <a:p>
            <a:pPr marL="0" indent="0">
              <a:buNone/>
            </a:pPr>
            <a:r>
              <a:rPr lang="ja-JP" altLang="en-US" b="1" dirty="0">
                <a:solidFill>
                  <a:srgbClr val="000000"/>
                </a:solidFill>
                <a:effectLst/>
                <a:latin typeface="Consolas" panose="020B0609020204030204" pitchFamily="49" charset="0"/>
              </a:rPr>
              <a:t>周囲長</a:t>
            </a:r>
            <a:r>
              <a:rPr lang="ja-JP" altLang="en-US" b="0" dirty="0">
                <a:solidFill>
                  <a:srgbClr val="000000"/>
                </a:solidFill>
                <a:effectLst/>
                <a:latin typeface="Consolas" panose="020B0609020204030204" pitchFamily="49" charset="0"/>
              </a:rPr>
              <a:t> </a:t>
            </a: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エッジの</a:t>
            </a:r>
            <a:r>
              <a:rPr lang="en-US" altLang="ja-JP" b="0" dirty="0">
                <a:solidFill>
                  <a:srgbClr val="000000"/>
                </a:solidFill>
                <a:effectLst/>
                <a:latin typeface="Consolas" panose="020B0609020204030204" pitchFamily="49" charset="0"/>
              </a:rPr>
              <a:t>pixel</a:t>
            </a:r>
            <a:r>
              <a:rPr lang="ja-JP" altLang="en-US" b="0" dirty="0">
                <a:solidFill>
                  <a:srgbClr val="000000"/>
                </a:solidFill>
                <a:effectLst/>
                <a:latin typeface="Consolas" panose="020B0609020204030204" pitchFamily="49" charset="0"/>
              </a:rPr>
              <a:t>数</a:t>
            </a:r>
            <a:endParaRPr lang="en-US" altLang="ja-JP" b="0" dirty="0">
              <a:solidFill>
                <a:srgbClr val="000000"/>
              </a:solidFill>
              <a:effectLst/>
              <a:latin typeface="Consolas" panose="020B0609020204030204" pitchFamily="49" charset="0"/>
            </a:endParaRPr>
          </a:p>
          <a:p>
            <a:pPr marL="0" indent="0">
              <a:buNone/>
            </a:pPr>
            <a:r>
              <a:rPr lang="ja-JP" altLang="en-US" b="1" dirty="0">
                <a:solidFill>
                  <a:srgbClr val="000000"/>
                </a:solidFill>
                <a:latin typeface="Consolas" panose="020B0609020204030204" pitchFamily="49" charset="0"/>
              </a:rPr>
              <a:t>円形度</a:t>
            </a: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 </a:t>
            </a:r>
            <a:r>
              <a:rPr lang="ja-JP" altLang="en-US" dirty="0">
                <a:solidFill>
                  <a:srgbClr val="000000"/>
                </a:solidFill>
                <a:latin typeface="Consolas" panose="020B0609020204030204" pitchFamily="49" charset="0"/>
              </a:rPr>
              <a:t>対象がどれだけ円に近い形かの指標　</a:t>
            </a:r>
            <a:r>
              <a:rPr lang="en-US" altLang="ja-JP" sz="1800" dirty="0">
                <a:solidFill>
                  <a:srgbClr val="000000"/>
                </a:solidFill>
                <a:latin typeface="Consolas" panose="020B0609020204030204" pitchFamily="49" charset="0"/>
              </a:rPr>
              <a:t>4π*(</a:t>
            </a:r>
            <a:r>
              <a:rPr lang="ja-JP" altLang="en-US" sz="1800" dirty="0">
                <a:solidFill>
                  <a:srgbClr val="000000"/>
                </a:solidFill>
                <a:latin typeface="Consolas" panose="020B0609020204030204" pitchFamily="49" charset="0"/>
              </a:rPr>
              <a:t>面積</a:t>
            </a:r>
            <a:r>
              <a:rPr lang="en-US" altLang="ja-JP" sz="1800" dirty="0">
                <a:solidFill>
                  <a:srgbClr val="000000"/>
                </a:solidFill>
                <a:latin typeface="Consolas" panose="020B0609020204030204" pitchFamily="49" charset="0"/>
              </a:rPr>
              <a:t>)/(</a:t>
            </a:r>
            <a:r>
              <a:rPr lang="ja-JP" altLang="en-US" sz="1800" dirty="0">
                <a:solidFill>
                  <a:srgbClr val="000000"/>
                </a:solidFill>
                <a:latin typeface="Consolas" panose="020B0609020204030204" pitchFamily="49" charset="0"/>
              </a:rPr>
              <a:t>周囲長</a:t>
            </a:r>
            <a:r>
              <a:rPr lang="en-US" altLang="ja-JP" sz="1800" dirty="0">
                <a:solidFill>
                  <a:srgbClr val="000000"/>
                </a:solidFill>
                <a:latin typeface="Consolas" panose="020B0609020204030204" pitchFamily="49" charset="0"/>
              </a:rPr>
              <a:t>)^2</a:t>
            </a:r>
          </a:p>
          <a:p>
            <a:pPr marL="0" indent="0">
              <a:buNone/>
            </a:pPr>
            <a:r>
              <a:rPr lang="ja-JP" altLang="en-US" b="0" dirty="0">
                <a:solidFill>
                  <a:srgbClr val="000000"/>
                </a:solidFill>
                <a:effectLst/>
                <a:latin typeface="Consolas" panose="020B0609020204030204" pitchFamily="49" charset="0"/>
              </a:rPr>
              <a:t>などなどたくさん。</a:t>
            </a:r>
            <a:r>
              <a:rPr lang="ja-JP" altLang="en-US" dirty="0">
                <a:solidFill>
                  <a:srgbClr val="000000"/>
                </a:solidFill>
                <a:latin typeface="Consolas" panose="020B0609020204030204" pitchFamily="49" charset="0"/>
              </a:rPr>
              <a:t>形状特徴パラメータを使って対象の形状に関するデータを検知できる</a:t>
            </a:r>
            <a:endParaRPr lang="ja-JP" altLang="en-US"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967BC2A5-0980-2E18-6B1D-54CE9CC00A2A}"/>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2D662B0C-C4D0-D78F-0378-53B363C4E793}"/>
              </a:ext>
            </a:extLst>
          </p:cNvPr>
          <p:cNvSpPr>
            <a:spLocks noGrp="1"/>
          </p:cNvSpPr>
          <p:nvPr>
            <p:ph type="sldNum" sz="quarter" idx="12"/>
          </p:nvPr>
        </p:nvSpPr>
        <p:spPr/>
        <p:txBody>
          <a:bodyPr/>
          <a:lstStyle/>
          <a:p>
            <a:fld id="{82EE47C2-3066-499F-97BE-8094ED607EB5}" type="slidenum">
              <a:rPr kumimoji="1" lang="ja-JP" altLang="en-US" smtClean="0"/>
              <a:t>48</a:t>
            </a:fld>
            <a:endParaRPr kumimoji="1" lang="ja-JP" altLang="en-US"/>
          </a:p>
        </p:txBody>
      </p:sp>
    </p:spTree>
    <p:extLst>
      <p:ext uri="{BB962C8B-B14F-4D97-AF65-F5344CB8AC3E}">
        <p14:creationId xmlns:p14="http://schemas.microsoft.com/office/powerpoint/2010/main" val="31325089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形状特徴パラメータの算出</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pPr marL="0" indent="0">
              <a:buNone/>
            </a:pPr>
            <a:r>
              <a:rPr lang="ja-JP" altLang="en-US" b="0" dirty="0">
                <a:solidFill>
                  <a:srgbClr val="000000"/>
                </a:solidFill>
                <a:effectLst/>
                <a:latin typeface="Consolas" panose="020B0609020204030204" pitchFamily="49" charset="0"/>
              </a:rPr>
              <a:t>形状特徴パラメータを算出するには</a:t>
            </a:r>
            <a:endParaRPr lang="en-US" altLang="ja-JP" b="0" dirty="0">
              <a:solidFill>
                <a:srgbClr val="000000"/>
              </a:solidFill>
              <a:effectLst/>
              <a:latin typeface="Consolas" panose="020B0609020204030204" pitchFamily="49" charset="0"/>
            </a:endParaRPr>
          </a:p>
          <a:p>
            <a:pPr marL="0" indent="0" algn="ctr">
              <a:buNone/>
            </a:pPr>
            <a:r>
              <a:rPr lang="ja-JP" altLang="en-US" dirty="0">
                <a:solidFill>
                  <a:srgbClr val="000000"/>
                </a:solidFill>
                <a:latin typeface="Consolas" panose="020B0609020204030204" pitchFamily="49" charset="0"/>
              </a:rPr>
              <a:t>対象物とそれ以外を明確にする（</a:t>
            </a:r>
            <a:r>
              <a:rPr lang="ja-JP" altLang="en-US" b="1" dirty="0">
                <a:solidFill>
                  <a:srgbClr val="000000"/>
                </a:solidFill>
                <a:latin typeface="Consolas" panose="020B0609020204030204" pitchFamily="49" charset="0"/>
              </a:rPr>
              <a:t>２値化処理</a:t>
            </a:r>
            <a:r>
              <a:rPr lang="ja-JP" altLang="en-US" dirty="0">
                <a:solidFill>
                  <a:srgbClr val="000000"/>
                </a:solidFill>
                <a:latin typeface="Consolas" panose="020B0609020204030204" pitchFamily="49" charset="0"/>
              </a:rPr>
              <a:t>）</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という作業が必須。</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２値化処理で完全な白黒画像になったものを</a:t>
            </a:r>
            <a:r>
              <a:rPr lang="ja-JP" altLang="en-US" b="1" dirty="0">
                <a:solidFill>
                  <a:srgbClr val="000000"/>
                </a:solidFill>
                <a:latin typeface="Consolas" panose="020B0609020204030204" pitchFamily="49" charset="0"/>
              </a:rPr>
              <a:t>２値画像</a:t>
            </a:r>
            <a:r>
              <a:rPr lang="ja-JP" altLang="en-US" dirty="0">
                <a:solidFill>
                  <a:srgbClr val="000000"/>
                </a:solidFill>
                <a:latin typeface="Consolas" panose="020B0609020204030204" pitchFamily="49" charset="0"/>
              </a:rPr>
              <a:t>という</a:t>
            </a:r>
            <a:endParaRPr lang="en-US" altLang="ja-JP" dirty="0">
              <a:solidFill>
                <a:srgbClr val="000000"/>
              </a:solidFill>
              <a:latin typeface="Consolas" panose="020B0609020204030204" pitchFamily="49" charset="0"/>
            </a:endParaRPr>
          </a:p>
        </p:txBody>
      </p:sp>
      <p:pic>
        <p:nvPicPr>
          <p:cNvPr id="17410" name="Picture 2">
            <a:extLst>
              <a:ext uri="{FF2B5EF4-FFF2-40B4-BE49-F238E27FC236}">
                <a16:creationId xmlns:a16="http://schemas.microsoft.com/office/drawing/2014/main" id="{D6CE05A8-2F3B-CF33-0196-716C4B5F9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54" y="3649717"/>
            <a:ext cx="421005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a:extLst>
              <a:ext uri="{FF2B5EF4-FFF2-40B4-BE49-F238E27FC236}">
                <a16:creationId xmlns:a16="http://schemas.microsoft.com/office/drawing/2014/main" id="{6B95EB03-4A70-9082-741A-49B907EEF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7540" y="3649717"/>
            <a:ext cx="4210050" cy="3048000"/>
          </a:xfrm>
          <a:prstGeom prst="rect">
            <a:avLst/>
          </a:prstGeom>
          <a:noFill/>
          <a:extLst>
            <a:ext uri="{909E8E84-426E-40DD-AFC4-6F175D3DCCD1}">
              <a14:hiddenFill xmlns:a14="http://schemas.microsoft.com/office/drawing/2010/main">
                <a:solidFill>
                  <a:srgbClr val="FFFFFF"/>
                </a:solidFill>
              </a14:hiddenFill>
            </a:ext>
          </a:extLst>
        </p:spPr>
      </p:pic>
      <p:sp>
        <p:nvSpPr>
          <p:cNvPr id="3" name="矢印: 下 2">
            <a:extLst>
              <a:ext uri="{FF2B5EF4-FFF2-40B4-BE49-F238E27FC236}">
                <a16:creationId xmlns:a16="http://schemas.microsoft.com/office/drawing/2014/main" id="{CBB72F11-E06E-6F4D-994F-6EBBBA6A363F}"/>
              </a:ext>
            </a:extLst>
          </p:cNvPr>
          <p:cNvSpPr/>
          <p:nvPr/>
        </p:nvSpPr>
        <p:spPr>
          <a:xfrm rot="16200000">
            <a:off x="5411512" y="4171620"/>
            <a:ext cx="367862" cy="200419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a:extLst>
              <a:ext uri="{FF2B5EF4-FFF2-40B4-BE49-F238E27FC236}">
                <a16:creationId xmlns:a16="http://schemas.microsoft.com/office/drawing/2014/main" id="{DC7ABEC9-C840-0AB8-4670-EC44D0A0B0A4}"/>
              </a:ext>
            </a:extLst>
          </p:cNvPr>
          <p:cNvSpPr>
            <a:spLocks noGrp="1"/>
          </p:cNvSpPr>
          <p:nvPr>
            <p:ph type="ftr" sz="quarter" idx="11"/>
          </p:nvPr>
        </p:nvSpPr>
        <p:spPr/>
        <p:txBody>
          <a:bodyPr/>
          <a:lstStyle/>
          <a:p>
            <a:r>
              <a:rPr kumimoji="1" lang="ja-JP" altLang="en-US"/>
              <a:t>ポリテクセンター栃木</a:t>
            </a:r>
          </a:p>
        </p:txBody>
      </p:sp>
      <p:sp>
        <p:nvSpPr>
          <p:cNvPr id="6" name="スライド番号プレースホルダー 5">
            <a:extLst>
              <a:ext uri="{FF2B5EF4-FFF2-40B4-BE49-F238E27FC236}">
                <a16:creationId xmlns:a16="http://schemas.microsoft.com/office/drawing/2014/main" id="{3895ACAB-2B96-E498-4E82-3376BE026C47}"/>
              </a:ext>
            </a:extLst>
          </p:cNvPr>
          <p:cNvSpPr>
            <a:spLocks noGrp="1"/>
          </p:cNvSpPr>
          <p:nvPr>
            <p:ph type="sldNum" sz="quarter" idx="12"/>
          </p:nvPr>
        </p:nvSpPr>
        <p:spPr/>
        <p:txBody>
          <a:bodyPr/>
          <a:lstStyle/>
          <a:p>
            <a:fld id="{82EE47C2-3066-499F-97BE-8094ED607EB5}" type="slidenum">
              <a:rPr kumimoji="1" lang="ja-JP" altLang="en-US" smtClean="0"/>
              <a:t>49</a:t>
            </a:fld>
            <a:endParaRPr kumimoji="1" lang="ja-JP" altLang="en-US"/>
          </a:p>
        </p:txBody>
      </p:sp>
    </p:spTree>
    <p:extLst>
      <p:ext uri="{BB962C8B-B14F-4D97-AF65-F5344CB8AC3E}">
        <p14:creationId xmlns:p14="http://schemas.microsoft.com/office/powerpoint/2010/main" val="998005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グレースケール → </a:t>
            </a:r>
            <a:r>
              <a:rPr lang="en-US" altLang="ja-JP" b="1" dirty="0"/>
              <a:t>2</a:t>
            </a:r>
            <a:r>
              <a:rPr lang="ja-JP" altLang="en-US" b="1" dirty="0"/>
              <a:t>値画像</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754710" cy="5168570"/>
          </a:xfrm>
        </p:spPr>
        <p:txBody>
          <a:bodyPr>
            <a:normAutofit/>
          </a:bodyPr>
          <a:lstStyle/>
          <a:p>
            <a:r>
              <a:rPr lang="ja-JP" altLang="en-US" b="0" dirty="0">
                <a:solidFill>
                  <a:srgbClr val="000000"/>
                </a:solidFill>
                <a:effectLst/>
                <a:latin typeface="Consolas" panose="020B0609020204030204" pitchFamily="49" charset="0"/>
              </a:rPr>
              <a:t>グレースケール画像を</a:t>
            </a:r>
            <a:r>
              <a:rPr lang="en-US" altLang="ja-JP" b="0" dirty="0">
                <a:solidFill>
                  <a:srgbClr val="000000"/>
                </a:solidFill>
                <a:effectLst/>
                <a:latin typeface="Consolas" panose="020B0609020204030204" pitchFamily="49" charset="0"/>
              </a:rPr>
              <a:t>2</a:t>
            </a:r>
            <a:r>
              <a:rPr lang="ja-JP" altLang="en-US" b="0" dirty="0">
                <a:solidFill>
                  <a:srgbClr val="000000"/>
                </a:solidFill>
                <a:effectLst/>
                <a:latin typeface="Consolas" panose="020B0609020204030204" pitchFamily="49" charset="0"/>
              </a:rPr>
              <a:t>値画像にするには</a:t>
            </a:r>
            <a:r>
              <a:rPr lang="en-US" altLang="ja-JP" b="0" dirty="0">
                <a:solidFill>
                  <a:srgbClr val="000000"/>
                </a:solidFill>
                <a:effectLst/>
                <a:latin typeface="Consolas" panose="020B0609020204030204" pitchFamily="49" charset="0"/>
              </a:rPr>
              <a:t>cv2.threshold</a:t>
            </a:r>
            <a:r>
              <a:rPr lang="ja-JP" altLang="en-US" b="0" dirty="0">
                <a:solidFill>
                  <a:srgbClr val="000000"/>
                </a:solidFill>
                <a:effectLst/>
                <a:latin typeface="Consolas" panose="020B0609020204030204" pitchFamily="49" charset="0"/>
              </a:rPr>
              <a:t>を使う</a:t>
            </a:r>
            <a:endParaRPr lang="en-US" altLang="ja-JP" dirty="0">
              <a:solidFill>
                <a:srgbClr val="000000"/>
              </a:solidFill>
              <a:latin typeface="Consolas" panose="020B0609020204030204" pitchFamily="49" charset="0"/>
            </a:endParaRPr>
          </a:p>
          <a:p>
            <a:pPr marL="0" indent="0">
              <a:buNone/>
            </a:pPr>
            <a:endParaRPr lang="en-US" altLang="ja-JP" b="0" dirty="0">
              <a:effectLst/>
              <a:latin typeface="Consolas" panose="020B0609020204030204" pitchFamily="49" charset="0"/>
            </a:endParaRPr>
          </a:p>
          <a:p>
            <a:pPr marL="0" indent="0">
              <a:buNone/>
            </a:pPr>
            <a:r>
              <a:rPr lang="en-US" altLang="ja-JP" b="1" dirty="0">
                <a:effectLst/>
                <a:latin typeface="Consolas" panose="020B0609020204030204" pitchFamily="49" charset="0"/>
              </a:rPr>
              <a:t>_, </a:t>
            </a:r>
            <a:r>
              <a:rPr lang="en-US" altLang="ja-JP" b="1" dirty="0" err="1">
                <a:effectLst/>
                <a:latin typeface="Consolas" panose="020B0609020204030204" pitchFamily="49" charset="0"/>
              </a:rPr>
              <a:t>img_dst</a:t>
            </a:r>
            <a:r>
              <a:rPr lang="en-US" altLang="ja-JP" b="1" dirty="0">
                <a:effectLst/>
                <a:latin typeface="Consolas" panose="020B0609020204030204" pitchFamily="49" charset="0"/>
              </a:rPr>
              <a:t> = cv2.threshold(</a:t>
            </a:r>
            <a:r>
              <a:rPr lang="en-US" altLang="ja-JP" b="1" dirty="0" err="1">
                <a:effectLst/>
                <a:latin typeface="Consolas" panose="020B0609020204030204" pitchFamily="49" charset="0"/>
              </a:rPr>
              <a:t>img_gray</a:t>
            </a:r>
            <a:r>
              <a:rPr lang="en-US" altLang="ja-JP" b="1" dirty="0">
                <a:effectLst/>
                <a:latin typeface="Consolas" panose="020B0609020204030204" pitchFamily="49" charset="0"/>
              </a:rPr>
              <a:t>, thresh=50, </a:t>
            </a:r>
          </a:p>
          <a:p>
            <a:pPr marL="0" indent="0">
              <a:buNone/>
            </a:pPr>
            <a:r>
              <a:rPr lang="ja-JP" altLang="en-US" b="1" dirty="0">
                <a:latin typeface="Consolas" panose="020B0609020204030204" pitchFamily="49" charset="0"/>
              </a:rPr>
              <a:t>　　　　　　　　　　</a:t>
            </a:r>
            <a:r>
              <a:rPr lang="en-US" altLang="ja-JP" b="1" dirty="0" err="1">
                <a:effectLst/>
                <a:latin typeface="Consolas" panose="020B0609020204030204" pitchFamily="49" charset="0"/>
              </a:rPr>
              <a:t>maxval</a:t>
            </a:r>
            <a:r>
              <a:rPr lang="en-US" altLang="ja-JP" b="1" dirty="0">
                <a:effectLst/>
                <a:latin typeface="Consolas" panose="020B0609020204030204" pitchFamily="49" charset="0"/>
              </a:rPr>
              <a:t>=255, type=cv2.THRESH_BINARY)</a:t>
            </a:r>
          </a:p>
          <a:p>
            <a:pPr marL="0" indent="0">
              <a:buNone/>
            </a:pPr>
            <a:endParaRPr lang="en-US" altLang="ja-JP" dirty="0">
              <a:latin typeface="Consolas" panose="020B0609020204030204" pitchFamily="49" charset="0"/>
            </a:endParaRPr>
          </a:p>
          <a:p>
            <a:pPr marL="0" indent="0">
              <a:buNone/>
            </a:pPr>
            <a:r>
              <a:rPr lang="en-US" altLang="ja-JP" b="0" dirty="0" err="1">
                <a:effectLst/>
                <a:latin typeface="Consolas" panose="020B0609020204030204" pitchFamily="49" charset="0"/>
              </a:rPr>
              <a:t>img_gray</a:t>
            </a:r>
            <a:r>
              <a:rPr lang="ja-JP" altLang="en-US" dirty="0">
                <a:latin typeface="Consolas" panose="020B0609020204030204" pitchFamily="49" charset="0"/>
              </a:rPr>
              <a:t> </a:t>
            </a:r>
            <a:r>
              <a:rPr lang="en-US" altLang="ja-JP" dirty="0">
                <a:latin typeface="Consolas" panose="020B0609020204030204" pitchFamily="49" charset="0"/>
              </a:rPr>
              <a:t>…</a:t>
            </a:r>
            <a:r>
              <a:rPr lang="ja-JP" altLang="en-US" dirty="0">
                <a:latin typeface="Consolas" panose="020B0609020204030204" pitchFamily="49" charset="0"/>
              </a:rPr>
              <a:t> </a:t>
            </a:r>
            <a:r>
              <a:rPr lang="ja-JP" altLang="en-US" b="0" dirty="0">
                <a:effectLst/>
                <a:latin typeface="Consolas" panose="020B0609020204030204" pitchFamily="49" charset="0"/>
              </a:rPr>
              <a:t>任意のグレースケール画像</a:t>
            </a:r>
            <a:endParaRPr lang="en-US" altLang="ja-JP" b="0" dirty="0">
              <a:effectLst/>
              <a:latin typeface="Consolas" panose="020B0609020204030204" pitchFamily="49" charset="0"/>
            </a:endParaRPr>
          </a:p>
          <a:p>
            <a:pPr marL="0" indent="0">
              <a:buNone/>
            </a:pPr>
            <a:r>
              <a:rPr lang="en-US" altLang="ja-JP" dirty="0">
                <a:latin typeface="Consolas" panose="020B0609020204030204" pitchFamily="49" charset="0"/>
              </a:rPr>
              <a:t>thresh</a:t>
            </a:r>
            <a:r>
              <a:rPr lang="ja-JP" altLang="en-US" dirty="0">
                <a:latin typeface="Consolas" panose="020B0609020204030204" pitchFamily="49" charset="0"/>
              </a:rPr>
              <a:t> </a:t>
            </a:r>
            <a:r>
              <a:rPr lang="en-US" altLang="ja-JP" dirty="0">
                <a:latin typeface="Consolas" panose="020B0609020204030204" pitchFamily="49" charset="0"/>
              </a:rPr>
              <a:t>…</a:t>
            </a:r>
            <a:r>
              <a:rPr lang="ja-JP" altLang="en-US" dirty="0">
                <a:latin typeface="Consolas" panose="020B0609020204030204" pitchFamily="49" charset="0"/>
              </a:rPr>
              <a:t> 閾値（</a:t>
            </a:r>
            <a:r>
              <a:rPr lang="en-US" altLang="ja-JP" dirty="0">
                <a:latin typeface="Consolas" panose="020B0609020204030204" pitchFamily="49" charset="0"/>
              </a:rPr>
              <a:t>0 ~ 255</a:t>
            </a:r>
            <a:r>
              <a:rPr lang="ja-JP" altLang="en-US" dirty="0">
                <a:latin typeface="Consolas" panose="020B0609020204030204" pitchFamily="49" charset="0"/>
              </a:rPr>
              <a:t>）</a:t>
            </a:r>
            <a:endParaRPr lang="en-US" altLang="ja-JP" dirty="0">
              <a:latin typeface="Consolas" panose="020B0609020204030204" pitchFamily="49" charset="0"/>
            </a:endParaRPr>
          </a:p>
          <a:p>
            <a:pPr marL="0" indent="0">
              <a:buNone/>
            </a:pPr>
            <a:r>
              <a:rPr lang="en-US" altLang="ja-JP" dirty="0" err="1">
                <a:latin typeface="Consolas" panose="020B0609020204030204" pitchFamily="49" charset="0"/>
              </a:rPr>
              <a:t>m</a:t>
            </a:r>
            <a:r>
              <a:rPr lang="en-US" altLang="ja-JP" b="0" dirty="0" err="1">
                <a:effectLst/>
                <a:latin typeface="Consolas" panose="020B0609020204030204" pitchFamily="49" charset="0"/>
              </a:rPr>
              <a:t>axval</a:t>
            </a:r>
            <a:r>
              <a:rPr lang="ja-JP" altLang="en-US" dirty="0">
                <a:latin typeface="Consolas" panose="020B0609020204030204" pitchFamily="49" charset="0"/>
              </a:rPr>
              <a:t> </a:t>
            </a:r>
            <a:r>
              <a:rPr lang="en-US" altLang="ja-JP" dirty="0">
                <a:latin typeface="Consolas" panose="020B0609020204030204" pitchFamily="49" charset="0"/>
              </a:rPr>
              <a:t>…</a:t>
            </a:r>
            <a:r>
              <a:rPr lang="ja-JP" altLang="en-US" dirty="0">
                <a:latin typeface="Consolas" panose="020B0609020204030204" pitchFamily="49" charset="0"/>
              </a:rPr>
              <a:t> 出力画像の色の最大値。基本的に</a:t>
            </a:r>
            <a:r>
              <a:rPr lang="en-US" altLang="ja-JP" dirty="0">
                <a:latin typeface="Consolas" panose="020B0609020204030204" pitchFamily="49" charset="0"/>
              </a:rPr>
              <a:t>255(</a:t>
            </a:r>
            <a:r>
              <a:rPr lang="ja-JP" altLang="en-US" dirty="0">
                <a:latin typeface="Consolas" panose="020B0609020204030204" pitchFamily="49" charset="0"/>
              </a:rPr>
              <a:t>白</a:t>
            </a:r>
            <a:r>
              <a:rPr lang="en-US" altLang="ja-JP" dirty="0">
                <a:latin typeface="Consolas" panose="020B0609020204030204" pitchFamily="49" charset="0"/>
              </a:rPr>
              <a:t>)</a:t>
            </a:r>
          </a:p>
          <a:p>
            <a:pPr marL="0" indent="0">
              <a:buNone/>
            </a:pPr>
            <a:r>
              <a:rPr lang="en-US" altLang="ja-JP" dirty="0">
                <a:latin typeface="Consolas" panose="020B0609020204030204" pitchFamily="49" charset="0"/>
              </a:rPr>
              <a:t>t</a:t>
            </a:r>
            <a:r>
              <a:rPr lang="en-US" altLang="ja-JP" b="0" dirty="0">
                <a:effectLst/>
                <a:latin typeface="Consolas" panose="020B0609020204030204" pitchFamily="49" charset="0"/>
              </a:rPr>
              <a:t>ype</a:t>
            </a:r>
            <a:r>
              <a:rPr lang="ja-JP" altLang="en-US" b="0" dirty="0">
                <a:effectLst/>
                <a:latin typeface="Consolas" panose="020B0609020204030204" pitchFamily="49" charset="0"/>
              </a:rPr>
              <a:t> </a:t>
            </a:r>
            <a:r>
              <a:rPr lang="en-US" altLang="ja-JP" b="0" dirty="0">
                <a:effectLst/>
                <a:latin typeface="Consolas" panose="020B0609020204030204" pitchFamily="49" charset="0"/>
              </a:rPr>
              <a:t>… </a:t>
            </a:r>
            <a:r>
              <a:rPr lang="ja-JP" altLang="en-US" b="0" dirty="0">
                <a:effectLst/>
                <a:latin typeface="Consolas" panose="020B0609020204030204" pitchFamily="49" charset="0"/>
              </a:rPr>
              <a:t>閾値をもとにどんなルールで画像を出力するか決める</a:t>
            </a:r>
            <a:endParaRPr lang="en-US" altLang="ja-JP" b="0" dirty="0">
              <a:effectLst/>
              <a:latin typeface="Consolas" panose="020B0609020204030204" pitchFamily="49" charset="0"/>
            </a:endParaRPr>
          </a:p>
          <a:p>
            <a:pPr marL="0" indent="0">
              <a:buNone/>
            </a:pPr>
            <a:endParaRPr lang="en-US" altLang="ja-JP" b="0" dirty="0">
              <a:solidFill>
                <a:srgbClr val="000000"/>
              </a:solidFill>
              <a:effectLst/>
              <a:latin typeface="Consolas" panose="020B0609020204030204" pitchFamily="49" charset="0"/>
            </a:endParaRPr>
          </a:p>
          <a:p>
            <a:endParaRPr lang="en-US" altLang="ja-JP"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3126E69B-02F5-52A8-944D-7D045E3DED27}"/>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518055C2-053D-1DA5-E591-0E2DE328B49A}"/>
              </a:ext>
            </a:extLst>
          </p:cNvPr>
          <p:cNvSpPr>
            <a:spLocks noGrp="1"/>
          </p:cNvSpPr>
          <p:nvPr>
            <p:ph type="sldNum" sz="quarter" idx="12"/>
          </p:nvPr>
        </p:nvSpPr>
        <p:spPr/>
        <p:txBody>
          <a:bodyPr/>
          <a:lstStyle/>
          <a:p>
            <a:fld id="{82EE47C2-3066-499F-97BE-8094ED607EB5}" type="slidenum">
              <a:rPr kumimoji="1" lang="ja-JP" altLang="en-US" smtClean="0"/>
              <a:t>50</a:t>
            </a:fld>
            <a:endParaRPr kumimoji="1" lang="ja-JP" altLang="en-US"/>
          </a:p>
        </p:txBody>
      </p:sp>
    </p:spTree>
    <p:extLst>
      <p:ext uri="{BB962C8B-B14F-4D97-AF65-F5344CB8AC3E}">
        <p14:creationId xmlns:p14="http://schemas.microsoft.com/office/powerpoint/2010/main" val="21549123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手法</a:t>
            </a:r>
            <a:r>
              <a:rPr lang="en-US" altLang="ja-JP" b="1" dirty="0"/>
              <a:t>(type)</a:t>
            </a:r>
            <a:r>
              <a:rPr lang="ja-JP" altLang="en-US" b="1" dirty="0"/>
              <a:t>について　</a:t>
            </a:r>
            <a:r>
              <a:rPr lang="en-US" altLang="ja-JP" b="1" dirty="0"/>
              <a:t>threshold_pict.py</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754710" cy="5168570"/>
          </a:xfrm>
        </p:spPr>
        <p:txBody>
          <a:bodyPr>
            <a:normAutofit/>
          </a:bodyPr>
          <a:lstStyle/>
          <a:p>
            <a:r>
              <a:rPr lang="en-US" altLang="ja-JP" dirty="0">
                <a:solidFill>
                  <a:srgbClr val="000000"/>
                </a:solidFill>
                <a:latin typeface="Consolas" panose="020B0609020204030204" pitchFamily="49" charset="0"/>
              </a:rPr>
              <a:t>type</a:t>
            </a:r>
            <a:r>
              <a:rPr lang="ja-JP" altLang="en-US" dirty="0">
                <a:solidFill>
                  <a:srgbClr val="000000"/>
                </a:solidFill>
                <a:latin typeface="Consolas" panose="020B0609020204030204" pitchFamily="49" charset="0"/>
              </a:rPr>
              <a:t>には下記の値が指定できる</a:t>
            </a:r>
            <a:endParaRPr lang="en-US" altLang="ja-JP" b="0" dirty="0">
              <a:solidFill>
                <a:srgbClr val="000000"/>
              </a:solidFill>
              <a:effectLst/>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endParaRPr lang="en-US" altLang="ja-JP" dirty="0">
              <a:solidFill>
                <a:srgbClr val="000000"/>
              </a:solidFill>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endParaRPr lang="en-US" altLang="ja-JP" dirty="0">
              <a:solidFill>
                <a:srgbClr val="000000"/>
              </a:solidFill>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endParaRPr lang="en-US" altLang="ja-JP" dirty="0">
              <a:solidFill>
                <a:srgbClr val="000000"/>
              </a:solidFill>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r>
              <a:rPr lang="ja-JP" altLang="en-US" dirty="0">
                <a:solidFill>
                  <a:srgbClr val="000000"/>
                </a:solidFill>
                <a:latin typeface="Consolas" panose="020B0609020204030204" pitchFamily="49" charset="0"/>
              </a:rPr>
              <a:t>閾値を決めるのは難しい。実際に閾値を変えてみましょう。</a:t>
            </a:r>
            <a:endParaRPr lang="en-US" altLang="ja-JP"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3126E69B-02F5-52A8-944D-7D045E3DED27}"/>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518055C2-053D-1DA5-E591-0E2DE328B49A}"/>
              </a:ext>
            </a:extLst>
          </p:cNvPr>
          <p:cNvSpPr>
            <a:spLocks noGrp="1"/>
          </p:cNvSpPr>
          <p:nvPr>
            <p:ph type="sldNum" sz="quarter" idx="12"/>
          </p:nvPr>
        </p:nvSpPr>
        <p:spPr/>
        <p:txBody>
          <a:bodyPr/>
          <a:lstStyle/>
          <a:p>
            <a:fld id="{82EE47C2-3066-499F-97BE-8094ED607EB5}" type="slidenum">
              <a:rPr kumimoji="1" lang="ja-JP" altLang="en-US" smtClean="0"/>
              <a:t>51</a:t>
            </a:fld>
            <a:endParaRPr kumimoji="1" lang="ja-JP" altLang="en-US"/>
          </a:p>
        </p:txBody>
      </p:sp>
      <p:graphicFrame>
        <p:nvGraphicFramePr>
          <p:cNvPr id="6" name="表 5">
            <a:extLst>
              <a:ext uri="{FF2B5EF4-FFF2-40B4-BE49-F238E27FC236}">
                <a16:creationId xmlns:a16="http://schemas.microsoft.com/office/drawing/2014/main" id="{1C553338-133D-0832-D9F4-3D662C1A4789}"/>
              </a:ext>
            </a:extLst>
          </p:cNvPr>
          <p:cNvGraphicFramePr>
            <a:graphicFrameLocks noGrp="1"/>
          </p:cNvGraphicFramePr>
          <p:nvPr>
            <p:extLst>
              <p:ext uri="{D42A27DB-BD31-4B8C-83A1-F6EECF244321}">
                <p14:modId xmlns:p14="http://schemas.microsoft.com/office/powerpoint/2010/main" val="548070538"/>
              </p:ext>
            </p:extLst>
          </p:nvPr>
        </p:nvGraphicFramePr>
        <p:xfrm>
          <a:off x="599090" y="2173638"/>
          <a:ext cx="8773160" cy="2786358"/>
        </p:xfrm>
        <a:graphic>
          <a:graphicData uri="http://schemas.openxmlformats.org/drawingml/2006/table">
            <a:tbl>
              <a:tblPr firstRow="1" bandRow="1">
                <a:tableStyleId>{5C22544A-7EE6-4342-B048-85BDC9FD1C3A}</a:tableStyleId>
              </a:tblPr>
              <a:tblGrid>
                <a:gridCol w="3159076">
                  <a:extLst>
                    <a:ext uri="{9D8B030D-6E8A-4147-A177-3AD203B41FA5}">
                      <a16:colId xmlns:a16="http://schemas.microsoft.com/office/drawing/2014/main" val="2614739582"/>
                    </a:ext>
                  </a:extLst>
                </a:gridCol>
                <a:gridCol w="2736169">
                  <a:extLst>
                    <a:ext uri="{9D8B030D-6E8A-4147-A177-3AD203B41FA5}">
                      <a16:colId xmlns:a16="http://schemas.microsoft.com/office/drawing/2014/main" val="3939852852"/>
                    </a:ext>
                  </a:extLst>
                </a:gridCol>
                <a:gridCol w="2877915">
                  <a:extLst>
                    <a:ext uri="{9D8B030D-6E8A-4147-A177-3AD203B41FA5}">
                      <a16:colId xmlns:a16="http://schemas.microsoft.com/office/drawing/2014/main" val="2481166319"/>
                    </a:ext>
                  </a:extLst>
                </a:gridCol>
              </a:tblGrid>
              <a:tr h="456145">
                <a:tc>
                  <a:txBody>
                    <a:bodyPr/>
                    <a:lstStyle/>
                    <a:p>
                      <a:pPr algn="ctr"/>
                      <a:r>
                        <a:rPr kumimoji="1" lang="ja-JP" altLang="en-US" sz="2000" dirty="0"/>
                        <a:t>手法</a:t>
                      </a:r>
                      <a:r>
                        <a:rPr kumimoji="1" lang="en-US" altLang="ja-JP" sz="2000" dirty="0"/>
                        <a:t>(type)</a:t>
                      </a:r>
                      <a:endParaRPr kumimoji="1" lang="ja-JP" altLang="en-US" sz="2000" dirty="0"/>
                    </a:p>
                  </a:txBody>
                  <a:tcPr/>
                </a:tc>
                <a:tc>
                  <a:txBody>
                    <a:bodyPr/>
                    <a:lstStyle/>
                    <a:p>
                      <a:pPr algn="ctr"/>
                      <a:r>
                        <a:rPr kumimoji="1" lang="ja-JP" altLang="en-US" sz="2000" dirty="0"/>
                        <a:t>閾値より大きい画素</a:t>
                      </a:r>
                    </a:p>
                  </a:txBody>
                  <a:tcPr/>
                </a:tc>
                <a:tc>
                  <a:txBody>
                    <a:bodyPr/>
                    <a:lstStyle/>
                    <a:p>
                      <a:pPr algn="ctr"/>
                      <a:r>
                        <a:rPr kumimoji="1" lang="ja-JP" altLang="en-US" sz="2000" dirty="0"/>
                        <a:t>閾値以下の画素</a:t>
                      </a:r>
                    </a:p>
                  </a:txBody>
                  <a:tcPr/>
                </a:tc>
                <a:extLst>
                  <a:ext uri="{0D108BD9-81ED-4DB2-BD59-A6C34878D82A}">
                    <a16:rowId xmlns:a16="http://schemas.microsoft.com/office/drawing/2014/main" val="2719414993"/>
                  </a:ext>
                </a:extLst>
              </a:tr>
              <a:tr h="538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kern="1200" dirty="0">
                          <a:solidFill>
                            <a:schemeClr val="tx1"/>
                          </a:solidFill>
                          <a:effectLst/>
                          <a:latin typeface="+mn-lt"/>
                          <a:ea typeface="+mn-ea"/>
                          <a:cs typeface="+mn-cs"/>
                        </a:rPr>
                        <a:t>THRESH_BINARY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kern="1200" dirty="0">
                          <a:solidFill>
                            <a:schemeClr val="tx1"/>
                          </a:solidFill>
                          <a:effectLst/>
                          <a:latin typeface="+mn-lt"/>
                          <a:ea typeface="+mn-ea"/>
                          <a:cs typeface="+mn-cs"/>
                        </a:rPr>
                        <a:t>白</a:t>
                      </a:r>
                      <a:r>
                        <a:rPr kumimoji="1" lang="en-US" altLang="ja-JP" sz="2000" b="1" kern="1200" dirty="0">
                          <a:solidFill>
                            <a:schemeClr val="tx1"/>
                          </a:solidFill>
                          <a:effectLst/>
                          <a:latin typeface="+mn-lt"/>
                          <a:ea typeface="+mn-ea"/>
                          <a:cs typeface="+mn-cs"/>
                        </a:rPr>
                        <a:t>(</a:t>
                      </a:r>
                      <a:r>
                        <a:rPr kumimoji="1" lang="en-US" altLang="ja-JP" sz="2000" b="1" kern="1200" dirty="0" err="1">
                          <a:solidFill>
                            <a:schemeClr val="tx1"/>
                          </a:solidFill>
                          <a:effectLst/>
                          <a:latin typeface="+mn-lt"/>
                          <a:ea typeface="+mn-ea"/>
                          <a:cs typeface="+mn-cs"/>
                        </a:rPr>
                        <a:t>maxval</a:t>
                      </a:r>
                      <a:r>
                        <a:rPr kumimoji="1" lang="en-US" altLang="ja-JP" sz="2000" b="1" kern="1200" dirty="0">
                          <a:solidFill>
                            <a:schemeClr val="tx1"/>
                          </a:solidFill>
                          <a:effectLst/>
                          <a:latin typeface="+mn-lt"/>
                          <a:ea typeface="+mn-ea"/>
                          <a:cs typeface="+mn-cs"/>
                        </a:rPr>
                        <a:t>, </a:t>
                      </a:r>
                      <a:r>
                        <a:rPr kumimoji="1" lang="ja-JP" altLang="en-US" sz="2000" b="1" kern="1200" dirty="0">
                          <a:solidFill>
                            <a:schemeClr val="tx1"/>
                          </a:solidFill>
                          <a:effectLst/>
                          <a:latin typeface="+mn-lt"/>
                          <a:ea typeface="+mn-ea"/>
                          <a:cs typeface="+mn-cs"/>
                        </a:rPr>
                        <a:t>基本</a:t>
                      </a:r>
                      <a:r>
                        <a:rPr kumimoji="1" lang="en-US" altLang="ja-JP" sz="2000" b="1" kern="1200" dirty="0">
                          <a:solidFill>
                            <a:schemeClr val="tx1"/>
                          </a:solidFill>
                          <a:effectLst/>
                          <a:latin typeface="+mn-lt"/>
                          <a:ea typeface="+mn-ea"/>
                          <a:cs typeface="+mn-cs"/>
                        </a:rPr>
                        <a:t>255)</a:t>
                      </a:r>
                      <a:endParaRPr kumimoji="1" lang="ja-JP" altLang="en-US" sz="2000" b="1" kern="1200" dirty="0">
                        <a:solidFill>
                          <a:schemeClr val="tx1"/>
                        </a:solidFill>
                        <a:effectLst/>
                        <a:latin typeface="+mn-lt"/>
                        <a:ea typeface="+mn-ea"/>
                        <a:cs typeface="+mn-cs"/>
                      </a:endParaRPr>
                    </a:p>
                  </a:txBody>
                  <a:tcPr/>
                </a:tc>
                <a:tc>
                  <a:txBody>
                    <a:bodyPr/>
                    <a:lstStyle/>
                    <a:p>
                      <a:pPr algn="ctr"/>
                      <a:r>
                        <a:rPr kumimoji="1" lang="ja-JP" altLang="en-US" sz="2000" b="1" dirty="0">
                          <a:solidFill>
                            <a:schemeClr val="tx1"/>
                          </a:solidFill>
                        </a:rPr>
                        <a:t>黒</a:t>
                      </a:r>
                      <a:r>
                        <a:rPr kumimoji="1" lang="en-US" altLang="ja-JP" sz="2000" b="1" dirty="0">
                          <a:solidFill>
                            <a:schemeClr val="tx1"/>
                          </a:solidFill>
                        </a:rPr>
                        <a:t>(0)</a:t>
                      </a:r>
                      <a:endParaRPr kumimoji="1" lang="ja-JP" altLang="en-US" sz="2000" b="1" dirty="0">
                        <a:solidFill>
                          <a:schemeClr val="tx1"/>
                        </a:solidFill>
                      </a:endParaRPr>
                    </a:p>
                  </a:txBody>
                  <a:tcPr/>
                </a:tc>
                <a:extLst>
                  <a:ext uri="{0D108BD9-81ED-4DB2-BD59-A6C34878D82A}">
                    <a16:rowId xmlns:a16="http://schemas.microsoft.com/office/drawing/2014/main" val="2783426477"/>
                  </a:ext>
                </a:extLst>
              </a:tr>
              <a:tr h="4673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1" kern="1200" dirty="0">
                          <a:solidFill>
                            <a:schemeClr val="tx1"/>
                          </a:solidFill>
                          <a:effectLst/>
                          <a:latin typeface="+mn-lt"/>
                          <a:ea typeface="+mn-ea"/>
                          <a:cs typeface="+mn-cs"/>
                        </a:rPr>
                        <a:t>THRESH_BINARY_INV</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dirty="0">
                          <a:solidFill>
                            <a:schemeClr val="tx1"/>
                          </a:solidFill>
                        </a:rPr>
                        <a:t>黒</a:t>
                      </a:r>
                      <a:r>
                        <a:rPr kumimoji="1" lang="en-US" altLang="ja-JP" sz="2000" b="1" dirty="0">
                          <a:solidFill>
                            <a:schemeClr val="tx1"/>
                          </a:solidFill>
                        </a:rPr>
                        <a:t>(0)</a:t>
                      </a:r>
                      <a:endParaRPr kumimoji="1" lang="ja-JP" altLang="en-US" sz="20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kern="1200" dirty="0">
                          <a:solidFill>
                            <a:schemeClr val="tx1"/>
                          </a:solidFill>
                          <a:effectLst/>
                          <a:latin typeface="+mn-lt"/>
                          <a:ea typeface="+mn-ea"/>
                          <a:cs typeface="+mn-cs"/>
                        </a:rPr>
                        <a:t>白</a:t>
                      </a:r>
                      <a:r>
                        <a:rPr kumimoji="1" lang="en-US" altLang="ja-JP" sz="2000" b="1" kern="1200" dirty="0">
                          <a:solidFill>
                            <a:schemeClr val="tx1"/>
                          </a:solidFill>
                          <a:effectLst/>
                          <a:latin typeface="+mn-lt"/>
                          <a:ea typeface="+mn-ea"/>
                          <a:cs typeface="+mn-cs"/>
                        </a:rPr>
                        <a:t>(</a:t>
                      </a:r>
                      <a:r>
                        <a:rPr kumimoji="1" lang="en-US" altLang="ja-JP" sz="2000" b="1" kern="1200" dirty="0" err="1">
                          <a:solidFill>
                            <a:schemeClr val="tx1"/>
                          </a:solidFill>
                          <a:effectLst/>
                          <a:latin typeface="+mn-lt"/>
                          <a:ea typeface="+mn-ea"/>
                          <a:cs typeface="+mn-cs"/>
                        </a:rPr>
                        <a:t>maxval</a:t>
                      </a:r>
                      <a:r>
                        <a:rPr kumimoji="1" lang="en-US" altLang="ja-JP" sz="2000" b="1" kern="1200" dirty="0">
                          <a:solidFill>
                            <a:schemeClr val="tx1"/>
                          </a:solidFill>
                          <a:effectLst/>
                          <a:latin typeface="+mn-lt"/>
                          <a:ea typeface="+mn-ea"/>
                          <a:cs typeface="+mn-cs"/>
                        </a:rPr>
                        <a:t>, </a:t>
                      </a:r>
                      <a:r>
                        <a:rPr kumimoji="1" lang="ja-JP" altLang="en-US" sz="2000" b="1" kern="1200" dirty="0">
                          <a:solidFill>
                            <a:schemeClr val="tx1"/>
                          </a:solidFill>
                          <a:effectLst/>
                          <a:latin typeface="+mn-lt"/>
                          <a:ea typeface="+mn-ea"/>
                          <a:cs typeface="+mn-cs"/>
                        </a:rPr>
                        <a:t>基本</a:t>
                      </a:r>
                      <a:r>
                        <a:rPr kumimoji="1" lang="en-US" altLang="ja-JP" sz="2000" b="1" kern="1200" dirty="0">
                          <a:solidFill>
                            <a:schemeClr val="tx1"/>
                          </a:solidFill>
                          <a:effectLst/>
                          <a:latin typeface="+mn-lt"/>
                          <a:ea typeface="+mn-ea"/>
                          <a:cs typeface="+mn-cs"/>
                        </a:rPr>
                        <a:t>255)</a:t>
                      </a:r>
                      <a:endParaRPr kumimoji="1" lang="ja-JP" altLang="en-US" sz="2000" b="1" kern="1200" dirty="0">
                        <a:solidFill>
                          <a:schemeClr val="tx1"/>
                        </a:solidFill>
                        <a:effectLst/>
                        <a:latin typeface="+mn-lt"/>
                        <a:ea typeface="+mn-ea"/>
                        <a:cs typeface="+mn-cs"/>
                      </a:endParaRPr>
                    </a:p>
                  </a:txBody>
                  <a:tcPr/>
                </a:tc>
                <a:extLst>
                  <a:ext uri="{0D108BD9-81ED-4DB2-BD59-A6C34878D82A}">
                    <a16:rowId xmlns:a16="http://schemas.microsoft.com/office/drawing/2014/main" val="1427380790"/>
                  </a:ext>
                </a:extLst>
              </a:tr>
              <a:tr h="4587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kern="1200" dirty="0">
                          <a:solidFill>
                            <a:schemeClr val="dk1"/>
                          </a:solidFill>
                          <a:effectLst/>
                          <a:latin typeface="+mn-lt"/>
                          <a:ea typeface="+mn-ea"/>
                          <a:cs typeface="+mn-cs"/>
                        </a:rPr>
                        <a:t>THRESH_TRUNC</a:t>
                      </a:r>
                    </a:p>
                  </a:txBody>
                  <a:tcPr/>
                </a:tc>
                <a:tc>
                  <a:txBody>
                    <a:bodyPr/>
                    <a:lstStyle/>
                    <a:p>
                      <a:pPr algn="ctr"/>
                      <a:r>
                        <a:rPr kumimoji="1" lang="ja-JP" altLang="en-US" sz="2000" dirty="0"/>
                        <a:t>閾値で頭打ち</a:t>
                      </a:r>
                    </a:p>
                  </a:txBody>
                  <a:tcPr/>
                </a:tc>
                <a:tc>
                  <a:txBody>
                    <a:bodyPr/>
                    <a:lstStyle/>
                    <a:p>
                      <a:pPr algn="ctr"/>
                      <a:r>
                        <a:rPr kumimoji="1" lang="ja-JP" altLang="en-US" sz="2000" dirty="0"/>
                        <a:t>そのまま</a:t>
                      </a:r>
                    </a:p>
                  </a:txBody>
                  <a:tcPr/>
                </a:tc>
                <a:extLst>
                  <a:ext uri="{0D108BD9-81ED-4DB2-BD59-A6C34878D82A}">
                    <a16:rowId xmlns:a16="http://schemas.microsoft.com/office/drawing/2014/main" val="3350582174"/>
                  </a:ext>
                </a:extLst>
              </a:tr>
              <a:tr h="4454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kern="1200" dirty="0">
                          <a:solidFill>
                            <a:schemeClr val="dk1"/>
                          </a:solidFill>
                          <a:effectLst/>
                          <a:latin typeface="+mn-lt"/>
                          <a:ea typeface="+mn-ea"/>
                          <a:cs typeface="+mn-cs"/>
                        </a:rPr>
                        <a:t>THRESH_TOZERO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kern="1200" dirty="0">
                          <a:solidFill>
                            <a:schemeClr val="dk1"/>
                          </a:solidFill>
                          <a:effectLst/>
                          <a:latin typeface="+mn-lt"/>
                          <a:ea typeface="+mn-ea"/>
                          <a:cs typeface="+mn-cs"/>
                        </a:rPr>
                        <a:t>そのまま</a:t>
                      </a:r>
                    </a:p>
                  </a:txBody>
                  <a:tcPr/>
                </a:tc>
                <a:tc>
                  <a:txBody>
                    <a:bodyPr/>
                    <a:lstStyle/>
                    <a:p>
                      <a:pPr algn="ctr"/>
                      <a:r>
                        <a:rPr kumimoji="1" lang="ja-JP" altLang="en-US" sz="2000" dirty="0"/>
                        <a:t>黒</a:t>
                      </a:r>
                      <a:r>
                        <a:rPr kumimoji="1" lang="en-US" altLang="ja-JP" sz="2000" dirty="0"/>
                        <a:t>(0)</a:t>
                      </a:r>
                      <a:endParaRPr kumimoji="1" lang="ja-JP" altLang="en-US" sz="2000" dirty="0"/>
                    </a:p>
                  </a:txBody>
                  <a:tcPr/>
                </a:tc>
                <a:extLst>
                  <a:ext uri="{0D108BD9-81ED-4DB2-BD59-A6C34878D82A}">
                    <a16:rowId xmlns:a16="http://schemas.microsoft.com/office/drawing/2014/main" val="3782620416"/>
                  </a:ext>
                </a:extLst>
              </a:tr>
              <a:tr h="4201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kern="1200" dirty="0">
                          <a:solidFill>
                            <a:schemeClr val="dk1"/>
                          </a:solidFill>
                          <a:effectLst/>
                          <a:latin typeface="+mn-lt"/>
                          <a:ea typeface="+mn-ea"/>
                          <a:cs typeface="+mn-cs"/>
                        </a:rPr>
                        <a:t>THRESH_TOZERO_INV</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t>黒</a:t>
                      </a:r>
                      <a:r>
                        <a:rPr kumimoji="1" lang="en-US" altLang="ja-JP" sz="2000" dirty="0"/>
                        <a:t>(0)</a:t>
                      </a:r>
                      <a:endParaRPr kumimoji="1" lang="ja-JP"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kern="1200" dirty="0">
                          <a:solidFill>
                            <a:schemeClr val="dk1"/>
                          </a:solidFill>
                          <a:effectLst/>
                          <a:latin typeface="+mn-lt"/>
                          <a:ea typeface="+mn-ea"/>
                          <a:cs typeface="+mn-cs"/>
                        </a:rPr>
                        <a:t>そのまま</a:t>
                      </a:r>
                    </a:p>
                  </a:txBody>
                  <a:tcPr/>
                </a:tc>
                <a:extLst>
                  <a:ext uri="{0D108BD9-81ED-4DB2-BD59-A6C34878D82A}">
                    <a16:rowId xmlns:a16="http://schemas.microsoft.com/office/drawing/2014/main" val="2487223441"/>
                  </a:ext>
                </a:extLst>
              </a:tr>
            </a:tbl>
          </a:graphicData>
        </a:graphic>
      </p:graphicFrame>
      <p:sp>
        <p:nvSpPr>
          <p:cNvPr id="7" name="右中かっこ 6">
            <a:extLst>
              <a:ext uri="{FF2B5EF4-FFF2-40B4-BE49-F238E27FC236}">
                <a16:creationId xmlns:a16="http://schemas.microsoft.com/office/drawing/2014/main" id="{7DF90176-C6B3-E660-A21C-461D387B7C24}"/>
              </a:ext>
            </a:extLst>
          </p:cNvPr>
          <p:cNvSpPr/>
          <p:nvPr/>
        </p:nvSpPr>
        <p:spPr>
          <a:xfrm>
            <a:off x="9392570" y="2647337"/>
            <a:ext cx="325120" cy="995680"/>
          </a:xfrm>
          <a:prstGeom prst="rightBrace">
            <a:avLst>
              <a:gd name="adj1" fmla="val 55208"/>
              <a:gd name="adj2" fmla="val 50000"/>
            </a:avLst>
          </a:prstGeom>
          <a:ln w="38100"/>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A424BB5-12A0-8C76-BEB1-F3B7DAAD720B}"/>
              </a:ext>
            </a:extLst>
          </p:cNvPr>
          <p:cNvSpPr txBox="1"/>
          <p:nvPr/>
        </p:nvSpPr>
        <p:spPr>
          <a:xfrm>
            <a:off x="9555130" y="2822011"/>
            <a:ext cx="2196156" cy="646331"/>
          </a:xfrm>
          <a:prstGeom prst="rect">
            <a:avLst/>
          </a:prstGeom>
          <a:noFill/>
        </p:spPr>
        <p:txBody>
          <a:bodyPr wrap="square" rtlCol="0">
            <a:spAutoFit/>
          </a:bodyPr>
          <a:lstStyle/>
          <a:p>
            <a:pPr algn="ctr"/>
            <a:r>
              <a:rPr lang="ja-JP" altLang="en-US" b="1" dirty="0">
                <a:solidFill>
                  <a:srgbClr val="FF0000"/>
                </a:solidFill>
              </a:rPr>
              <a:t>この二つの手法が</a:t>
            </a:r>
            <a:endParaRPr lang="en-US" altLang="ja-JP" b="1" dirty="0">
              <a:solidFill>
                <a:srgbClr val="FF0000"/>
              </a:solidFill>
            </a:endParaRPr>
          </a:p>
          <a:p>
            <a:pPr algn="ctr"/>
            <a:r>
              <a:rPr lang="en-US" altLang="ja-JP" b="1" dirty="0">
                <a:solidFill>
                  <a:srgbClr val="FF0000"/>
                </a:solidFill>
              </a:rPr>
              <a:t>2</a:t>
            </a:r>
            <a:r>
              <a:rPr lang="ja-JP" altLang="en-US" b="1" dirty="0">
                <a:solidFill>
                  <a:srgbClr val="FF0000"/>
                </a:solidFill>
              </a:rPr>
              <a:t>値画像を生成</a:t>
            </a:r>
            <a:endParaRPr lang="en-US" altLang="ja-JP" b="1" dirty="0">
              <a:solidFill>
                <a:srgbClr val="FF0000"/>
              </a:solidFill>
            </a:endParaRPr>
          </a:p>
        </p:txBody>
      </p:sp>
      <p:sp>
        <p:nvSpPr>
          <p:cNvPr id="9" name="右中かっこ 8">
            <a:extLst>
              <a:ext uri="{FF2B5EF4-FFF2-40B4-BE49-F238E27FC236}">
                <a16:creationId xmlns:a16="http://schemas.microsoft.com/office/drawing/2014/main" id="{1C329D88-552D-3C78-C492-00C270A806AC}"/>
              </a:ext>
            </a:extLst>
          </p:cNvPr>
          <p:cNvSpPr/>
          <p:nvPr/>
        </p:nvSpPr>
        <p:spPr>
          <a:xfrm>
            <a:off x="9417970" y="3730670"/>
            <a:ext cx="299720" cy="1229325"/>
          </a:xfrm>
          <a:prstGeom prst="rightBrace">
            <a:avLst>
              <a:gd name="adj1" fmla="val 55208"/>
              <a:gd name="adj2" fmla="val 50000"/>
            </a:avLst>
          </a:prstGeom>
          <a:ln w="38100"/>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857367B-6517-D178-4BDE-EA37590F12C5}"/>
              </a:ext>
            </a:extLst>
          </p:cNvPr>
          <p:cNvSpPr txBox="1"/>
          <p:nvPr/>
        </p:nvSpPr>
        <p:spPr>
          <a:xfrm>
            <a:off x="9555130" y="4022166"/>
            <a:ext cx="2397760" cy="923330"/>
          </a:xfrm>
          <a:prstGeom prst="rect">
            <a:avLst/>
          </a:prstGeom>
          <a:noFill/>
        </p:spPr>
        <p:txBody>
          <a:bodyPr wrap="square" rtlCol="0">
            <a:spAutoFit/>
          </a:bodyPr>
          <a:lstStyle/>
          <a:p>
            <a:pPr algn="ctr"/>
            <a:r>
              <a:rPr lang="ja-JP" altLang="en-US" b="1" dirty="0"/>
              <a:t>グレースケール画像を生成。</a:t>
            </a:r>
            <a:endParaRPr lang="en-US" altLang="ja-JP" b="1" dirty="0"/>
          </a:p>
          <a:p>
            <a:pPr algn="ctr"/>
            <a:r>
              <a:rPr lang="ja-JP" altLang="en-US" b="1" dirty="0"/>
              <a:t>また</a:t>
            </a:r>
            <a:r>
              <a:rPr lang="en-US" altLang="ja-JP" b="1" dirty="0"/>
              <a:t>, </a:t>
            </a:r>
            <a:r>
              <a:rPr lang="en-US" altLang="ja-JP" b="1" dirty="0" err="1"/>
              <a:t>maxval</a:t>
            </a:r>
            <a:r>
              <a:rPr lang="ja-JP" altLang="en-US" b="1" dirty="0"/>
              <a:t>は無視</a:t>
            </a:r>
            <a:endParaRPr lang="en-US" altLang="ja-JP" b="1" dirty="0"/>
          </a:p>
        </p:txBody>
      </p:sp>
    </p:spTree>
    <p:extLst>
      <p:ext uri="{BB962C8B-B14F-4D97-AF65-F5344CB8AC3E}">
        <p14:creationId xmlns:p14="http://schemas.microsoft.com/office/powerpoint/2010/main" val="3921135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閾値を自動で決める　大津の</a:t>
            </a:r>
            <a:r>
              <a:rPr lang="en-US" altLang="ja-JP" b="1" dirty="0"/>
              <a:t>2</a:t>
            </a:r>
            <a:r>
              <a:rPr lang="ja-JP" altLang="en-US" b="1" dirty="0"/>
              <a:t>値化</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253184"/>
            <a:ext cx="10754710" cy="5726736"/>
          </a:xfrm>
        </p:spPr>
        <p:txBody>
          <a:bodyPr>
            <a:normAutofit fontScale="92500" lnSpcReduction="10000"/>
          </a:bodyPr>
          <a:lstStyle/>
          <a:p>
            <a:r>
              <a:rPr lang="ja-JP" altLang="en-US" b="0" dirty="0">
                <a:solidFill>
                  <a:srgbClr val="000000"/>
                </a:solidFill>
                <a:effectLst/>
                <a:latin typeface="Consolas" panose="020B0609020204030204" pitchFamily="49" charset="0"/>
              </a:rPr>
              <a:t>閾値を自動</a:t>
            </a:r>
            <a:r>
              <a:rPr lang="ja-JP" altLang="en-US" dirty="0">
                <a:solidFill>
                  <a:srgbClr val="000000"/>
                </a:solidFill>
                <a:latin typeface="Consolas" panose="020B0609020204030204" pitchFamily="49" charset="0"/>
              </a:rPr>
              <a:t>で決めるには</a:t>
            </a:r>
            <a:r>
              <a:rPr lang="ja-JP" altLang="en-US" b="1" dirty="0">
                <a:solidFill>
                  <a:srgbClr val="000000"/>
                </a:solidFill>
                <a:latin typeface="Consolas" panose="020B0609020204030204" pitchFamily="49" charset="0"/>
              </a:rPr>
              <a:t>モード法</a:t>
            </a:r>
            <a:r>
              <a:rPr lang="ja-JP" altLang="en-US" dirty="0">
                <a:solidFill>
                  <a:srgbClr val="000000"/>
                </a:solidFill>
                <a:latin typeface="Consolas" panose="020B0609020204030204" pitchFamily="49" charset="0"/>
              </a:rPr>
              <a:t>や</a:t>
            </a:r>
            <a:r>
              <a:rPr lang="en-US" altLang="ja-JP" b="1" dirty="0">
                <a:solidFill>
                  <a:srgbClr val="000000"/>
                </a:solidFill>
                <a:latin typeface="Consolas" panose="020B0609020204030204" pitchFamily="49" charset="0"/>
              </a:rPr>
              <a:t>p-</a:t>
            </a:r>
            <a:r>
              <a:rPr lang="ja-JP" altLang="en-US" b="1" dirty="0">
                <a:solidFill>
                  <a:srgbClr val="000000"/>
                </a:solidFill>
                <a:latin typeface="Consolas" panose="020B0609020204030204" pitchFamily="49" charset="0"/>
              </a:rPr>
              <a:t>タイル法</a:t>
            </a:r>
            <a:r>
              <a:rPr lang="ja-JP" altLang="en-US" dirty="0">
                <a:solidFill>
                  <a:srgbClr val="000000"/>
                </a:solidFill>
                <a:latin typeface="Consolas" panose="020B0609020204030204" pitchFamily="49" charset="0"/>
              </a:rPr>
              <a:t>等がある</a:t>
            </a:r>
            <a:endParaRPr lang="en-US" altLang="ja-JP" dirty="0">
              <a:solidFill>
                <a:srgbClr val="000000"/>
              </a:solidFill>
              <a:latin typeface="Consolas" panose="020B0609020204030204" pitchFamily="49" charset="0"/>
            </a:endParaRPr>
          </a:p>
          <a:p>
            <a:r>
              <a:rPr lang="ja-JP" altLang="en-US" b="0" dirty="0">
                <a:solidFill>
                  <a:srgbClr val="000000"/>
                </a:solidFill>
                <a:effectLst/>
                <a:latin typeface="Consolas" panose="020B0609020204030204" pitchFamily="49" charset="0"/>
              </a:rPr>
              <a:t>モード法 </a:t>
            </a:r>
            <a:r>
              <a:rPr lang="en-US" altLang="ja-JP" b="0" dirty="0">
                <a:solidFill>
                  <a:srgbClr val="000000"/>
                </a:solidFill>
                <a:effectLst/>
                <a:latin typeface="Consolas" panose="020B0609020204030204" pitchFamily="49" charset="0"/>
              </a:rPr>
              <a:t>… </a:t>
            </a:r>
            <a:r>
              <a:rPr lang="ja-JP" altLang="en-US" b="0" dirty="0">
                <a:solidFill>
                  <a:srgbClr val="000000"/>
                </a:solidFill>
                <a:effectLst/>
                <a:latin typeface="Consolas" panose="020B0609020204030204" pitchFamily="49" charset="0"/>
              </a:rPr>
              <a:t>ヒストグラムの谷を見て閾値を決める</a:t>
            </a:r>
            <a:endParaRPr lang="en-US" altLang="ja-JP" b="0" dirty="0">
              <a:solidFill>
                <a:srgbClr val="000000"/>
              </a:solidFill>
              <a:effectLst/>
              <a:latin typeface="Consolas" panose="020B0609020204030204" pitchFamily="49" charset="0"/>
            </a:endParaRPr>
          </a:p>
          <a:p>
            <a:r>
              <a:rPr lang="en-US" altLang="ja-JP" dirty="0">
                <a:solidFill>
                  <a:srgbClr val="000000"/>
                </a:solidFill>
                <a:latin typeface="Consolas" panose="020B0609020204030204" pitchFamily="49" charset="0"/>
              </a:rPr>
              <a:t>P-</a:t>
            </a:r>
            <a:r>
              <a:rPr lang="ja-JP" altLang="en-US" dirty="0">
                <a:solidFill>
                  <a:srgbClr val="000000"/>
                </a:solidFill>
                <a:latin typeface="Consolas" panose="020B0609020204030204" pitchFamily="49" charset="0"/>
              </a:rPr>
              <a:t>タイル法 </a:t>
            </a:r>
            <a:r>
              <a:rPr lang="en-US" altLang="ja-JP" dirty="0">
                <a:solidFill>
                  <a:srgbClr val="000000"/>
                </a:solidFill>
                <a:latin typeface="Consolas" panose="020B0609020204030204" pitchFamily="49" charset="0"/>
              </a:rPr>
              <a:t>… </a:t>
            </a:r>
            <a:r>
              <a:rPr lang="ja-JP" altLang="en-US" dirty="0">
                <a:solidFill>
                  <a:srgbClr val="000000"/>
                </a:solidFill>
                <a:latin typeface="Consolas" panose="020B0609020204030204" pitchFamily="49" charset="0"/>
              </a:rPr>
              <a:t>白の割合を指定して閾値を決める</a:t>
            </a:r>
            <a:endParaRPr lang="en-US" altLang="ja-JP" dirty="0">
              <a:solidFill>
                <a:srgbClr val="000000"/>
              </a:solidFill>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r>
              <a:rPr lang="ja-JP" altLang="en-US" dirty="0">
                <a:solidFill>
                  <a:srgbClr val="000000"/>
                </a:solidFill>
                <a:latin typeface="Consolas" panose="020B0609020204030204" pitchFamily="49" charset="0"/>
              </a:rPr>
              <a:t>実際によく使われる閾値の自動決定方法は</a:t>
            </a:r>
            <a:r>
              <a:rPr kumimoji="1" lang="ja-JP" altLang="en-US" sz="2800" b="1" dirty="0"/>
              <a:t>判別分析法</a:t>
            </a:r>
            <a:r>
              <a:rPr kumimoji="1" lang="en-US" altLang="ja-JP" sz="2800" dirty="0"/>
              <a:t>(discriminant</a:t>
            </a:r>
            <a:r>
              <a:rPr kumimoji="1" lang="ja-JP" altLang="en-US" sz="2800" dirty="0"/>
              <a:t> </a:t>
            </a:r>
            <a:r>
              <a:rPr kumimoji="1" lang="en-US" altLang="ja-JP" sz="2800" dirty="0"/>
              <a:t>analysis</a:t>
            </a:r>
            <a:r>
              <a:rPr kumimoji="1" lang="ja-JP" altLang="en-US" sz="2800" dirty="0"/>
              <a:t> </a:t>
            </a:r>
            <a:r>
              <a:rPr kumimoji="1" lang="en-US" altLang="ja-JP" sz="2800" dirty="0"/>
              <a:t>method</a:t>
            </a:r>
            <a:r>
              <a:rPr kumimoji="1" lang="ja-JP" altLang="en-US" sz="2800" dirty="0"/>
              <a:t>、</a:t>
            </a:r>
            <a:r>
              <a:rPr kumimoji="1" lang="ja-JP" altLang="en-US" sz="2800" b="1" dirty="0"/>
              <a:t>大津の</a:t>
            </a:r>
            <a:r>
              <a:rPr kumimoji="1" lang="en-US" altLang="ja-JP" sz="2800" b="1" dirty="0"/>
              <a:t>2</a:t>
            </a:r>
            <a:r>
              <a:rPr kumimoji="1" lang="ja-JP" altLang="en-US" sz="2800" b="1" dirty="0"/>
              <a:t>値化</a:t>
            </a:r>
            <a:r>
              <a:rPr kumimoji="1" lang="en-US" altLang="ja-JP" sz="2800" dirty="0"/>
              <a:t>)</a:t>
            </a:r>
            <a:r>
              <a:rPr kumimoji="1" lang="ja-JP" altLang="en-US" sz="2800" dirty="0"/>
              <a:t>と呼ばれる手法</a:t>
            </a:r>
            <a:endParaRPr kumimoji="1" lang="en-US" altLang="ja-JP" sz="2800" dirty="0"/>
          </a:p>
          <a:p>
            <a:r>
              <a:rPr lang="ja-JP" altLang="en-US" dirty="0">
                <a:solidFill>
                  <a:srgbClr val="000000"/>
                </a:solidFill>
                <a:latin typeface="Consolas" panose="020B0609020204030204" pitchFamily="49" charset="0"/>
              </a:rPr>
              <a:t>内部的には閾値を</a:t>
            </a:r>
            <a:r>
              <a:rPr lang="en-US" altLang="ja-JP" dirty="0">
                <a:solidFill>
                  <a:srgbClr val="000000"/>
                </a:solidFill>
                <a:latin typeface="Consolas" panose="020B0609020204030204" pitchFamily="49" charset="0"/>
              </a:rPr>
              <a:t>0~255</a:t>
            </a:r>
            <a:r>
              <a:rPr lang="ja-JP" altLang="en-US" dirty="0">
                <a:solidFill>
                  <a:srgbClr val="000000"/>
                </a:solidFill>
                <a:latin typeface="Consolas" panose="020B0609020204030204" pitchFamily="49" charset="0"/>
              </a:rPr>
              <a:t>で試して、各閾値でできるヒストグラムを見て「対象の山」と「背景の山」が一番離れるようなものを選択する、ということをしている</a:t>
            </a:r>
            <a:endParaRPr lang="en-US" altLang="ja-JP" dirty="0">
              <a:solidFill>
                <a:srgbClr val="000000"/>
              </a:solidFill>
              <a:latin typeface="Consolas" panose="020B0609020204030204" pitchFamily="49" charset="0"/>
            </a:endParaRPr>
          </a:p>
          <a:p>
            <a:r>
              <a:rPr lang="ja-JP" altLang="en-US" b="0" dirty="0">
                <a:solidFill>
                  <a:srgbClr val="000000"/>
                </a:solidFill>
                <a:effectLst/>
                <a:latin typeface="Consolas" panose="020B0609020204030204" pitchFamily="49" charset="0"/>
              </a:rPr>
              <a:t>大津の</a:t>
            </a:r>
            <a:r>
              <a:rPr lang="en-US" altLang="ja-JP" b="0" dirty="0">
                <a:solidFill>
                  <a:srgbClr val="000000"/>
                </a:solidFill>
                <a:effectLst/>
                <a:latin typeface="Consolas" panose="020B0609020204030204" pitchFamily="49" charset="0"/>
              </a:rPr>
              <a:t>2</a:t>
            </a:r>
            <a:r>
              <a:rPr lang="ja-JP" altLang="en-US" b="0" dirty="0">
                <a:solidFill>
                  <a:srgbClr val="000000"/>
                </a:solidFill>
                <a:effectLst/>
                <a:latin typeface="Consolas" panose="020B0609020204030204" pitchFamily="49" charset="0"/>
              </a:rPr>
              <a:t>値化を使う場合、</a:t>
            </a:r>
            <a:r>
              <a:rPr lang="en-US" altLang="ja-JP" b="1" dirty="0">
                <a:solidFill>
                  <a:srgbClr val="000000"/>
                </a:solidFill>
                <a:effectLst/>
                <a:latin typeface="Consolas" panose="020B0609020204030204" pitchFamily="49" charset="0"/>
              </a:rPr>
              <a:t>type</a:t>
            </a:r>
            <a:r>
              <a:rPr lang="en-US" altLang="ja-JP" b="1" dirty="0">
                <a:solidFill>
                  <a:srgbClr val="000000"/>
                </a:solidFill>
                <a:latin typeface="Consolas" panose="020B0609020204030204" pitchFamily="49" charset="0"/>
              </a:rPr>
              <a:t>=</a:t>
            </a:r>
            <a:r>
              <a:rPr lang="ja-JP" altLang="en-US" b="1" dirty="0">
                <a:solidFill>
                  <a:srgbClr val="000000"/>
                </a:solidFill>
                <a:latin typeface="Consolas" panose="020B0609020204030204" pitchFamily="49" charset="0"/>
              </a:rPr>
              <a:t> </a:t>
            </a:r>
            <a:r>
              <a:rPr lang="ja-JP" altLang="en-US" b="1" dirty="0">
                <a:solidFill>
                  <a:srgbClr val="000000"/>
                </a:solidFill>
                <a:effectLst/>
                <a:latin typeface="Consolas" panose="020B0609020204030204" pitchFamily="49" charset="0"/>
              </a:rPr>
              <a:t>手法 </a:t>
            </a:r>
            <a:r>
              <a:rPr lang="en-US" altLang="ja-JP" b="1" dirty="0">
                <a:solidFill>
                  <a:srgbClr val="000000"/>
                </a:solidFill>
                <a:effectLst/>
                <a:latin typeface="Consolas" panose="020B0609020204030204" pitchFamily="49" charset="0"/>
              </a:rPr>
              <a:t>| cv2.THRESH_OTSU </a:t>
            </a:r>
            <a:r>
              <a:rPr lang="ja-JP" altLang="en-US" b="0" dirty="0">
                <a:solidFill>
                  <a:srgbClr val="000000"/>
                </a:solidFill>
                <a:effectLst/>
                <a:latin typeface="Consolas" panose="020B0609020204030204" pitchFamily="49" charset="0"/>
              </a:rPr>
              <a:t>を指定する</a:t>
            </a:r>
            <a:endParaRPr lang="en-US" altLang="ja-JP" b="0" dirty="0">
              <a:solidFill>
                <a:srgbClr val="000000"/>
              </a:solidFill>
              <a:effectLst/>
              <a:latin typeface="Consolas" panose="020B0609020204030204" pitchFamily="49" charset="0"/>
            </a:endParaRPr>
          </a:p>
          <a:p>
            <a:pPr marL="0" indent="0" algn="ctr">
              <a:buNone/>
            </a:pPr>
            <a:r>
              <a:rPr lang="en-US" altLang="ja-JP" b="0" dirty="0">
                <a:solidFill>
                  <a:srgbClr val="267F99"/>
                </a:solidFill>
                <a:effectLst/>
                <a:latin typeface="Consolas" panose="020B0609020204030204" pitchFamily="49" charset="0"/>
              </a:rPr>
              <a:t>type</a:t>
            </a:r>
            <a:r>
              <a:rPr lang="en-US" altLang="ja-JP" b="0" dirty="0">
                <a:solidFill>
                  <a:srgbClr val="000000"/>
                </a:solidFill>
                <a:effectLst/>
                <a:latin typeface="Consolas" panose="020B0609020204030204" pitchFamily="49" charset="0"/>
              </a:rPr>
              <a:t>=cv2.THRESH_BINARY | cv2.THRESH_OTSU</a:t>
            </a:r>
            <a:endParaRPr lang="en-US" altLang="ja-JP" dirty="0">
              <a:solidFill>
                <a:srgbClr val="000000"/>
              </a:solidFill>
              <a:latin typeface="Consolas" panose="020B0609020204030204" pitchFamily="49" charset="0"/>
            </a:endParaRPr>
          </a:p>
          <a:p>
            <a:pPr marL="0" indent="0" algn="ctr">
              <a:buNone/>
            </a:pPr>
            <a:r>
              <a:rPr lang="en-US" altLang="ja-JP" b="0" dirty="0">
                <a:solidFill>
                  <a:srgbClr val="000000"/>
                </a:solidFill>
                <a:effectLst/>
                <a:latin typeface="Consolas" panose="020B0609020204030204" pitchFamily="49" charset="0"/>
              </a:rPr>
              <a:t>(</a:t>
            </a:r>
            <a:r>
              <a:rPr lang="en-US" altLang="ja-JP" b="0" dirty="0">
                <a:solidFill>
                  <a:srgbClr val="267F99"/>
                </a:solidFill>
                <a:effectLst/>
                <a:latin typeface="Consolas" panose="020B0609020204030204" pitchFamily="49" charset="0"/>
              </a:rPr>
              <a:t>type</a:t>
            </a:r>
            <a:r>
              <a:rPr lang="en-US" altLang="ja-JP" b="0" dirty="0">
                <a:solidFill>
                  <a:srgbClr val="000000"/>
                </a:solidFill>
                <a:effectLst/>
                <a:latin typeface="Consolas" panose="020B0609020204030204" pitchFamily="49" charset="0"/>
              </a:rPr>
              <a:t>=cv2.THRESH_BINARY + cv2.THRESH_OTSU </a:t>
            </a:r>
            <a:r>
              <a:rPr lang="ja-JP" altLang="en-US" b="0" dirty="0">
                <a:solidFill>
                  <a:srgbClr val="000000"/>
                </a:solidFill>
                <a:effectLst/>
                <a:latin typeface="Consolas" panose="020B0609020204030204" pitchFamily="49" charset="0"/>
              </a:rPr>
              <a:t>でも</a:t>
            </a:r>
            <a:r>
              <a:rPr lang="en-US" altLang="ja-JP" b="0" dirty="0">
                <a:solidFill>
                  <a:srgbClr val="000000"/>
                </a:solidFill>
                <a:effectLst/>
                <a:latin typeface="Consolas" panose="020B0609020204030204" pitchFamily="49" charset="0"/>
              </a:rPr>
              <a:t>OK)</a:t>
            </a:r>
          </a:p>
        </p:txBody>
      </p:sp>
      <p:sp>
        <p:nvSpPr>
          <p:cNvPr id="3" name="フッター プレースホルダー 2">
            <a:extLst>
              <a:ext uri="{FF2B5EF4-FFF2-40B4-BE49-F238E27FC236}">
                <a16:creationId xmlns:a16="http://schemas.microsoft.com/office/drawing/2014/main" id="{3126E69B-02F5-52A8-944D-7D045E3DED27}"/>
              </a:ext>
            </a:extLst>
          </p:cNvPr>
          <p:cNvSpPr>
            <a:spLocks noGrp="1"/>
          </p:cNvSpPr>
          <p:nvPr>
            <p:ph type="ftr" sz="quarter" idx="11"/>
          </p:nvPr>
        </p:nvSpPr>
        <p:spPr/>
        <p:txBody>
          <a:bodyPr/>
          <a:lstStyle/>
          <a:p>
            <a:r>
              <a:rPr kumimoji="1" lang="ja-JP" altLang="en-US" dirty="0"/>
              <a:t>ポリテクセンター栃木</a:t>
            </a:r>
          </a:p>
        </p:txBody>
      </p:sp>
      <p:sp>
        <p:nvSpPr>
          <p:cNvPr id="4" name="スライド番号プレースホルダー 3">
            <a:extLst>
              <a:ext uri="{FF2B5EF4-FFF2-40B4-BE49-F238E27FC236}">
                <a16:creationId xmlns:a16="http://schemas.microsoft.com/office/drawing/2014/main" id="{518055C2-053D-1DA5-E591-0E2DE328B49A}"/>
              </a:ext>
            </a:extLst>
          </p:cNvPr>
          <p:cNvSpPr>
            <a:spLocks noGrp="1"/>
          </p:cNvSpPr>
          <p:nvPr>
            <p:ph type="sldNum" sz="quarter" idx="12"/>
          </p:nvPr>
        </p:nvSpPr>
        <p:spPr/>
        <p:txBody>
          <a:bodyPr/>
          <a:lstStyle/>
          <a:p>
            <a:fld id="{82EE47C2-3066-499F-97BE-8094ED607EB5}" type="slidenum">
              <a:rPr kumimoji="1" lang="ja-JP" altLang="en-US" smtClean="0"/>
              <a:t>52</a:t>
            </a:fld>
            <a:endParaRPr kumimoji="1" lang="ja-JP" altLang="en-US"/>
          </a:p>
        </p:txBody>
      </p:sp>
    </p:spTree>
    <p:extLst>
      <p:ext uri="{BB962C8B-B14F-4D97-AF65-F5344CB8AC3E}">
        <p14:creationId xmlns:p14="http://schemas.microsoft.com/office/powerpoint/2010/main" val="34944523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593279-3D18-F31B-E4F8-DC09B9E7172B}"/>
              </a:ext>
            </a:extLst>
          </p:cNvPr>
          <p:cNvSpPr>
            <a:spLocks noGrp="1"/>
          </p:cNvSpPr>
          <p:nvPr>
            <p:ph type="title"/>
          </p:nvPr>
        </p:nvSpPr>
        <p:spPr/>
        <p:txBody>
          <a:bodyPr/>
          <a:lstStyle/>
          <a:p>
            <a:r>
              <a:rPr kumimoji="1" lang="ja-JP" altLang="en-US" dirty="0"/>
              <a:t>練習</a:t>
            </a:r>
          </a:p>
        </p:txBody>
      </p:sp>
      <p:sp>
        <p:nvSpPr>
          <p:cNvPr id="3" name="コンテンツ プレースホルダー 2">
            <a:extLst>
              <a:ext uri="{FF2B5EF4-FFF2-40B4-BE49-F238E27FC236}">
                <a16:creationId xmlns:a16="http://schemas.microsoft.com/office/drawing/2014/main" id="{F620EB55-B991-BE02-E40B-2F2D7E9785E5}"/>
              </a:ext>
            </a:extLst>
          </p:cNvPr>
          <p:cNvSpPr>
            <a:spLocks noGrp="1"/>
          </p:cNvSpPr>
          <p:nvPr>
            <p:ph idx="1"/>
          </p:nvPr>
        </p:nvSpPr>
        <p:spPr/>
        <p:txBody>
          <a:bodyPr/>
          <a:lstStyle/>
          <a:p>
            <a:r>
              <a:rPr kumimoji="1" lang="ja-JP" altLang="en-US" dirty="0"/>
              <a:t>ラズパイのカメラで映る動画を</a:t>
            </a:r>
            <a:r>
              <a:rPr kumimoji="1" lang="en-US" altLang="ja-JP" dirty="0"/>
              <a:t>2</a:t>
            </a:r>
            <a:r>
              <a:rPr kumimoji="1" lang="ja-JP" altLang="en-US" dirty="0"/>
              <a:t>値化してください。</a:t>
            </a:r>
            <a:r>
              <a:rPr kumimoji="1" lang="en-US" altLang="ja-JP" dirty="0"/>
              <a:t>Threshold</a:t>
            </a:r>
            <a:r>
              <a:rPr kumimoji="1" lang="ja-JP" altLang="en-US" dirty="0"/>
              <a:t>は大津の</a:t>
            </a:r>
            <a:r>
              <a:rPr kumimoji="1" lang="en-US" altLang="ja-JP" dirty="0"/>
              <a:t>2</a:t>
            </a:r>
            <a:r>
              <a:rPr kumimoji="1" lang="ja-JP" altLang="en-US" dirty="0"/>
              <a:t>値化で決めてください</a:t>
            </a:r>
            <a:endParaRPr kumimoji="1" lang="en-US" altLang="ja-JP" dirty="0"/>
          </a:p>
          <a:p>
            <a:r>
              <a:rPr lang="ja-JP" altLang="en-US" dirty="0"/>
              <a:t>そのまま</a:t>
            </a:r>
            <a:r>
              <a:rPr lang="en-US" altLang="ja-JP" dirty="0"/>
              <a:t>2</a:t>
            </a:r>
            <a:r>
              <a:rPr lang="ja-JP" altLang="en-US" dirty="0"/>
              <a:t>値化すると多くのノイズが現れます。グレースケール画像に変換した後に平滑化フィルタをかけて</a:t>
            </a:r>
            <a:r>
              <a:rPr lang="en-US" altLang="ja-JP" dirty="0"/>
              <a:t>2</a:t>
            </a:r>
            <a:r>
              <a:rPr lang="ja-JP" altLang="en-US" dirty="0"/>
              <a:t>値化してください</a:t>
            </a:r>
            <a:endParaRPr lang="en-US" altLang="ja-JP" dirty="0"/>
          </a:p>
          <a:p>
            <a:endParaRPr kumimoji="1" lang="ja-JP" altLang="en-US" dirty="0"/>
          </a:p>
        </p:txBody>
      </p:sp>
      <p:sp>
        <p:nvSpPr>
          <p:cNvPr id="4" name="フッター プレースホルダー 3">
            <a:extLst>
              <a:ext uri="{FF2B5EF4-FFF2-40B4-BE49-F238E27FC236}">
                <a16:creationId xmlns:a16="http://schemas.microsoft.com/office/drawing/2014/main" id="{5248B508-496D-F66D-24ED-15FA7F9C84A8}"/>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D8E72C2D-02BC-AC41-1800-B7E70D117887}"/>
              </a:ext>
            </a:extLst>
          </p:cNvPr>
          <p:cNvSpPr>
            <a:spLocks noGrp="1"/>
          </p:cNvSpPr>
          <p:nvPr>
            <p:ph type="sldNum" sz="quarter" idx="12"/>
          </p:nvPr>
        </p:nvSpPr>
        <p:spPr/>
        <p:txBody>
          <a:bodyPr/>
          <a:lstStyle/>
          <a:p>
            <a:fld id="{82EE47C2-3066-499F-97BE-8094ED607EB5}" type="slidenum">
              <a:rPr kumimoji="1" lang="ja-JP" altLang="en-US" smtClean="0"/>
              <a:t>53</a:t>
            </a:fld>
            <a:endParaRPr kumimoji="1" lang="ja-JP" altLang="en-US"/>
          </a:p>
        </p:txBody>
      </p:sp>
    </p:spTree>
    <p:extLst>
      <p:ext uri="{BB962C8B-B14F-4D97-AF65-F5344CB8AC3E}">
        <p14:creationId xmlns:p14="http://schemas.microsoft.com/office/powerpoint/2010/main" val="908553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２値画像の問題点</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b="0" dirty="0">
                <a:solidFill>
                  <a:srgbClr val="000000"/>
                </a:solidFill>
                <a:effectLst/>
                <a:latin typeface="Consolas" panose="020B0609020204030204" pitchFamily="49" charset="0"/>
              </a:rPr>
              <a:t>２値画像内の対象物を</a:t>
            </a:r>
            <a:r>
              <a:rPr lang="ja-JP" altLang="en-US" b="1" dirty="0">
                <a:solidFill>
                  <a:srgbClr val="000000"/>
                </a:solidFill>
                <a:effectLst/>
                <a:latin typeface="Consolas" panose="020B0609020204030204" pitchFamily="49" charset="0"/>
              </a:rPr>
              <a:t>ブロブ</a:t>
            </a:r>
            <a:r>
              <a:rPr lang="ja-JP" altLang="en-US" b="0" dirty="0">
                <a:solidFill>
                  <a:srgbClr val="000000"/>
                </a:solidFill>
                <a:effectLst/>
                <a:latin typeface="Consolas" panose="020B0609020204030204" pitchFamily="49" charset="0"/>
              </a:rPr>
              <a:t>という</a:t>
            </a:r>
            <a:endParaRPr lang="en-US" altLang="ja-JP" b="0" dirty="0">
              <a:solidFill>
                <a:srgbClr val="000000"/>
              </a:solidFill>
              <a:effectLst/>
              <a:latin typeface="Consolas" panose="020B0609020204030204" pitchFamily="49" charset="0"/>
            </a:endParaRPr>
          </a:p>
          <a:p>
            <a:r>
              <a:rPr lang="ja-JP" altLang="en-US" b="0" dirty="0">
                <a:solidFill>
                  <a:srgbClr val="000000"/>
                </a:solidFill>
                <a:effectLst/>
                <a:latin typeface="Consolas" panose="020B0609020204030204" pitchFamily="49" charset="0"/>
              </a:rPr>
              <a:t>通常、ただ２値化するだけだと下記の問題が出てくる</a:t>
            </a:r>
            <a:endParaRPr lang="en-US" altLang="ja-JP" b="0" dirty="0">
              <a:solidFill>
                <a:srgbClr val="000000"/>
              </a:solidFill>
              <a:effectLst/>
              <a:latin typeface="Consolas" panose="020B0609020204030204" pitchFamily="49" charset="0"/>
            </a:endParaRPr>
          </a:p>
          <a:p>
            <a:pPr lvl="1"/>
            <a:r>
              <a:rPr lang="ja-JP" altLang="en-US" b="0" dirty="0">
                <a:solidFill>
                  <a:srgbClr val="000000"/>
                </a:solidFill>
                <a:effectLst/>
                <a:latin typeface="Consolas" panose="020B0609020204030204" pitchFamily="49" charset="0"/>
              </a:rPr>
              <a:t>ブロブに穴が開いている</a:t>
            </a:r>
            <a:endParaRPr lang="en-US" altLang="ja-JP" b="0" dirty="0">
              <a:solidFill>
                <a:srgbClr val="000000"/>
              </a:solidFill>
              <a:effectLst/>
              <a:latin typeface="Consolas" panose="020B0609020204030204" pitchFamily="49" charset="0"/>
            </a:endParaRPr>
          </a:p>
          <a:p>
            <a:pPr lvl="1"/>
            <a:r>
              <a:rPr lang="ja-JP" altLang="en-US" dirty="0">
                <a:solidFill>
                  <a:srgbClr val="000000"/>
                </a:solidFill>
                <a:latin typeface="Consolas" panose="020B0609020204030204" pitchFamily="49" charset="0"/>
              </a:rPr>
              <a:t>背景に点ノイズがある</a:t>
            </a:r>
            <a:endParaRPr lang="en-US" altLang="ja-JP" dirty="0">
              <a:solidFill>
                <a:srgbClr val="000000"/>
              </a:solidFill>
              <a:latin typeface="Consolas" panose="020B0609020204030204" pitchFamily="49" charset="0"/>
            </a:endParaRPr>
          </a:p>
          <a:p>
            <a:pPr lvl="1"/>
            <a:r>
              <a:rPr lang="ja-JP" altLang="en-US" b="0" dirty="0">
                <a:solidFill>
                  <a:srgbClr val="000000"/>
                </a:solidFill>
                <a:effectLst/>
                <a:latin typeface="Consolas" panose="020B0609020204030204" pitchFamily="49" charset="0"/>
              </a:rPr>
              <a:t>線が途切れている</a:t>
            </a:r>
            <a:endParaRPr lang="en-US" altLang="ja-JP" dirty="0">
              <a:solidFill>
                <a:srgbClr val="000000"/>
              </a:solidFill>
              <a:latin typeface="Consolas" panose="020B0609020204030204" pitchFamily="49" charset="0"/>
            </a:endParaRPr>
          </a:p>
          <a:p>
            <a:endParaRPr lang="en-US" altLang="ja-JP" b="0" dirty="0">
              <a:solidFill>
                <a:srgbClr val="000000"/>
              </a:solidFill>
              <a:effectLst/>
              <a:latin typeface="Consolas" panose="020B0609020204030204" pitchFamily="49" charset="0"/>
            </a:endParaRPr>
          </a:p>
          <a:p>
            <a:r>
              <a:rPr lang="ja-JP" altLang="en-US" b="0" dirty="0">
                <a:solidFill>
                  <a:srgbClr val="000000"/>
                </a:solidFill>
                <a:effectLst/>
                <a:latin typeface="Consolas" panose="020B0609020204030204" pitchFamily="49" charset="0"/>
              </a:rPr>
              <a:t>前処理でフィルターを</a:t>
            </a:r>
            <a:r>
              <a:rPr lang="ja-JP" altLang="en-US" dirty="0">
                <a:solidFill>
                  <a:srgbClr val="000000"/>
                </a:solidFill>
                <a:latin typeface="Consolas" panose="020B0609020204030204" pitchFamily="49" charset="0"/>
              </a:rPr>
              <a:t>かける</a:t>
            </a:r>
            <a:r>
              <a:rPr lang="ja-JP" altLang="en-US" b="0" dirty="0">
                <a:solidFill>
                  <a:srgbClr val="000000"/>
                </a:solidFill>
                <a:effectLst/>
                <a:latin typeface="Consolas" panose="020B0609020204030204" pitchFamily="49" charset="0"/>
              </a:rPr>
              <a:t>にも限界がある</a:t>
            </a:r>
            <a:endParaRPr lang="en-US" altLang="ja-JP" b="0" dirty="0">
              <a:solidFill>
                <a:srgbClr val="000000"/>
              </a:solidFill>
              <a:effectLst/>
              <a:latin typeface="Consolas" panose="020B0609020204030204" pitchFamily="49" charset="0"/>
            </a:endParaRPr>
          </a:p>
          <a:p>
            <a:endParaRPr lang="en-US" altLang="ja-JP"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54</a:t>
            </a:fld>
            <a:endParaRPr kumimoji="1" lang="ja-JP" altLang="en-US"/>
          </a:p>
        </p:txBody>
      </p:sp>
    </p:spTree>
    <p:extLst>
      <p:ext uri="{BB962C8B-B14F-4D97-AF65-F5344CB8AC3E}">
        <p14:creationId xmlns:p14="http://schemas.microsoft.com/office/powerpoint/2010/main" val="3407005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２値画像の問題点　具体例</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201444"/>
            <a:ext cx="10515600" cy="5168570"/>
          </a:xfrm>
        </p:spPr>
        <p:txBody>
          <a:bodyPr>
            <a:normAutofit/>
          </a:bodyPr>
          <a:lstStyle/>
          <a:p>
            <a:r>
              <a:rPr lang="ja-JP" altLang="en-US" sz="2400" b="0" dirty="0">
                <a:solidFill>
                  <a:srgbClr val="000000"/>
                </a:solidFill>
                <a:effectLst/>
                <a:latin typeface="Consolas" panose="020B0609020204030204" pitchFamily="49" charset="0"/>
              </a:rPr>
              <a:t>例えばクッキーの生産工場でクッキーの欠けを検査したいなら、クッキーの形がきれいにとれたブロブが欲しい</a:t>
            </a:r>
            <a:endParaRPr lang="en-US" altLang="ja-JP" sz="2400" b="0" dirty="0">
              <a:solidFill>
                <a:srgbClr val="000000"/>
              </a:solidFill>
              <a:effectLst/>
              <a:latin typeface="Consolas" panose="020B0609020204030204" pitchFamily="49" charset="0"/>
            </a:endParaRPr>
          </a:p>
          <a:p>
            <a:endParaRPr lang="en-US" altLang="ja-JP" sz="2400" dirty="0">
              <a:solidFill>
                <a:srgbClr val="000000"/>
              </a:solidFill>
              <a:latin typeface="Consolas" panose="020B0609020204030204" pitchFamily="49" charset="0"/>
            </a:endParaRPr>
          </a:p>
          <a:p>
            <a:endParaRPr lang="en-US" altLang="ja-JP" sz="2400" b="0" dirty="0">
              <a:solidFill>
                <a:srgbClr val="000000"/>
              </a:solidFill>
              <a:effectLst/>
              <a:latin typeface="Consolas" panose="020B0609020204030204" pitchFamily="49" charset="0"/>
            </a:endParaRPr>
          </a:p>
          <a:p>
            <a:endParaRPr lang="en-US" altLang="ja-JP" sz="2400" dirty="0">
              <a:solidFill>
                <a:srgbClr val="000000"/>
              </a:solidFill>
              <a:latin typeface="Consolas" panose="020B0609020204030204" pitchFamily="49" charset="0"/>
            </a:endParaRPr>
          </a:p>
          <a:p>
            <a:endParaRPr lang="en-US" altLang="ja-JP" sz="2400" b="0" dirty="0">
              <a:solidFill>
                <a:srgbClr val="000000"/>
              </a:solidFill>
              <a:effectLst/>
              <a:latin typeface="Consolas" panose="020B0609020204030204" pitchFamily="49" charset="0"/>
            </a:endParaRPr>
          </a:p>
          <a:p>
            <a:endParaRPr lang="en-US" altLang="ja-JP" sz="2400" dirty="0">
              <a:solidFill>
                <a:srgbClr val="000000"/>
              </a:solidFill>
              <a:latin typeface="Consolas" panose="020B0609020204030204" pitchFamily="49" charset="0"/>
            </a:endParaRPr>
          </a:p>
          <a:p>
            <a:endParaRPr lang="en-US" altLang="ja-JP" sz="2400" b="0" dirty="0">
              <a:solidFill>
                <a:srgbClr val="000000"/>
              </a:solidFill>
              <a:effectLst/>
              <a:latin typeface="Consolas" panose="020B0609020204030204" pitchFamily="49" charset="0"/>
            </a:endParaRPr>
          </a:p>
          <a:p>
            <a:endParaRPr lang="en-US" altLang="ja-JP" sz="2400" dirty="0">
              <a:solidFill>
                <a:srgbClr val="000000"/>
              </a:solidFill>
              <a:latin typeface="Consolas" panose="020B0609020204030204" pitchFamily="49" charset="0"/>
            </a:endParaRPr>
          </a:p>
          <a:p>
            <a:r>
              <a:rPr lang="ja-JP" altLang="en-US" sz="2400" b="0" dirty="0">
                <a:solidFill>
                  <a:srgbClr val="000000"/>
                </a:solidFill>
                <a:effectLst/>
                <a:latin typeface="Consolas" panose="020B0609020204030204" pitchFamily="49" charset="0"/>
              </a:rPr>
              <a:t>穴を検知するプログラムを書いた場合、人の目には目立たなく感じる小さなノイズの影響も受ける → これを解決するのが</a:t>
            </a:r>
            <a:r>
              <a:rPr lang="ja-JP" altLang="en-US" sz="2400" b="1" dirty="0">
                <a:solidFill>
                  <a:srgbClr val="000000"/>
                </a:solidFill>
                <a:effectLst/>
                <a:latin typeface="Consolas" panose="020B0609020204030204" pitchFamily="49" charset="0"/>
              </a:rPr>
              <a:t>モルフォロジー演算</a:t>
            </a:r>
            <a:endParaRPr lang="en-US" altLang="ja-JP" sz="2400" b="1"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55</a:t>
            </a:fld>
            <a:endParaRPr kumimoji="1" lang="ja-JP" altLang="en-US"/>
          </a:p>
        </p:txBody>
      </p:sp>
      <p:pic>
        <p:nvPicPr>
          <p:cNvPr id="7" name="図 6">
            <a:extLst>
              <a:ext uri="{FF2B5EF4-FFF2-40B4-BE49-F238E27FC236}">
                <a16:creationId xmlns:a16="http://schemas.microsoft.com/office/drawing/2014/main" id="{D6B22A99-4FFE-B296-87D9-81D9AC04A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774" y="2268491"/>
            <a:ext cx="2815751" cy="2329158"/>
          </a:xfrm>
          <a:prstGeom prst="rect">
            <a:avLst/>
          </a:prstGeom>
        </p:spPr>
      </p:pic>
      <p:pic>
        <p:nvPicPr>
          <p:cNvPr id="9" name="図 8">
            <a:extLst>
              <a:ext uri="{FF2B5EF4-FFF2-40B4-BE49-F238E27FC236}">
                <a16:creationId xmlns:a16="http://schemas.microsoft.com/office/drawing/2014/main" id="{19695375-DE69-DEFF-2A26-41B3929550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66346" y="2264421"/>
            <a:ext cx="2815751" cy="2329158"/>
          </a:xfrm>
          <a:prstGeom prst="rect">
            <a:avLst/>
          </a:prstGeom>
        </p:spPr>
      </p:pic>
      <p:sp>
        <p:nvSpPr>
          <p:cNvPr id="10" name="矢印: 右 9">
            <a:extLst>
              <a:ext uri="{FF2B5EF4-FFF2-40B4-BE49-F238E27FC236}">
                <a16:creationId xmlns:a16="http://schemas.microsoft.com/office/drawing/2014/main" id="{55C17BAE-E6D5-CE3D-58EB-E3A2D2ACC474}"/>
              </a:ext>
            </a:extLst>
          </p:cNvPr>
          <p:cNvSpPr/>
          <p:nvPr/>
        </p:nvSpPr>
        <p:spPr>
          <a:xfrm>
            <a:off x="3713002" y="3147309"/>
            <a:ext cx="1124111"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BBED555-6B59-A002-F040-CFA86DC7D55E}"/>
              </a:ext>
            </a:extLst>
          </p:cNvPr>
          <p:cNvSpPr txBox="1"/>
          <p:nvPr/>
        </p:nvSpPr>
        <p:spPr>
          <a:xfrm>
            <a:off x="9164069" y="4408913"/>
            <a:ext cx="1798821" cy="369332"/>
          </a:xfrm>
          <a:prstGeom prst="rect">
            <a:avLst/>
          </a:prstGeom>
          <a:noFill/>
        </p:spPr>
        <p:txBody>
          <a:bodyPr wrap="square" rtlCol="0">
            <a:spAutoFit/>
          </a:bodyPr>
          <a:lstStyle/>
          <a:p>
            <a:pPr algn="ctr"/>
            <a:r>
              <a:rPr lang="ja-JP" altLang="en-US" b="1" dirty="0"/>
              <a:t>小さい穴ぼこ</a:t>
            </a:r>
            <a:endParaRPr lang="en-US" altLang="ja-JP" b="1" dirty="0"/>
          </a:p>
        </p:txBody>
      </p:sp>
      <p:sp>
        <p:nvSpPr>
          <p:cNvPr id="12" name="楕円 11">
            <a:extLst>
              <a:ext uri="{FF2B5EF4-FFF2-40B4-BE49-F238E27FC236}">
                <a16:creationId xmlns:a16="http://schemas.microsoft.com/office/drawing/2014/main" id="{63762709-B2A0-2B0B-1B5C-2FBCDB8866DF}"/>
              </a:ext>
            </a:extLst>
          </p:cNvPr>
          <p:cNvSpPr/>
          <p:nvPr/>
        </p:nvSpPr>
        <p:spPr>
          <a:xfrm>
            <a:off x="5349978" y="3570899"/>
            <a:ext cx="453922" cy="25527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BDEF239F-B517-178D-E6BC-4AACA7A46935}"/>
              </a:ext>
            </a:extLst>
          </p:cNvPr>
          <p:cNvPicPr>
            <a:picLocks noChangeAspect="1"/>
          </p:cNvPicPr>
          <p:nvPr/>
        </p:nvPicPr>
        <p:blipFill>
          <a:blip r:embed="rId4">
            <a:extLst>
              <a:ext uri="{28A0092B-C50C-407E-A947-70E740481C1C}">
                <a14:useLocalDpi xmlns:a14="http://schemas.microsoft.com/office/drawing/2010/main" val="0"/>
              </a:ext>
            </a:extLst>
          </a:blip>
          <a:srcRect l="8402" t="57535" r="77119" b="34093"/>
          <a:stretch/>
        </p:blipFill>
        <p:spPr>
          <a:xfrm>
            <a:off x="8311330" y="2525009"/>
            <a:ext cx="3557992" cy="1701800"/>
          </a:xfrm>
          <a:prstGeom prst="rect">
            <a:avLst/>
          </a:prstGeom>
          <a:ln>
            <a:solidFill>
              <a:srgbClr val="FF0000"/>
            </a:solidFill>
          </a:ln>
        </p:spPr>
      </p:pic>
      <p:cxnSp>
        <p:nvCxnSpPr>
          <p:cNvPr id="17" name="直線矢印コネクタ 16">
            <a:extLst>
              <a:ext uri="{FF2B5EF4-FFF2-40B4-BE49-F238E27FC236}">
                <a16:creationId xmlns:a16="http://schemas.microsoft.com/office/drawing/2014/main" id="{4C193A87-B48B-D827-9C1C-45C45D8EA7A2}"/>
              </a:ext>
            </a:extLst>
          </p:cNvPr>
          <p:cNvCxnSpPr>
            <a:stCxn id="12" idx="7"/>
            <a:endCxn id="13" idx="1"/>
          </p:cNvCxnSpPr>
          <p:nvPr/>
        </p:nvCxnSpPr>
        <p:spPr>
          <a:xfrm flipV="1">
            <a:off x="5737425" y="3375909"/>
            <a:ext cx="2573905" cy="23237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0261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モルフォロジー演算の原理</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b="0" dirty="0">
                <a:solidFill>
                  <a:srgbClr val="000000"/>
                </a:solidFill>
                <a:effectLst/>
                <a:latin typeface="Consolas" panose="020B0609020204030204" pitchFamily="49" charset="0"/>
              </a:rPr>
              <a:t>カーネルを使って</a:t>
            </a:r>
            <a:r>
              <a:rPr lang="en-US" altLang="ja-JP" b="0" dirty="0">
                <a:solidFill>
                  <a:srgbClr val="000000"/>
                </a:solidFill>
                <a:effectLst/>
                <a:latin typeface="Consolas" panose="020B0609020204030204" pitchFamily="49" charset="0"/>
              </a:rPr>
              <a:t>2</a:t>
            </a:r>
            <a:r>
              <a:rPr lang="ja-JP" altLang="en-US" b="0" dirty="0">
                <a:solidFill>
                  <a:srgbClr val="000000"/>
                </a:solidFill>
                <a:effectLst/>
                <a:latin typeface="Consolas" panose="020B0609020204030204" pitchFamily="49" charset="0"/>
              </a:rPr>
              <a:t>値画像の</a:t>
            </a:r>
            <a:r>
              <a:rPr lang="ja-JP" altLang="en-US" b="1" dirty="0">
                <a:solidFill>
                  <a:srgbClr val="000000"/>
                </a:solidFill>
                <a:effectLst/>
                <a:latin typeface="Consolas" panose="020B0609020204030204" pitchFamily="49" charset="0"/>
              </a:rPr>
              <a:t>膨張・収縮</a:t>
            </a:r>
            <a:r>
              <a:rPr lang="ja-JP" altLang="en-US" b="0" dirty="0">
                <a:solidFill>
                  <a:srgbClr val="000000"/>
                </a:solidFill>
                <a:effectLst/>
                <a:latin typeface="Consolas" panose="020B0609020204030204" pitchFamily="49" charset="0"/>
              </a:rPr>
              <a:t>を行う演算</a:t>
            </a:r>
          </a:p>
        </p:txBody>
      </p:sp>
      <p:sp>
        <p:nvSpPr>
          <p:cNvPr id="3" name="フッター プレースホルダー 2">
            <a:extLst>
              <a:ext uri="{FF2B5EF4-FFF2-40B4-BE49-F238E27FC236}">
                <a16:creationId xmlns:a16="http://schemas.microsoft.com/office/drawing/2014/main" id="{51386C4A-B79E-0FE6-5C95-36C8E22ED40F}"/>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FB069C96-E0F5-C5CA-EC4A-1C6A85E1A4E4}"/>
              </a:ext>
            </a:extLst>
          </p:cNvPr>
          <p:cNvSpPr>
            <a:spLocks noGrp="1"/>
          </p:cNvSpPr>
          <p:nvPr>
            <p:ph type="sldNum" sz="quarter" idx="12"/>
          </p:nvPr>
        </p:nvSpPr>
        <p:spPr/>
        <p:txBody>
          <a:bodyPr/>
          <a:lstStyle/>
          <a:p>
            <a:fld id="{82EE47C2-3066-499F-97BE-8094ED607EB5}" type="slidenum">
              <a:rPr kumimoji="1" lang="ja-JP" altLang="en-US" smtClean="0"/>
              <a:t>56</a:t>
            </a:fld>
            <a:endParaRPr kumimoji="1" lang="ja-JP" altLang="en-US"/>
          </a:p>
        </p:txBody>
      </p:sp>
      <p:pic>
        <p:nvPicPr>
          <p:cNvPr id="14338" name="Picture 2" descr="モルフォロジー演算について | Hakky Handbook">
            <a:extLst>
              <a:ext uri="{FF2B5EF4-FFF2-40B4-BE49-F238E27FC236}">
                <a16:creationId xmlns:a16="http://schemas.microsoft.com/office/drawing/2014/main" id="{8FBBD1A2-9472-28D7-B557-E0A950A39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1080" y="1830386"/>
            <a:ext cx="7919720" cy="4454843"/>
          </a:xfrm>
          <a:prstGeom prst="rect">
            <a:avLst/>
          </a:prstGeom>
          <a:noFill/>
          <a:extLst>
            <a:ext uri="{909E8E84-426E-40DD-AFC4-6F175D3DCCD1}">
              <a14:hiddenFill xmlns:a14="http://schemas.microsoft.com/office/drawing/2010/main">
                <a:solidFill>
                  <a:srgbClr val="FFFFFF"/>
                </a:solidFill>
              </a14:hiddenFill>
            </a:ext>
          </a:extLst>
        </p:spPr>
      </p:pic>
      <p:sp>
        <p:nvSpPr>
          <p:cNvPr id="7" name="吹き出し: 四角形 6">
            <a:extLst>
              <a:ext uri="{FF2B5EF4-FFF2-40B4-BE49-F238E27FC236}">
                <a16:creationId xmlns:a16="http://schemas.microsoft.com/office/drawing/2014/main" id="{999A78DC-6122-5D34-AEEA-158842D8151E}"/>
              </a:ext>
            </a:extLst>
          </p:cNvPr>
          <p:cNvSpPr/>
          <p:nvPr/>
        </p:nvSpPr>
        <p:spPr>
          <a:xfrm>
            <a:off x="182880" y="1937548"/>
            <a:ext cx="2265680" cy="3020531"/>
          </a:xfrm>
          <a:prstGeom prst="wedgeRectCallout">
            <a:avLst>
              <a:gd name="adj1" fmla="val 115052"/>
              <a:gd name="adj2" fmla="val -3079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カーネルの中の係数は「</a:t>
            </a:r>
            <a:r>
              <a:rPr kumimoji="1" lang="ja-JP" altLang="en-US" b="1" dirty="0"/>
              <a:t>注目する画素</a:t>
            </a:r>
            <a:r>
              <a:rPr kumimoji="1" lang="ja-JP" altLang="en-US" dirty="0"/>
              <a:t>」をあらわす</a:t>
            </a:r>
            <a:endParaRPr kumimoji="1" lang="en-US" altLang="ja-JP" dirty="0"/>
          </a:p>
          <a:p>
            <a:pPr algn="ctr"/>
            <a:r>
              <a:rPr lang="ja-JP" altLang="en-US" dirty="0"/>
              <a:t>コンボリューションはしない</a:t>
            </a:r>
            <a:endParaRPr lang="en-US" altLang="ja-JP" dirty="0"/>
          </a:p>
          <a:p>
            <a:pPr algn="ctr"/>
            <a:endParaRPr kumimoji="1" lang="en-US" altLang="ja-JP" dirty="0"/>
          </a:p>
          <a:p>
            <a:pPr algn="ctr"/>
            <a:r>
              <a:rPr lang="ja-JP" altLang="en-US" dirty="0"/>
              <a:t>この例では自分と</a:t>
            </a:r>
            <a:endParaRPr lang="en-US" altLang="ja-JP" dirty="0"/>
          </a:p>
          <a:p>
            <a:pPr algn="ctr"/>
            <a:r>
              <a:rPr lang="ja-JP" altLang="en-US" dirty="0"/>
              <a:t>上下左右の</a:t>
            </a:r>
            <a:r>
              <a:rPr lang="en-US" altLang="ja-JP" dirty="0"/>
              <a:t>5</a:t>
            </a:r>
            <a:r>
              <a:rPr lang="ja-JP" altLang="en-US" dirty="0"/>
              <a:t>セルに注目している</a:t>
            </a:r>
            <a:endParaRPr kumimoji="1" lang="ja-JP" altLang="en-US" dirty="0"/>
          </a:p>
        </p:txBody>
      </p:sp>
      <p:sp>
        <p:nvSpPr>
          <p:cNvPr id="8" name="吹き出し: 四角形 7">
            <a:extLst>
              <a:ext uri="{FF2B5EF4-FFF2-40B4-BE49-F238E27FC236}">
                <a16:creationId xmlns:a16="http://schemas.microsoft.com/office/drawing/2014/main" id="{E76C6357-780E-6CD6-FA50-4FE04ACA9B17}"/>
              </a:ext>
            </a:extLst>
          </p:cNvPr>
          <p:cNvSpPr/>
          <p:nvPr/>
        </p:nvSpPr>
        <p:spPr>
          <a:xfrm>
            <a:off x="9519920" y="1830386"/>
            <a:ext cx="2265680" cy="1762916"/>
          </a:xfrm>
          <a:prstGeom prst="wedgeRectCallout">
            <a:avLst>
              <a:gd name="adj1" fmla="val -45486"/>
              <a:gd name="adj2" fmla="val 5430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膨張の場合、</a:t>
            </a:r>
            <a:endParaRPr kumimoji="1" lang="en-US" altLang="ja-JP" dirty="0"/>
          </a:p>
          <a:p>
            <a:pPr algn="ctr"/>
            <a:r>
              <a:rPr kumimoji="1" lang="ja-JP" altLang="en-US" dirty="0"/>
              <a:t>注目する画素の</a:t>
            </a:r>
            <a:endParaRPr kumimoji="1" lang="en-US" altLang="ja-JP" dirty="0"/>
          </a:p>
          <a:p>
            <a:pPr algn="ctr"/>
            <a:r>
              <a:rPr kumimoji="1" lang="ja-JP" altLang="en-US" b="1" dirty="0"/>
              <a:t>どれか一つにでも</a:t>
            </a:r>
            <a:endParaRPr kumimoji="1" lang="en-US" altLang="ja-JP" b="1" dirty="0"/>
          </a:p>
          <a:p>
            <a:pPr algn="ctr"/>
            <a:r>
              <a:rPr kumimoji="1" lang="ja-JP" altLang="en-US" dirty="0"/>
              <a:t>白の画素があれば</a:t>
            </a:r>
            <a:endParaRPr kumimoji="1" lang="en-US" altLang="ja-JP" dirty="0"/>
          </a:p>
          <a:p>
            <a:pPr algn="ctr"/>
            <a:r>
              <a:rPr lang="ja-JP" altLang="en-US" dirty="0"/>
              <a:t>その画素を</a:t>
            </a:r>
            <a:r>
              <a:rPr kumimoji="1" lang="ja-JP" altLang="en-US" dirty="0"/>
              <a:t>白にする</a:t>
            </a:r>
          </a:p>
        </p:txBody>
      </p:sp>
      <p:sp>
        <p:nvSpPr>
          <p:cNvPr id="9" name="楕円 8">
            <a:extLst>
              <a:ext uri="{FF2B5EF4-FFF2-40B4-BE49-F238E27FC236}">
                <a16:creationId xmlns:a16="http://schemas.microsoft.com/office/drawing/2014/main" id="{78AA131C-FB1F-A072-AAE7-2F52A9C9BB0F}"/>
              </a:ext>
            </a:extLst>
          </p:cNvPr>
          <p:cNvSpPr/>
          <p:nvPr/>
        </p:nvSpPr>
        <p:spPr>
          <a:xfrm>
            <a:off x="2905760" y="3664423"/>
            <a:ext cx="568960" cy="60277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BBFB419D-A05B-346D-A48B-6B8582DD73C2}"/>
              </a:ext>
            </a:extLst>
          </p:cNvPr>
          <p:cNvSpPr/>
          <p:nvPr/>
        </p:nvSpPr>
        <p:spPr>
          <a:xfrm>
            <a:off x="7477760" y="3664423"/>
            <a:ext cx="568960" cy="60277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吹き出し: 四角形 12">
            <a:extLst>
              <a:ext uri="{FF2B5EF4-FFF2-40B4-BE49-F238E27FC236}">
                <a16:creationId xmlns:a16="http://schemas.microsoft.com/office/drawing/2014/main" id="{00C6C3A6-07F2-BC3E-9BF3-18D3A18A57E1}"/>
              </a:ext>
            </a:extLst>
          </p:cNvPr>
          <p:cNvSpPr/>
          <p:nvPr/>
        </p:nvSpPr>
        <p:spPr>
          <a:xfrm>
            <a:off x="5212080" y="4601151"/>
            <a:ext cx="2265680" cy="1198708"/>
          </a:xfrm>
          <a:prstGeom prst="wedgeRectCallout">
            <a:avLst>
              <a:gd name="adj1" fmla="val 51375"/>
              <a:gd name="adj2" fmla="val -9035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黄色枠内の画素は、上下左右に白い画素がなかったので黒のまま</a:t>
            </a:r>
          </a:p>
        </p:txBody>
      </p:sp>
      <p:sp>
        <p:nvSpPr>
          <p:cNvPr id="14" name="テキスト ボックス 13">
            <a:extLst>
              <a:ext uri="{FF2B5EF4-FFF2-40B4-BE49-F238E27FC236}">
                <a16:creationId xmlns:a16="http://schemas.microsoft.com/office/drawing/2014/main" id="{28462F31-E9BE-E91C-11C7-6A2A80E52A50}"/>
              </a:ext>
            </a:extLst>
          </p:cNvPr>
          <p:cNvSpPr txBox="1"/>
          <p:nvPr/>
        </p:nvSpPr>
        <p:spPr>
          <a:xfrm>
            <a:off x="6945203" y="5856351"/>
            <a:ext cx="3920917" cy="646331"/>
          </a:xfrm>
          <a:prstGeom prst="rect">
            <a:avLst/>
          </a:prstGeom>
          <a:noFill/>
        </p:spPr>
        <p:txBody>
          <a:bodyPr wrap="square" rtlCol="0">
            <a:spAutoFit/>
          </a:bodyPr>
          <a:lstStyle/>
          <a:p>
            <a:pPr algn="ctr"/>
            <a:r>
              <a:rPr kumimoji="1" lang="ja-JP" altLang="en-US" b="1" dirty="0"/>
              <a:t>収縮はこれの逆</a:t>
            </a:r>
            <a:endParaRPr kumimoji="1" lang="en-US" altLang="ja-JP" b="1" dirty="0"/>
          </a:p>
          <a:p>
            <a:pPr algn="ctr"/>
            <a:r>
              <a:rPr lang="ja-JP" altLang="en-US" b="1" dirty="0"/>
              <a:t>一つでも黒の画素があれば黒にする</a:t>
            </a:r>
            <a:endParaRPr kumimoji="1" lang="en-US" altLang="ja-JP" b="1" dirty="0"/>
          </a:p>
        </p:txBody>
      </p:sp>
    </p:spTree>
    <p:extLst>
      <p:ext uri="{BB962C8B-B14F-4D97-AF65-F5344CB8AC3E}">
        <p14:creationId xmlns:p14="http://schemas.microsoft.com/office/powerpoint/2010/main" val="29396000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膨張・収縮させる　</a:t>
            </a:r>
            <a:r>
              <a:rPr lang="en-US" altLang="ja-JP" b="1" dirty="0"/>
              <a:t>morphrology_demo.py</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5487035" cy="5168570"/>
          </a:xfrm>
        </p:spPr>
        <p:txBody>
          <a:bodyPr>
            <a:normAutofit/>
          </a:bodyPr>
          <a:lstStyle/>
          <a:p>
            <a:r>
              <a:rPr lang="ja-JP" altLang="en-US" dirty="0">
                <a:solidFill>
                  <a:srgbClr val="000000"/>
                </a:solidFill>
                <a:latin typeface="Consolas" panose="020B0609020204030204" pitchFamily="49" charset="0"/>
              </a:rPr>
              <a:t>モルフォロジー演算による膨張と収縮操作で、ブロブの外のごみを除去、ブロブの中の穴ぼこを埋めることが可能</a:t>
            </a:r>
            <a:endParaRPr lang="ja-JP" altLang="en-US"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51386C4A-B79E-0FE6-5C95-36C8E22ED40F}"/>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FB069C96-E0F5-C5CA-EC4A-1C6A85E1A4E4}"/>
              </a:ext>
            </a:extLst>
          </p:cNvPr>
          <p:cNvSpPr>
            <a:spLocks noGrp="1"/>
          </p:cNvSpPr>
          <p:nvPr>
            <p:ph type="sldNum" sz="quarter" idx="12"/>
          </p:nvPr>
        </p:nvSpPr>
        <p:spPr/>
        <p:txBody>
          <a:bodyPr/>
          <a:lstStyle/>
          <a:p>
            <a:fld id="{82EE47C2-3066-499F-97BE-8094ED607EB5}" type="slidenum">
              <a:rPr kumimoji="1" lang="ja-JP" altLang="en-US" smtClean="0"/>
              <a:t>57</a:t>
            </a:fld>
            <a:endParaRPr kumimoji="1" lang="ja-JP" altLang="en-US"/>
          </a:p>
        </p:txBody>
      </p:sp>
      <p:pic>
        <p:nvPicPr>
          <p:cNvPr id="14" name="Picture 2" descr="膨張収縮連続処理">
            <a:extLst>
              <a:ext uri="{FF2B5EF4-FFF2-40B4-BE49-F238E27FC236}">
                <a16:creationId xmlns:a16="http://schemas.microsoft.com/office/drawing/2014/main" id="{117427D5-5F05-4883-9E67-8545A53AB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119" y="1188720"/>
            <a:ext cx="5487035" cy="5487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7932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8185AE-C0BF-3560-6AD1-D7ACD4BB7F6C}"/>
              </a:ext>
            </a:extLst>
          </p:cNvPr>
          <p:cNvSpPr>
            <a:spLocks noGrp="1"/>
          </p:cNvSpPr>
          <p:nvPr>
            <p:ph type="title"/>
          </p:nvPr>
        </p:nvSpPr>
        <p:spPr/>
        <p:txBody>
          <a:bodyPr/>
          <a:lstStyle/>
          <a:p>
            <a:r>
              <a:rPr lang="ja-JP" altLang="en-US" dirty="0"/>
              <a:t>練習</a:t>
            </a:r>
            <a:endParaRPr kumimoji="1" lang="ja-JP" altLang="en-US" dirty="0"/>
          </a:p>
        </p:txBody>
      </p:sp>
      <p:sp>
        <p:nvSpPr>
          <p:cNvPr id="3" name="コンテンツ プレースホルダー 2">
            <a:extLst>
              <a:ext uri="{FF2B5EF4-FFF2-40B4-BE49-F238E27FC236}">
                <a16:creationId xmlns:a16="http://schemas.microsoft.com/office/drawing/2014/main" id="{71800045-550E-C791-971B-C05A5D2BABA6}"/>
              </a:ext>
            </a:extLst>
          </p:cNvPr>
          <p:cNvSpPr>
            <a:spLocks noGrp="1"/>
          </p:cNvSpPr>
          <p:nvPr>
            <p:ph idx="1"/>
          </p:nvPr>
        </p:nvSpPr>
        <p:spPr>
          <a:xfrm>
            <a:off x="838200" y="1422400"/>
            <a:ext cx="6350937" cy="4754563"/>
          </a:xfrm>
        </p:spPr>
        <p:txBody>
          <a:bodyPr/>
          <a:lstStyle/>
          <a:p>
            <a:r>
              <a:rPr kumimoji="1" lang="ja-JP" altLang="en-US" dirty="0"/>
              <a:t>クッキーの生産工場で、欠けの検知を自動化しようとしています</a:t>
            </a:r>
            <a:endParaRPr kumimoji="1" lang="en-US" altLang="ja-JP" dirty="0"/>
          </a:p>
          <a:p>
            <a:r>
              <a:rPr lang="ja-JP" altLang="en-US" dirty="0"/>
              <a:t>照明や環境整備の費用を抑えたいため、現在の環境のまま画像処理をします</a:t>
            </a:r>
            <a:endParaRPr lang="en-US" altLang="ja-JP" dirty="0"/>
          </a:p>
          <a:p>
            <a:r>
              <a:rPr kumimoji="1" lang="ja-JP" altLang="en-US" dirty="0"/>
              <a:t>右図が現在の環境で撮れた写真です</a:t>
            </a:r>
            <a:endParaRPr kumimoji="1" lang="en-US" altLang="ja-JP" dirty="0"/>
          </a:p>
          <a:p>
            <a:r>
              <a:rPr lang="ja-JP" altLang="en-US" dirty="0"/>
              <a:t>初めに欠けの検知の前段階として、クッキーの形の</a:t>
            </a:r>
            <a:r>
              <a:rPr lang="en-US" altLang="ja-JP" dirty="0"/>
              <a:t>2</a:t>
            </a:r>
            <a:r>
              <a:rPr lang="ja-JP" altLang="en-US" dirty="0"/>
              <a:t>値画像を手に入れるような画像処理プログラムを作成してください</a:t>
            </a:r>
            <a:endParaRPr kumimoji="1" lang="ja-JP" altLang="en-US" dirty="0"/>
          </a:p>
        </p:txBody>
      </p:sp>
      <p:sp>
        <p:nvSpPr>
          <p:cNvPr id="4" name="フッター プレースホルダー 3">
            <a:extLst>
              <a:ext uri="{FF2B5EF4-FFF2-40B4-BE49-F238E27FC236}">
                <a16:creationId xmlns:a16="http://schemas.microsoft.com/office/drawing/2014/main" id="{1B88E619-45A4-1740-82C7-9E082D50F62A}"/>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304DBC3C-20D9-B5C4-846E-8BB6831064A5}"/>
              </a:ext>
            </a:extLst>
          </p:cNvPr>
          <p:cNvSpPr>
            <a:spLocks noGrp="1"/>
          </p:cNvSpPr>
          <p:nvPr>
            <p:ph type="sldNum" sz="quarter" idx="12"/>
          </p:nvPr>
        </p:nvSpPr>
        <p:spPr/>
        <p:txBody>
          <a:bodyPr/>
          <a:lstStyle/>
          <a:p>
            <a:fld id="{82EE47C2-3066-499F-97BE-8094ED607EB5}" type="slidenum">
              <a:rPr kumimoji="1" lang="ja-JP" altLang="en-US" smtClean="0"/>
              <a:t>58</a:t>
            </a:fld>
            <a:endParaRPr kumimoji="1" lang="ja-JP" altLang="en-US"/>
          </a:p>
        </p:txBody>
      </p:sp>
      <p:pic>
        <p:nvPicPr>
          <p:cNvPr id="7" name="図 6">
            <a:extLst>
              <a:ext uri="{FF2B5EF4-FFF2-40B4-BE49-F238E27FC236}">
                <a16:creationId xmlns:a16="http://schemas.microsoft.com/office/drawing/2014/main" id="{59119740-EEEB-0B4D-7D92-01348347E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0417" y="1634808"/>
            <a:ext cx="4763165" cy="4610743"/>
          </a:xfrm>
          <a:prstGeom prst="rect">
            <a:avLst/>
          </a:prstGeom>
        </p:spPr>
      </p:pic>
    </p:spTree>
    <p:extLst>
      <p:ext uri="{BB962C8B-B14F-4D97-AF65-F5344CB8AC3E}">
        <p14:creationId xmlns:p14="http://schemas.microsoft.com/office/powerpoint/2010/main" val="2603808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ラベリング</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値画像内の白の連結領域（ブロブ）にラベルを振る作業をラベリングという</a:t>
            </a:r>
            <a:endParaRPr lang="en-US" altLang="ja-JP" dirty="0">
              <a:solidFill>
                <a:srgbClr val="000000"/>
              </a:solidFill>
              <a:latin typeface="Consolas" panose="020B0609020204030204" pitchFamily="49" charset="0"/>
            </a:endParaRPr>
          </a:p>
          <a:p>
            <a:r>
              <a:rPr lang="ja-JP" altLang="en-US" b="0" dirty="0">
                <a:solidFill>
                  <a:srgbClr val="000000"/>
                </a:solidFill>
                <a:effectLst/>
                <a:latin typeface="Consolas" panose="020B0609020204030204" pitchFamily="49" charset="0"/>
              </a:rPr>
              <a:t>ラベリング後に、特定のラベルのブロブの形状特徴パラメータを検出できる</a:t>
            </a:r>
            <a:endParaRPr lang="en-US" altLang="ja-JP"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59</a:t>
            </a:fld>
            <a:endParaRPr kumimoji="1" lang="ja-JP" altLang="en-US"/>
          </a:p>
        </p:txBody>
      </p:sp>
      <p:pic>
        <p:nvPicPr>
          <p:cNvPr id="26626" name="Picture 2" descr="ラベリング①～ラベリングの概要～ | 画像認識の技術ブログ | マクセルフロンティア株式会社">
            <a:extLst>
              <a:ext uri="{FF2B5EF4-FFF2-40B4-BE49-F238E27FC236}">
                <a16:creationId xmlns:a16="http://schemas.microsoft.com/office/drawing/2014/main" id="{CBD425F6-A2E2-5E07-20F2-0C52EB23D3C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74140" y="2979703"/>
            <a:ext cx="9443720" cy="3627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542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特徴パラメータを取得　</a:t>
            </a:r>
            <a:r>
              <a:rPr kumimoji="1" lang="en-US" altLang="ja-JP" b="1" dirty="0"/>
              <a:t>hello_labeling.py</a:t>
            </a:r>
            <a:endParaRPr kumimoji="1" lang="ja-JP" altLang="en-US" b="1" dirty="0"/>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60</a:t>
            </a:fld>
            <a:endParaRPr kumimoji="1" lang="ja-JP" altLang="en-US"/>
          </a:p>
        </p:txBody>
      </p:sp>
      <p:sp>
        <p:nvSpPr>
          <p:cNvPr id="8" name="コンテンツ プレースホルダー 4">
            <a:extLst>
              <a:ext uri="{FF2B5EF4-FFF2-40B4-BE49-F238E27FC236}">
                <a16:creationId xmlns:a16="http://schemas.microsoft.com/office/drawing/2014/main" id="{28782823-03D7-D0B7-2641-AE231A817FD7}"/>
              </a:ext>
            </a:extLst>
          </p:cNvPr>
          <p:cNvSpPr txBox="1">
            <a:spLocks/>
          </p:cNvSpPr>
          <p:nvPr/>
        </p:nvSpPr>
        <p:spPr>
          <a:xfrm>
            <a:off x="629920" y="1324304"/>
            <a:ext cx="11358880" cy="5168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0" dirty="0">
                <a:solidFill>
                  <a:srgbClr val="000000"/>
                </a:solidFill>
                <a:effectLst/>
                <a:latin typeface="Consolas" panose="020B0609020204030204" pitchFamily="49" charset="0"/>
              </a:rPr>
              <a:t>cv2.connectedComponentsWithStats(</a:t>
            </a:r>
            <a:r>
              <a:rPr lang="en-US" altLang="ja-JP" b="0" dirty="0" err="1">
                <a:solidFill>
                  <a:srgbClr val="000000"/>
                </a:solidFill>
                <a:effectLst/>
                <a:latin typeface="Consolas" panose="020B0609020204030204" pitchFamily="49" charset="0"/>
              </a:rPr>
              <a:t>img_src</a:t>
            </a:r>
            <a:r>
              <a:rPr lang="en-US" altLang="ja-JP" b="0" dirty="0">
                <a:solidFill>
                  <a:srgbClr val="000000"/>
                </a:solidFill>
                <a:effectLst/>
                <a:latin typeface="Consolas" panose="020B0609020204030204" pitchFamily="49" charset="0"/>
              </a:rPr>
              <a:t>)</a:t>
            </a:r>
            <a:endParaRPr lang="en-US" altLang="ja-JP" dirty="0">
              <a:solidFill>
                <a:srgbClr val="000000"/>
              </a:solidFill>
              <a:latin typeface="Consolas" panose="020B0609020204030204" pitchFamily="49" charset="0"/>
            </a:endParaRPr>
          </a:p>
          <a:p>
            <a:pPr marL="0" indent="0">
              <a:buNone/>
            </a:pP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この関数で白連結区間にラベリング</a:t>
            </a:r>
            <a:r>
              <a:rPr lang="en-US" altLang="ja-JP" dirty="0">
                <a:solidFill>
                  <a:srgbClr val="000000"/>
                </a:solidFill>
                <a:latin typeface="Consolas" panose="020B0609020204030204" pitchFamily="49" charset="0"/>
              </a:rPr>
              <a:t>(+α)</a:t>
            </a:r>
            <a:r>
              <a:rPr lang="ja-JP" altLang="en-US" dirty="0">
                <a:solidFill>
                  <a:srgbClr val="000000"/>
                </a:solidFill>
                <a:latin typeface="Consolas" panose="020B0609020204030204" pitchFamily="49" charset="0"/>
              </a:rPr>
              <a:t>できる</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戻り値は</a:t>
            </a:r>
            <a:r>
              <a:rPr lang="en-US" altLang="ja-JP" dirty="0">
                <a:solidFill>
                  <a:srgbClr val="000000"/>
                </a:solidFill>
                <a:latin typeface="Consolas" panose="020B0609020204030204" pitchFamily="49" charset="0"/>
              </a:rPr>
              <a:t>4</a:t>
            </a:r>
            <a:r>
              <a:rPr lang="ja-JP" altLang="en-US" dirty="0">
                <a:solidFill>
                  <a:srgbClr val="000000"/>
                </a:solidFill>
                <a:latin typeface="Consolas" panose="020B0609020204030204" pitchFamily="49" charset="0"/>
              </a:rPr>
              <a:t>つ</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・ラベル数</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・画像中の</a:t>
            </a:r>
            <a:r>
              <a:rPr lang="en-US" altLang="ja-JP" dirty="0">
                <a:solidFill>
                  <a:srgbClr val="000000"/>
                </a:solidFill>
                <a:latin typeface="Consolas" panose="020B0609020204030204" pitchFamily="49" charset="0"/>
              </a:rPr>
              <a:t>pixel</a:t>
            </a:r>
            <a:r>
              <a:rPr lang="ja-JP" altLang="en-US" dirty="0">
                <a:solidFill>
                  <a:srgbClr val="000000"/>
                </a:solidFill>
                <a:latin typeface="Consolas" panose="020B0609020204030204" pitchFamily="49" charset="0"/>
              </a:rPr>
              <a:t>とラベルの対応</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・統計情報（ブロブの左上の座標・幅・高さ・面積）</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・その連結区間（ブロブ）の重心の座標</a:t>
            </a:r>
            <a:endParaRPr lang="en-US" altLang="ja-JP" dirty="0">
              <a:solidFill>
                <a:srgbClr val="000000"/>
              </a:solidFill>
              <a:latin typeface="Consolas" panose="020B0609020204030204" pitchFamily="49" charset="0"/>
            </a:endParaRPr>
          </a:p>
          <a:p>
            <a:pPr marL="0" indent="0">
              <a:buNone/>
            </a:pPr>
            <a:r>
              <a:rPr lang="ja-JP" altLang="en-US" sz="2000" b="0" dirty="0">
                <a:solidFill>
                  <a:srgbClr val="000000"/>
                </a:solidFill>
                <a:effectLst/>
                <a:latin typeface="Consolas" panose="020B0609020204030204" pitchFamily="49" charset="0"/>
              </a:rPr>
              <a:t>↓ ラベルをもとに色分けしてくれる関数</a:t>
            </a:r>
            <a:endParaRPr lang="en-US" altLang="ja-JP" sz="2000" b="0" dirty="0">
              <a:solidFill>
                <a:srgbClr val="000000"/>
              </a:solidFill>
              <a:effectLst/>
              <a:latin typeface="Consolas" panose="020B0609020204030204" pitchFamily="49" charset="0"/>
            </a:endParaRPr>
          </a:p>
          <a:p>
            <a:pPr marL="0" indent="0">
              <a:buNone/>
            </a:pPr>
            <a:r>
              <a:rPr lang="en-US" altLang="ja-JP" sz="2000" b="0" dirty="0">
                <a:solidFill>
                  <a:srgbClr val="000000"/>
                </a:solidFill>
                <a:effectLst/>
                <a:latin typeface="Consolas" panose="020B0609020204030204" pitchFamily="49" charset="0"/>
              </a:rPr>
              <a:t>cv2.applyColorMap((labels * </a:t>
            </a:r>
            <a:r>
              <a:rPr lang="en-US" altLang="ja-JP" sz="2000" dirty="0">
                <a:solidFill>
                  <a:srgbClr val="098658"/>
                </a:solidFill>
                <a:latin typeface="Consolas" panose="020B0609020204030204" pitchFamily="49" charset="0"/>
              </a:rPr>
              <a:t>5</a:t>
            </a:r>
            <a:r>
              <a:rPr lang="en-US" altLang="ja-JP" sz="2000" b="0" dirty="0">
                <a:solidFill>
                  <a:srgbClr val="098658"/>
                </a:solidFill>
                <a:effectLst/>
                <a:latin typeface="Consolas" panose="020B0609020204030204" pitchFamily="49" charset="0"/>
              </a:rPr>
              <a:t>0</a:t>
            </a:r>
            <a:r>
              <a:rPr lang="en-US" altLang="ja-JP" sz="2000" b="0" dirty="0">
                <a:solidFill>
                  <a:srgbClr val="000000"/>
                </a:solidFill>
                <a:effectLst/>
                <a:latin typeface="Consolas" panose="020B0609020204030204" pitchFamily="49" charset="0"/>
              </a:rPr>
              <a:t>).</a:t>
            </a:r>
            <a:r>
              <a:rPr lang="en-US" altLang="ja-JP" sz="2000" b="0" dirty="0" err="1">
                <a:solidFill>
                  <a:srgbClr val="000000"/>
                </a:solidFill>
                <a:effectLst/>
                <a:latin typeface="Consolas" panose="020B0609020204030204" pitchFamily="49" charset="0"/>
              </a:rPr>
              <a:t>astype</a:t>
            </a:r>
            <a:r>
              <a:rPr lang="en-US" altLang="ja-JP" sz="2000" b="0" dirty="0">
                <a:solidFill>
                  <a:srgbClr val="000000"/>
                </a:solidFill>
                <a:effectLst/>
                <a:latin typeface="Consolas" panose="020B0609020204030204" pitchFamily="49" charset="0"/>
              </a:rPr>
              <a:t>(</a:t>
            </a:r>
            <a:r>
              <a:rPr lang="en-US" altLang="ja-JP" sz="2000" b="0" dirty="0">
                <a:solidFill>
                  <a:srgbClr val="A31515"/>
                </a:solidFill>
                <a:effectLst/>
                <a:latin typeface="Consolas" panose="020B0609020204030204" pitchFamily="49" charset="0"/>
              </a:rPr>
              <a:t>'uint8'</a:t>
            </a:r>
            <a:r>
              <a:rPr lang="en-US" altLang="ja-JP" sz="2000" b="0" dirty="0">
                <a:solidFill>
                  <a:srgbClr val="000000"/>
                </a:solidFill>
                <a:effectLst/>
                <a:latin typeface="Consolas" panose="020B0609020204030204" pitchFamily="49" charset="0"/>
              </a:rPr>
              <a:t>), cv2.COLORMAP_TURBO)</a:t>
            </a:r>
          </a:p>
          <a:p>
            <a:pPr marL="0" indent="0">
              <a:buNone/>
            </a:pPr>
            <a:endParaRPr lang="en-US" altLang="ja-JP" dirty="0">
              <a:solidFill>
                <a:srgbClr val="000000"/>
              </a:solidFill>
              <a:latin typeface="Consolas" panose="020B0609020204030204" pitchFamily="49" charset="0"/>
            </a:endParaRPr>
          </a:p>
        </p:txBody>
      </p:sp>
      <p:pic>
        <p:nvPicPr>
          <p:cNvPr id="15" name="図 14">
            <a:extLst>
              <a:ext uri="{FF2B5EF4-FFF2-40B4-BE49-F238E27FC236}">
                <a16:creationId xmlns:a16="http://schemas.microsoft.com/office/drawing/2014/main" id="{A90EF324-24AC-3BBC-77AF-DD72C9406469}"/>
              </a:ext>
            </a:extLst>
          </p:cNvPr>
          <p:cNvPicPr>
            <a:picLocks noChangeAspect="1"/>
          </p:cNvPicPr>
          <p:nvPr/>
        </p:nvPicPr>
        <p:blipFill>
          <a:blip r:embed="rId3"/>
          <a:stretch>
            <a:fillRect/>
          </a:stretch>
        </p:blipFill>
        <p:spPr>
          <a:xfrm>
            <a:off x="8977870" y="1324304"/>
            <a:ext cx="2830590" cy="2468051"/>
          </a:xfrm>
          <a:prstGeom prst="rect">
            <a:avLst/>
          </a:prstGeom>
        </p:spPr>
      </p:pic>
    </p:spTree>
    <p:extLst>
      <p:ext uri="{BB962C8B-B14F-4D97-AF65-F5344CB8AC3E}">
        <p14:creationId xmlns:p14="http://schemas.microsoft.com/office/powerpoint/2010/main" val="34622118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1150600" cy="959178"/>
          </a:xfrm>
        </p:spPr>
        <p:txBody>
          <a:bodyPr>
            <a:normAutofit/>
          </a:bodyPr>
          <a:lstStyle/>
          <a:p>
            <a:r>
              <a:rPr kumimoji="1" lang="ja-JP" altLang="en-US" b="1" dirty="0"/>
              <a:t>もっと特徴パラメータ　</a:t>
            </a:r>
            <a:r>
              <a:rPr kumimoji="1" lang="en-US" altLang="ja-JP" b="1" dirty="0"/>
              <a:t>hello_parameters.py</a:t>
            </a:r>
            <a:endParaRPr kumimoji="1" lang="ja-JP" altLang="en-US" b="1" dirty="0"/>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61</a:t>
            </a:fld>
            <a:endParaRPr kumimoji="1" lang="ja-JP" altLang="en-US"/>
          </a:p>
        </p:txBody>
      </p:sp>
      <p:sp>
        <p:nvSpPr>
          <p:cNvPr id="8" name="コンテンツ プレースホルダー 4">
            <a:extLst>
              <a:ext uri="{FF2B5EF4-FFF2-40B4-BE49-F238E27FC236}">
                <a16:creationId xmlns:a16="http://schemas.microsoft.com/office/drawing/2014/main" id="{28782823-03D7-D0B7-2641-AE231A817FD7}"/>
              </a:ext>
            </a:extLst>
          </p:cNvPr>
          <p:cNvSpPr txBox="1">
            <a:spLocks/>
          </p:cNvSpPr>
          <p:nvPr/>
        </p:nvSpPr>
        <p:spPr>
          <a:xfrm>
            <a:off x="416560" y="1358288"/>
            <a:ext cx="11430000" cy="516857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fr-FR" altLang="ja-JP" sz="2400" b="0" dirty="0">
                <a:solidFill>
                  <a:srgbClr val="000000"/>
                </a:solidFill>
                <a:effectLst/>
                <a:latin typeface="Consolas" panose="020B0609020204030204" pitchFamily="49" charset="0"/>
              </a:rPr>
              <a:t>cv2.findContours(mask, cv2.RETR_EXTERNAL, cv2.CHAIN_APPROX_SIMPLE)</a:t>
            </a:r>
          </a:p>
          <a:p>
            <a:pPr marL="0" indent="0">
              <a:buNone/>
            </a:pPr>
            <a:endParaRPr lang="fr-FR" altLang="ja-JP" sz="2400" dirty="0">
              <a:solidFill>
                <a:srgbClr val="000000"/>
              </a:solidFill>
              <a:latin typeface="Consolas" panose="020B0609020204030204" pitchFamily="49" charset="0"/>
            </a:endParaRPr>
          </a:p>
          <a:p>
            <a:pPr marL="0" indent="0">
              <a:buNone/>
            </a:pPr>
            <a:r>
              <a:rPr lang="fr-FR" altLang="ja-JP" sz="2400" b="0" dirty="0">
                <a:solidFill>
                  <a:srgbClr val="000000"/>
                </a:solidFill>
                <a:effectLst/>
                <a:latin typeface="Consolas" panose="020B0609020204030204" pitchFamily="49" charset="0"/>
              </a:rPr>
              <a:t>2</a:t>
            </a:r>
            <a:r>
              <a:rPr lang="ja-JP" altLang="en-US" sz="2400" b="0" dirty="0">
                <a:solidFill>
                  <a:srgbClr val="000000"/>
                </a:solidFill>
                <a:effectLst/>
                <a:latin typeface="Consolas" panose="020B0609020204030204" pitchFamily="49" charset="0"/>
              </a:rPr>
              <a:t>値画像から輪郭を得る関数、引数の意味は以下の通り</a:t>
            </a:r>
            <a:endParaRPr lang="en-US" altLang="ja-JP" sz="2400" b="0" dirty="0">
              <a:solidFill>
                <a:srgbClr val="000000"/>
              </a:solidFill>
              <a:effectLst/>
              <a:latin typeface="Consolas" panose="020B0609020204030204" pitchFamily="49" charset="0"/>
            </a:endParaRPr>
          </a:p>
          <a:p>
            <a:pPr marL="0" indent="0">
              <a:buNone/>
            </a:pPr>
            <a:r>
              <a:rPr lang="ja-JP" altLang="en-US" sz="2400" b="0" dirty="0">
                <a:solidFill>
                  <a:srgbClr val="000000"/>
                </a:solidFill>
                <a:effectLst/>
                <a:latin typeface="Consolas" panose="020B0609020204030204" pitchFamily="49" charset="0"/>
              </a:rPr>
              <a:t>第一引数 </a:t>
            </a:r>
            <a:r>
              <a:rPr lang="en-US" altLang="ja-JP" sz="2400" b="0" dirty="0">
                <a:solidFill>
                  <a:srgbClr val="000000"/>
                </a:solidFill>
                <a:effectLst/>
                <a:latin typeface="Consolas" panose="020B0609020204030204" pitchFamily="49" charset="0"/>
              </a:rPr>
              <a:t>… 2</a:t>
            </a:r>
            <a:r>
              <a:rPr lang="ja-JP" altLang="en-US" sz="2400" b="0" dirty="0">
                <a:solidFill>
                  <a:srgbClr val="000000"/>
                </a:solidFill>
                <a:effectLst/>
                <a:latin typeface="Consolas" panose="020B0609020204030204" pitchFamily="49" charset="0"/>
              </a:rPr>
              <a:t>値画像</a:t>
            </a:r>
            <a:endParaRPr lang="en-US" altLang="ja-JP" sz="2400" b="0" dirty="0">
              <a:solidFill>
                <a:srgbClr val="000000"/>
              </a:solidFill>
              <a:effectLst/>
              <a:latin typeface="Consolas" panose="020B0609020204030204" pitchFamily="49" charset="0"/>
            </a:endParaRPr>
          </a:p>
          <a:p>
            <a:pPr marL="0" indent="0">
              <a:buNone/>
            </a:pPr>
            <a:r>
              <a:rPr lang="ja-JP" altLang="en-US" sz="2400" dirty="0">
                <a:solidFill>
                  <a:srgbClr val="000000"/>
                </a:solidFill>
                <a:latin typeface="Consolas" panose="020B0609020204030204" pitchFamily="49" charset="0"/>
              </a:rPr>
              <a:t>第二引数 </a:t>
            </a:r>
            <a:r>
              <a:rPr lang="en-US" altLang="ja-JP" sz="2400" dirty="0">
                <a:solidFill>
                  <a:srgbClr val="000000"/>
                </a:solidFill>
                <a:latin typeface="Consolas" panose="020B0609020204030204" pitchFamily="49" charset="0"/>
              </a:rPr>
              <a:t>… </a:t>
            </a:r>
            <a:r>
              <a:rPr lang="ja-JP" altLang="en-US" sz="2400" dirty="0">
                <a:solidFill>
                  <a:srgbClr val="000000"/>
                </a:solidFill>
                <a:latin typeface="Consolas" panose="020B0609020204030204" pitchFamily="49" charset="0"/>
              </a:rPr>
              <a:t>輪郭の取り方（</a:t>
            </a:r>
            <a:r>
              <a:rPr lang="fr-FR" altLang="ja-JP" sz="2400" b="0" dirty="0">
                <a:solidFill>
                  <a:srgbClr val="000000"/>
                </a:solidFill>
                <a:effectLst/>
                <a:latin typeface="Consolas" panose="020B0609020204030204" pitchFamily="49" charset="0"/>
              </a:rPr>
              <a:t> cv2.RETR_EXTERNAL </a:t>
            </a:r>
            <a:r>
              <a:rPr lang="ja-JP" altLang="en-US" sz="2400" b="0" dirty="0">
                <a:solidFill>
                  <a:srgbClr val="000000"/>
                </a:solidFill>
                <a:effectLst/>
                <a:latin typeface="Consolas" panose="020B0609020204030204" pitchFamily="49" charset="0"/>
              </a:rPr>
              <a:t>は最も外側の輪郭だけ</a:t>
            </a:r>
            <a:r>
              <a:rPr lang="ja-JP" altLang="en-US" sz="2400" dirty="0">
                <a:solidFill>
                  <a:srgbClr val="000000"/>
                </a:solidFill>
                <a:latin typeface="Consolas" panose="020B0609020204030204" pitchFamily="49" charset="0"/>
              </a:rPr>
              <a:t>）</a:t>
            </a:r>
            <a:endParaRPr lang="en-US" altLang="ja-JP" sz="2400" dirty="0">
              <a:solidFill>
                <a:srgbClr val="000000"/>
              </a:solidFill>
              <a:latin typeface="Consolas" panose="020B0609020204030204" pitchFamily="49" charset="0"/>
            </a:endParaRPr>
          </a:p>
          <a:p>
            <a:pPr marL="0" indent="0">
              <a:buNone/>
            </a:pPr>
            <a:r>
              <a:rPr lang="ja-JP" altLang="en-US" sz="2400" b="0" dirty="0">
                <a:solidFill>
                  <a:srgbClr val="000000"/>
                </a:solidFill>
                <a:effectLst/>
                <a:latin typeface="Consolas" panose="020B0609020204030204" pitchFamily="49" charset="0"/>
              </a:rPr>
              <a:t>第三引数 </a:t>
            </a:r>
            <a:r>
              <a:rPr lang="en-US" altLang="ja-JP" sz="2400" b="0" dirty="0">
                <a:solidFill>
                  <a:srgbClr val="000000"/>
                </a:solidFill>
                <a:effectLst/>
                <a:latin typeface="Consolas" panose="020B0609020204030204" pitchFamily="49" charset="0"/>
              </a:rPr>
              <a:t>… </a:t>
            </a:r>
            <a:r>
              <a:rPr lang="ja-JP" altLang="en-US" sz="2400" b="0" dirty="0">
                <a:solidFill>
                  <a:srgbClr val="000000"/>
                </a:solidFill>
                <a:effectLst/>
                <a:latin typeface="Consolas" panose="020B0609020204030204" pitchFamily="49" charset="0"/>
              </a:rPr>
              <a:t>輪郭の圧縮（</a:t>
            </a:r>
            <a:r>
              <a:rPr lang="fr-FR" altLang="ja-JP" sz="2400" b="0" dirty="0">
                <a:solidFill>
                  <a:srgbClr val="000000"/>
                </a:solidFill>
                <a:effectLst/>
                <a:latin typeface="Consolas" panose="020B0609020204030204" pitchFamily="49" charset="0"/>
              </a:rPr>
              <a:t> cv2.CHAIN_APPROX_SIMPLE </a:t>
            </a:r>
            <a:r>
              <a:rPr lang="ja-JP" altLang="en-US" sz="2400" b="0" dirty="0">
                <a:solidFill>
                  <a:srgbClr val="000000"/>
                </a:solidFill>
                <a:effectLst/>
                <a:latin typeface="Consolas" panose="020B0609020204030204" pitchFamily="49" charset="0"/>
              </a:rPr>
              <a:t>は中間点を省略）</a:t>
            </a:r>
            <a:endParaRPr lang="en-US" altLang="ja-JP" sz="2400" b="0" dirty="0">
              <a:solidFill>
                <a:srgbClr val="000000"/>
              </a:solidFill>
              <a:effectLst/>
              <a:latin typeface="Consolas" panose="020B0609020204030204" pitchFamily="49" charset="0"/>
            </a:endParaRPr>
          </a:p>
          <a:p>
            <a:pPr marL="0" indent="0">
              <a:buNone/>
            </a:pPr>
            <a:endParaRPr lang="en-US" altLang="ja-JP" sz="2400" dirty="0">
              <a:solidFill>
                <a:srgbClr val="000000"/>
              </a:solidFill>
              <a:latin typeface="Consolas" panose="020B0609020204030204" pitchFamily="49" charset="0"/>
            </a:endParaRPr>
          </a:p>
          <a:p>
            <a:pPr marL="0" indent="0">
              <a:buNone/>
            </a:pPr>
            <a:r>
              <a:rPr lang="ja-JP" altLang="en-US" sz="2400" b="0" dirty="0">
                <a:solidFill>
                  <a:srgbClr val="000000"/>
                </a:solidFill>
                <a:effectLst/>
                <a:latin typeface="Consolas" panose="020B0609020204030204" pitchFamily="49" charset="0"/>
              </a:rPr>
              <a:t>戻り値は</a:t>
            </a:r>
            <a:r>
              <a:rPr lang="en-US" altLang="ja-JP" sz="2400" b="0" dirty="0">
                <a:solidFill>
                  <a:srgbClr val="000000"/>
                </a:solidFill>
                <a:effectLst/>
                <a:latin typeface="Consolas" panose="020B0609020204030204" pitchFamily="49" charset="0"/>
              </a:rPr>
              <a:t>2</a:t>
            </a:r>
            <a:r>
              <a:rPr lang="ja-JP" altLang="en-US" sz="2400" b="0" dirty="0">
                <a:solidFill>
                  <a:srgbClr val="000000"/>
                </a:solidFill>
                <a:effectLst/>
                <a:latin typeface="Consolas" panose="020B0609020204030204" pitchFamily="49" charset="0"/>
              </a:rPr>
              <a:t>つ</a:t>
            </a:r>
            <a:endParaRPr lang="en-US" altLang="ja-JP" sz="2400" b="0" dirty="0">
              <a:solidFill>
                <a:srgbClr val="000000"/>
              </a:solidFill>
              <a:effectLst/>
              <a:latin typeface="Consolas" panose="020B0609020204030204" pitchFamily="49" charset="0"/>
            </a:endParaRPr>
          </a:p>
          <a:p>
            <a:pPr marL="0" indent="0">
              <a:buNone/>
            </a:pPr>
            <a:r>
              <a:rPr lang="en-US" altLang="ja-JP" sz="2400" dirty="0">
                <a:solidFill>
                  <a:srgbClr val="000000"/>
                </a:solidFill>
                <a:latin typeface="Consolas" panose="020B0609020204030204" pitchFamily="49" charset="0"/>
              </a:rPr>
              <a:t>1</a:t>
            </a:r>
            <a:r>
              <a:rPr lang="ja-JP" altLang="en-US" sz="2400" dirty="0">
                <a:solidFill>
                  <a:srgbClr val="000000"/>
                </a:solidFill>
                <a:latin typeface="Consolas" panose="020B0609020204030204" pitchFamily="49" charset="0"/>
              </a:rPr>
              <a:t>つ目 </a:t>
            </a:r>
            <a:r>
              <a:rPr lang="en-US" altLang="ja-JP" sz="2400" dirty="0">
                <a:solidFill>
                  <a:srgbClr val="000000"/>
                </a:solidFill>
                <a:latin typeface="Consolas" panose="020B0609020204030204" pitchFamily="49" charset="0"/>
              </a:rPr>
              <a:t>… </a:t>
            </a:r>
            <a:r>
              <a:rPr lang="ja-JP" altLang="en-US" sz="2400" dirty="0">
                <a:solidFill>
                  <a:srgbClr val="000000"/>
                </a:solidFill>
                <a:latin typeface="Consolas" panose="020B0609020204030204" pitchFamily="49" charset="0"/>
              </a:rPr>
              <a:t>輪郭リスト（配列）</a:t>
            </a:r>
            <a:endParaRPr lang="en-US" altLang="ja-JP" sz="2400" dirty="0">
              <a:solidFill>
                <a:srgbClr val="000000"/>
              </a:solidFill>
              <a:latin typeface="Consolas" panose="020B0609020204030204" pitchFamily="49" charset="0"/>
            </a:endParaRPr>
          </a:p>
          <a:p>
            <a:pPr marL="0" indent="0">
              <a:buNone/>
            </a:pPr>
            <a:r>
              <a:rPr lang="en-US" altLang="ja-JP" sz="2400" b="0" dirty="0">
                <a:solidFill>
                  <a:srgbClr val="000000"/>
                </a:solidFill>
                <a:effectLst/>
                <a:latin typeface="Consolas" panose="020B0609020204030204" pitchFamily="49" charset="0"/>
              </a:rPr>
              <a:t>2</a:t>
            </a:r>
            <a:r>
              <a:rPr lang="ja-JP" altLang="en-US" sz="2400" b="0" dirty="0">
                <a:solidFill>
                  <a:srgbClr val="000000"/>
                </a:solidFill>
                <a:effectLst/>
                <a:latin typeface="Consolas" panose="020B0609020204030204" pitchFamily="49" charset="0"/>
              </a:rPr>
              <a:t>つ目 </a:t>
            </a:r>
            <a:r>
              <a:rPr lang="en-US" altLang="ja-JP" sz="2400" b="0" dirty="0">
                <a:solidFill>
                  <a:srgbClr val="000000"/>
                </a:solidFill>
                <a:effectLst/>
                <a:latin typeface="Consolas" panose="020B0609020204030204" pitchFamily="49" charset="0"/>
              </a:rPr>
              <a:t>… </a:t>
            </a:r>
            <a:r>
              <a:rPr lang="ja-JP" altLang="en-US" sz="2400" b="0" dirty="0">
                <a:solidFill>
                  <a:srgbClr val="000000"/>
                </a:solidFill>
                <a:effectLst/>
                <a:latin typeface="Consolas" panose="020B0609020204030204" pitchFamily="49" charset="0"/>
              </a:rPr>
              <a:t>輪郭の親子関係（穴があるブロブの場合に使う）</a:t>
            </a:r>
            <a:endParaRPr lang="en-US" altLang="ja-JP" sz="2400" b="0" dirty="0">
              <a:solidFill>
                <a:srgbClr val="000000"/>
              </a:solidFill>
              <a:effectLst/>
              <a:latin typeface="Consolas" panose="020B0609020204030204" pitchFamily="49" charset="0"/>
            </a:endParaRPr>
          </a:p>
          <a:p>
            <a:pPr marL="0" indent="0">
              <a:buNone/>
            </a:pPr>
            <a:endParaRPr lang="en-US" altLang="ja-JP" sz="2400" dirty="0">
              <a:solidFill>
                <a:srgbClr val="000000"/>
              </a:solidFill>
              <a:latin typeface="Consolas" panose="020B0609020204030204" pitchFamily="49" charset="0"/>
            </a:endParaRPr>
          </a:p>
          <a:p>
            <a:pPr marL="0" indent="0">
              <a:buNone/>
            </a:pPr>
            <a:r>
              <a:rPr lang="ja-JP" altLang="en-US" sz="2400" b="0" dirty="0">
                <a:solidFill>
                  <a:srgbClr val="000000"/>
                </a:solidFill>
                <a:effectLst/>
                <a:latin typeface="Consolas" panose="020B0609020204030204" pitchFamily="49" charset="0"/>
              </a:rPr>
              <a:t>輪郭をもとに周囲長・アスペクト比・円形度・</a:t>
            </a:r>
            <a:r>
              <a:rPr lang="en-US" altLang="ja-JP" sz="2400" b="0" dirty="0">
                <a:solidFill>
                  <a:srgbClr val="000000"/>
                </a:solidFill>
                <a:effectLst/>
                <a:latin typeface="Consolas" panose="020B0609020204030204" pitchFamily="49" charset="0"/>
              </a:rPr>
              <a:t>Hu</a:t>
            </a:r>
            <a:r>
              <a:rPr lang="ja-JP" altLang="en-US" sz="2400" b="0" dirty="0">
                <a:solidFill>
                  <a:srgbClr val="000000"/>
                </a:solidFill>
                <a:effectLst/>
                <a:latin typeface="Consolas" panose="020B0609020204030204" pitchFamily="49" charset="0"/>
              </a:rPr>
              <a:t>モーメント等が求まる！</a:t>
            </a:r>
            <a:endParaRPr lang="fr-FR" altLang="ja-JP" sz="2400" b="0" dirty="0">
              <a:solidFill>
                <a:srgbClr val="000000"/>
              </a:solidFill>
              <a:effectLst/>
              <a:latin typeface="Consolas" panose="020B0609020204030204" pitchFamily="49" charset="0"/>
            </a:endParaRPr>
          </a:p>
          <a:p>
            <a:pPr marL="0" indent="0">
              <a:buNone/>
            </a:pPr>
            <a:endParaRPr lang="en-US" altLang="ja-JP" sz="2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780009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1150600" cy="959178"/>
          </a:xfrm>
        </p:spPr>
        <p:txBody>
          <a:bodyPr>
            <a:normAutofit/>
          </a:bodyPr>
          <a:lstStyle/>
          <a:p>
            <a:r>
              <a:rPr kumimoji="1" lang="en-US" altLang="ja-JP" b="1" dirty="0"/>
              <a:t>Hu</a:t>
            </a:r>
            <a:r>
              <a:rPr kumimoji="1" lang="ja-JP" altLang="en-US" b="1" dirty="0"/>
              <a:t>モーメント</a:t>
            </a:r>
          </a:p>
        </p:txBody>
      </p:sp>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62</a:t>
            </a:fld>
            <a:endParaRPr kumimoji="1" lang="ja-JP" altLang="en-US"/>
          </a:p>
        </p:txBody>
      </p:sp>
      <p:sp>
        <p:nvSpPr>
          <p:cNvPr id="8" name="コンテンツ プレースホルダー 4">
            <a:extLst>
              <a:ext uri="{FF2B5EF4-FFF2-40B4-BE49-F238E27FC236}">
                <a16:creationId xmlns:a16="http://schemas.microsoft.com/office/drawing/2014/main" id="{28782823-03D7-D0B7-2641-AE231A817FD7}"/>
              </a:ext>
            </a:extLst>
          </p:cNvPr>
          <p:cNvSpPr txBox="1">
            <a:spLocks/>
          </p:cNvSpPr>
          <p:nvPr/>
        </p:nvSpPr>
        <p:spPr>
          <a:xfrm>
            <a:off x="416560" y="1358288"/>
            <a:ext cx="11430000" cy="5168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fr-FR" altLang="ja-JP" sz="2400" dirty="0">
                <a:solidFill>
                  <a:srgbClr val="000000"/>
                </a:solidFill>
                <a:latin typeface="Consolas" panose="020B0609020204030204" pitchFamily="49" charset="0"/>
              </a:rPr>
              <a:t>Hu</a:t>
            </a:r>
            <a:r>
              <a:rPr lang="ja-JP" altLang="en-US" sz="2400" dirty="0">
                <a:solidFill>
                  <a:srgbClr val="000000"/>
                </a:solidFill>
                <a:latin typeface="Consolas" panose="020B0609020204030204" pitchFamily="49" charset="0"/>
              </a:rPr>
              <a:t>モーメントは図形の形から求まる不変量（図形の大きさ・位置・向きが違ってもみんな同じ</a:t>
            </a:r>
            <a:r>
              <a:rPr lang="en-US" altLang="ja-JP" sz="2400" dirty="0">
                <a:solidFill>
                  <a:srgbClr val="000000"/>
                </a:solidFill>
                <a:latin typeface="Consolas" panose="020B0609020204030204" pitchFamily="49" charset="0"/>
              </a:rPr>
              <a:t>Hu</a:t>
            </a:r>
            <a:r>
              <a:rPr lang="ja-JP" altLang="en-US" sz="2400" dirty="0">
                <a:solidFill>
                  <a:srgbClr val="000000"/>
                </a:solidFill>
                <a:latin typeface="Consolas" panose="020B0609020204030204" pitchFamily="49" charset="0"/>
              </a:rPr>
              <a:t>モーメント）</a:t>
            </a:r>
            <a:endParaRPr lang="en-US" altLang="ja-JP" sz="2400" dirty="0">
              <a:solidFill>
                <a:srgbClr val="000000"/>
              </a:solidFill>
              <a:latin typeface="Consolas" panose="020B0609020204030204" pitchFamily="49" charset="0"/>
            </a:endParaRPr>
          </a:p>
          <a:p>
            <a:pPr marL="0" indent="0">
              <a:buNone/>
            </a:pPr>
            <a:endParaRPr lang="fr-FR" altLang="ja-JP"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284471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特徴パラメータを取得</a:t>
            </a:r>
          </a:p>
        </p:txBody>
      </p:sp>
      <p:pic>
        <p:nvPicPr>
          <p:cNvPr id="7" name="コンテンツ プレースホルダー 6">
            <a:extLst>
              <a:ext uri="{FF2B5EF4-FFF2-40B4-BE49-F238E27FC236}">
                <a16:creationId xmlns:a16="http://schemas.microsoft.com/office/drawing/2014/main" id="{4E13DAE5-F304-03DC-4D5F-4780BDFCF7D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66981" y="1099524"/>
            <a:ext cx="3186819" cy="2367915"/>
          </a:xfrm>
        </p:spPr>
      </p:pic>
      <p:sp>
        <p:nvSpPr>
          <p:cNvPr id="3" name="フッター プレースホルダー 2">
            <a:extLst>
              <a:ext uri="{FF2B5EF4-FFF2-40B4-BE49-F238E27FC236}">
                <a16:creationId xmlns:a16="http://schemas.microsoft.com/office/drawing/2014/main" id="{C2872977-8BE0-B713-35B3-D32384A165BB}"/>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83A3DB92-5097-8AB6-3AA8-7E4C9A773A04}"/>
              </a:ext>
            </a:extLst>
          </p:cNvPr>
          <p:cNvSpPr>
            <a:spLocks noGrp="1"/>
          </p:cNvSpPr>
          <p:nvPr>
            <p:ph type="sldNum" sz="quarter" idx="12"/>
          </p:nvPr>
        </p:nvSpPr>
        <p:spPr/>
        <p:txBody>
          <a:bodyPr/>
          <a:lstStyle/>
          <a:p>
            <a:fld id="{82EE47C2-3066-499F-97BE-8094ED607EB5}" type="slidenum">
              <a:rPr kumimoji="1" lang="ja-JP" altLang="en-US" smtClean="0"/>
              <a:t>63</a:t>
            </a:fld>
            <a:endParaRPr kumimoji="1" lang="ja-JP" altLang="en-US"/>
          </a:p>
        </p:txBody>
      </p:sp>
      <p:sp>
        <p:nvSpPr>
          <p:cNvPr id="8" name="コンテンツ プレースホルダー 4">
            <a:extLst>
              <a:ext uri="{FF2B5EF4-FFF2-40B4-BE49-F238E27FC236}">
                <a16:creationId xmlns:a16="http://schemas.microsoft.com/office/drawing/2014/main" id="{28782823-03D7-D0B7-2641-AE231A817FD7}"/>
              </a:ext>
            </a:extLst>
          </p:cNvPr>
          <p:cNvSpPr txBox="1">
            <a:spLocks/>
          </p:cNvSpPr>
          <p:nvPr/>
        </p:nvSpPr>
        <p:spPr>
          <a:xfrm>
            <a:off x="838200" y="1324304"/>
            <a:ext cx="10515600" cy="5168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Consolas" panose="020B0609020204030204" pitchFamily="49" charset="0"/>
              </a:rPr>
              <a:t>右写真から</a:t>
            </a:r>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枚の硬貨の特徴を取得</a:t>
            </a:r>
            <a:endParaRPr lang="en-US" altLang="ja-JP" dirty="0">
              <a:solidFill>
                <a:srgbClr val="000000"/>
              </a:solidFill>
              <a:latin typeface="Consolas" panose="020B0609020204030204" pitchFamily="49" charset="0"/>
            </a:endParaRPr>
          </a:p>
          <a:p>
            <a:pPr marL="0" indent="0">
              <a:buNone/>
            </a:pP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流れ</a:t>
            </a:r>
            <a:r>
              <a:rPr lang="en-US" altLang="ja-JP" dirty="0">
                <a:solidFill>
                  <a:srgbClr val="000000"/>
                </a:solidFill>
                <a:latin typeface="Consolas" panose="020B0609020204030204" pitchFamily="49" charset="0"/>
              </a:rPr>
              <a:t>】</a:t>
            </a:r>
          </a:p>
          <a:p>
            <a:pPr marL="0" indent="0">
              <a:buNone/>
            </a:pPr>
            <a:endParaRPr lang="ja-JP" alt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0084292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B48BBD-A9CB-2886-A5F2-06B8514FA883}"/>
              </a:ext>
            </a:extLst>
          </p:cNvPr>
          <p:cNvSpPr>
            <a:spLocks noGrp="1"/>
          </p:cNvSpPr>
          <p:nvPr>
            <p:ph type="title"/>
          </p:nvPr>
        </p:nvSpPr>
        <p:spPr/>
        <p:txBody>
          <a:bodyPr/>
          <a:lstStyle/>
          <a:p>
            <a:r>
              <a:rPr kumimoji="1" lang="ja-JP" altLang="en-US" dirty="0"/>
              <a:t>４章　画像認識</a:t>
            </a:r>
          </a:p>
        </p:txBody>
      </p:sp>
      <p:sp>
        <p:nvSpPr>
          <p:cNvPr id="3" name="コンテンツ プレースホルダー 2">
            <a:extLst>
              <a:ext uri="{FF2B5EF4-FFF2-40B4-BE49-F238E27FC236}">
                <a16:creationId xmlns:a16="http://schemas.microsoft.com/office/drawing/2014/main" id="{CC63697A-8698-E719-24BB-F18F9B99D3AE}"/>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72327657-0BF0-3959-39F2-02F1C1E8D845}"/>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A1593019-23B4-DE22-681D-DEC090E5B9AC}"/>
              </a:ext>
            </a:extLst>
          </p:cNvPr>
          <p:cNvSpPr>
            <a:spLocks noGrp="1"/>
          </p:cNvSpPr>
          <p:nvPr>
            <p:ph type="sldNum" sz="quarter" idx="12"/>
          </p:nvPr>
        </p:nvSpPr>
        <p:spPr/>
        <p:txBody>
          <a:bodyPr/>
          <a:lstStyle/>
          <a:p>
            <a:fld id="{82EE47C2-3066-499F-97BE-8094ED607EB5}" type="slidenum">
              <a:rPr kumimoji="1" lang="ja-JP" altLang="en-US" smtClean="0"/>
              <a:t>64</a:t>
            </a:fld>
            <a:endParaRPr kumimoji="1" lang="ja-JP" altLang="en-US"/>
          </a:p>
        </p:txBody>
      </p:sp>
    </p:spTree>
    <p:extLst>
      <p:ext uri="{BB962C8B-B14F-4D97-AF65-F5344CB8AC3E}">
        <p14:creationId xmlns:p14="http://schemas.microsoft.com/office/powerpoint/2010/main" val="955088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画像処理で得た特徴量</a:t>
            </a:r>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b="0" dirty="0">
                <a:solidFill>
                  <a:srgbClr val="000000"/>
                </a:solidFill>
                <a:effectLst/>
                <a:latin typeface="Consolas" panose="020B0609020204030204" pitchFamily="49" charset="0"/>
              </a:rPr>
              <a:t>画像処理によって得た特徴量は</a:t>
            </a: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65</a:t>
            </a:fld>
            <a:endParaRPr kumimoji="1" lang="ja-JP" altLang="en-US"/>
          </a:p>
        </p:txBody>
      </p:sp>
    </p:spTree>
    <p:extLst>
      <p:ext uri="{BB962C8B-B14F-4D97-AF65-F5344CB8AC3E}">
        <p14:creationId xmlns:p14="http://schemas.microsoft.com/office/powerpoint/2010/main" val="15042153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0B1B21-617C-719B-FC1C-2EF931B5E6EE}"/>
              </a:ext>
            </a:extLst>
          </p:cNvPr>
          <p:cNvSpPr>
            <a:spLocks noGrp="1"/>
          </p:cNvSpPr>
          <p:nvPr>
            <p:ph type="title"/>
          </p:nvPr>
        </p:nvSpPr>
        <p:spPr/>
        <p:txBody>
          <a:bodyPr/>
          <a:lstStyle/>
          <a:p>
            <a:r>
              <a:rPr kumimoji="1" lang="ja-JP" altLang="en-US" dirty="0"/>
              <a:t>５章　画像処理システム開発</a:t>
            </a:r>
          </a:p>
        </p:txBody>
      </p:sp>
      <p:sp>
        <p:nvSpPr>
          <p:cNvPr id="3" name="コンテンツ プレースホルダー 2">
            <a:extLst>
              <a:ext uri="{FF2B5EF4-FFF2-40B4-BE49-F238E27FC236}">
                <a16:creationId xmlns:a16="http://schemas.microsoft.com/office/drawing/2014/main" id="{E080A3A0-57B0-E856-0FDE-D249B8ED8507}"/>
              </a:ext>
            </a:extLst>
          </p:cNvPr>
          <p:cNvSpPr>
            <a:spLocks noGrp="1"/>
          </p:cNvSpPr>
          <p:nvPr>
            <p:ph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BF8B0085-DB98-DDE0-5A97-9D33544FECB2}"/>
              </a:ext>
            </a:extLst>
          </p:cNvPr>
          <p:cNvSpPr>
            <a:spLocks noGrp="1"/>
          </p:cNvSpPr>
          <p:nvPr>
            <p:ph type="ftr" sz="quarter" idx="11"/>
          </p:nvPr>
        </p:nvSpPr>
        <p:spPr/>
        <p:txBody>
          <a:bodyPr/>
          <a:lstStyle/>
          <a:p>
            <a:r>
              <a:rPr kumimoji="1" lang="ja-JP" altLang="en-US"/>
              <a:t>ポリテクセンター栃木</a:t>
            </a:r>
          </a:p>
        </p:txBody>
      </p:sp>
      <p:sp>
        <p:nvSpPr>
          <p:cNvPr id="5" name="スライド番号プレースホルダー 4">
            <a:extLst>
              <a:ext uri="{FF2B5EF4-FFF2-40B4-BE49-F238E27FC236}">
                <a16:creationId xmlns:a16="http://schemas.microsoft.com/office/drawing/2014/main" id="{B55F3C4B-08F2-C261-B4E9-B643CF38D389}"/>
              </a:ext>
            </a:extLst>
          </p:cNvPr>
          <p:cNvSpPr>
            <a:spLocks noGrp="1"/>
          </p:cNvSpPr>
          <p:nvPr>
            <p:ph type="sldNum" sz="quarter" idx="12"/>
          </p:nvPr>
        </p:nvSpPr>
        <p:spPr/>
        <p:txBody>
          <a:bodyPr/>
          <a:lstStyle/>
          <a:p>
            <a:fld id="{82EE47C2-3066-499F-97BE-8094ED607EB5}" type="slidenum">
              <a:rPr kumimoji="1" lang="ja-JP" altLang="en-US" smtClean="0"/>
              <a:t>66</a:t>
            </a:fld>
            <a:endParaRPr kumimoji="1" lang="ja-JP" altLang="en-US"/>
          </a:p>
        </p:txBody>
      </p:sp>
    </p:spTree>
    <p:extLst>
      <p:ext uri="{BB962C8B-B14F-4D97-AF65-F5344CB8AC3E}">
        <p14:creationId xmlns:p14="http://schemas.microsoft.com/office/powerpoint/2010/main" val="4808412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費用対効果が何より大事</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dirty="0">
                <a:solidFill>
                  <a:srgbClr val="000000"/>
                </a:solidFill>
                <a:latin typeface="Consolas" panose="020B0609020204030204" pitchFamily="49" charset="0"/>
              </a:rPr>
              <a:t>趣味で使う範囲に限定するなら見切り発車でいろいろ作るほうがいい！</a:t>
            </a:r>
            <a:endParaRPr lang="en-US" altLang="ja-JP" dirty="0">
              <a:solidFill>
                <a:srgbClr val="000000"/>
              </a:solidFill>
              <a:latin typeface="Consolas" panose="020B0609020204030204" pitchFamily="49" charset="0"/>
            </a:endParaRPr>
          </a:p>
          <a:p>
            <a:pPr lvl="1"/>
            <a:r>
              <a:rPr lang="ja-JP" altLang="en-US" dirty="0">
                <a:solidFill>
                  <a:srgbClr val="000000"/>
                </a:solidFill>
                <a:latin typeface="Consolas" panose="020B0609020204030204" pitchFamily="49" charset="0"/>
              </a:rPr>
              <a:t>手の動きに合わせて音を鳴らすエア楽器</a:t>
            </a:r>
            <a:endParaRPr lang="en-US" altLang="ja-JP" dirty="0">
              <a:solidFill>
                <a:srgbClr val="000000"/>
              </a:solidFill>
              <a:latin typeface="Consolas" panose="020B0609020204030204" pitchFamily="49" charset="0"/>
            </a:endParaRPr>
          </a:p>
          <a:p>
            <a:pPr lvl="1"/>
            <a:r>
              <a:rPr lang="ja-JP" altLang="en-US" dirty="0">
                <a:solidFill>
                  <a:srgbClr val="000000"/>
                </a:solidFill>
                <a:latin typeface="Consolas" panose="020B0609020204030204" pitchFamily="49" charset="0"/>
              </a:rPr>
              <a:t>顔にエフェクトをかけて写真を撮る</a:t>
            </a:r>
            <a:r>
              <a:rPr lang="en-US" altLang="ja-JP" dirty="0">
                <a:solidFill>
                  <a:srgbClr val="000000"/>
                </a:solidFill>
                <a:latin typeface="Consolas" panose="020B0609020204030204" pitchFamily="49" charset="0"/>
              </a:rPr>
              <a:t>AR</a:t>
            </a:r>
            <a:r>
              <a:rPr lang="ja-JP" altLang="en-US" dirty="0">
                <a:solidFill>
                  <a:srgbClr val="000000"/>
                </a:solidFill>
                <a:latin typeface="Consolas" panose="020B0609020204030204" pitchFamily="49" charset="0"/>
              </a:rPr>
              <a:t>システム</a:t>
            </a:r>
            <a:endParaRPr lang="en-US" altLang="ja-JP" dirty="0">
              <a:solidFill>
                <a:srgbClr val="000000"/>
              </a:solidFill>
              <a:latin typeface="Consolas" panose="020B0609020204030204" pitchFamily="49" charset="0"/>
            </a:endParaRPr>
          </a:p>
          <a:p>
            <a:pPr lvl="1"/>
            <a:r>
              <a:rPr lang="ja-JP" altLang="en-US" dirty="0">
                <a:solidFill>
                  <a:srgbClr val="000000"/>
                </a:solidFill>
                <a:latin typeface="Consolas" panose="020B0609020204030204" pitchFamily="49" charset="0"/>
              </a:rPr>
              <a:t>いろんな人の手書き文字を認識して筆跡鑑定システム</a:t>
            </a:r>
            <a:endParaRPr lang="en-US" altLang="ja-JP" dirty="0">
              <a:solidFill>
                <a:srgbClr val="000000"/>
              </a:solidFill>
              <a:latin typeface="Consolas" panose="020B0609020204030204" pitchFamily="49" charset="0"/>
            </a:endParaRPr>
          </a:p>
          <a:p>
            <a:pPr lvl="1"/>
            <a:r>
              <a:rPr lang="ja-JP" altLang="en-US" dirty="0">
                <a:solidFill>
                  <a:srgbClr val="000000"/>
                </a:solidFill>
                <a:latin typeface="Consolas" panose="020B0609020204030204" pitchFamily="49" charset="0"/>
              </a:rPr>
              <a:t>人が通ったら動画を撮影する監視カメラ　などなど</a:t>
            </a:r>
            <a:r>
              <a:rPr lang="en-US" altLang="ja-JP" dirty="0">
                <a:solidFill>
                  <a:srgbClr val="000000"/>
                </a:solidFill>
                <a:latin typeface="Consolas" panose="020B0609020204030204" pitchFamily="49" charset="0"/>
              </a:rPr>
              <a:t>...</a:t>
            </a:r>
          </a:p>
          <a:p>
            <a:r>
              <a:rPr lang="ja-JP" altLang="en-US" dirty="0">
                <a:solidFill>
                  <a:srgbClr val="000000"/>
                </a:solidFill>
                <a:latin typeface="Consolas" panose="020B0609020204030204" pitchFamily="49" charset="0"/>
              </a:rPr>
              <a:t>趣味でいろんなものを作れば</a:t>
            </a:r>
            <a:r>
              <a:rPr lang="ja-JP" altLang="en-US" b="1" dirty="0">
                <a:solidFill>
                  <a:srgbClr val="000000"/>
                </a:solidFill>
                <a:latin typeface="Consolas" panose="020B0609020204030204" pitchFamily="49" charset="0"/>
              </a:rPr>
              <a:t>技術・知識が飛躍的に向上する</a:t>
            </a:r>
            <a:r>
              <a:rPr lang="ja-JP" altLang="en-US" dirty="0">
                <a:solidFill>
                  <a:srgbClr val="000000"/>
                </a:solidFill>
                <a:latin typeface="Consolas" panose="020B0609020204030204" pitchFamily="49" charset="0"/>
              </a:rPr>
              <a:t>！</a:t>
            </a:r>
            <a:endParaRPr lang="en-US" altLang="ja-JP" dirty="0">
              <a:solidFill>
                <a:srgbClr val="000000"/>
              </a:solidFill>
              <a:latin typeface="Consolas" panose="020B0609020204030204" pitchFamily="49" charset="0"/>
            </a:endParaRPr>
          </a:p>
          <a:p>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ただし、企業内でコスト（時間・費用）をかけてシステム開発するなら</a:t>
            </a:r>
            <a:r>
              <a:rPr lang="ja-JP" altLang="en-US" b="1" dirty="0">
                <a:solidFill>
                  <a:srgbClr val="000000"/>
                </a:solidFill>
                <a:latin typeface="Consolas" panose="020B0609020204030204" pitchFamily="49" charset="0"/>
              </a:rPr>
              <a:t>費用対効果</a:t>
            </a:r>
            <a:r>
              <a:rPr lang="ja-JP" altLang="en-US" dirty="0">
                <a:solidFill>
                  <a:srgbClr val="000000"/>
                </a:solidFill>
                <a:latin typeface="Consolas" panose="020B0609020204030204" pitchFamily="49" charset="0"/>
              </a:rPr>
              <a:t>をしっかり考える必要がある</a:t>
            </a:r>
            <a:endParaRPr lang="en-US" altLang="ja-JP" dirty="0">
              <a:solidFill>
                <a:srgbClr val="000000"/>
              </a:solidFill>
              <a:latin typeface="Consolas" panose="020B0609020204030204" pitchFamily="49" charset="0"/>
            </a:endParaRPr>
          </a:p>
          <a:p>
            <a:endParaRPr lang="en-US" altLang="ja-JP"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67</a:t>
            </a:fld>
            <a:endParaRPr kumimoji="1" lang="ja-JP" altLang="en-US"/>
          </a:p>
        </p:txBody>
      </p:sp>
    </p:spTree>
    <p:extLst>
      <p:ext uri="{BB962C8B-B14F-4D97-AF65-F5344CB8AC3E}">
        <p14:creationId xmlns:p14="http://schemas.microsoft.com/office/powerpoint/2010/main" val="39953060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画像処理システムにかかるコスト</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fontScale="92500" lnSpcReduction="10000"/>
          </a:bodyPr>
          <a:lstStyle/>
          <a:p>
            <a:r>
              <a:rPr lang="ja-JP" altLang="en-US" dirty="0">
                <a:solidFill>
                  <a:srgbClr val="000000"/>
                </a:solidFill>
                <a:latin typeface="Consolas" panose="020B0609020204030204" pitchFamily="49" charset="0"/>
              </a:rPr>
              <a:t>開発期間は何人月？</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人で一日</a:t>
            </a:r>
            <a:r>
              <a:rPr lang="en-US" altLang="ja-JP" dirty="0">
                <a:solidFill>
                  <a:srgbClr val="000000"/>
                </a:solidFill>
                <a:latin typeface="Consolas" panose="020B0609020204030204" pitchFamily="49" charset="0"/>
              </a:rPr>
              <a:t>8</a:t>
            </a:r>
            <a:r>
              <a:rPr lang="ja-JP" altLang="en-US" dirty="0">
                <a:solidFill>
                  <a:srgbClr val="000000"/>
                </a:solidFill>
                <a:latin typeface="Consolas" panose="020B0609020204030204" pitchFamily="49" charset="0"/>
              </a:rPr>
              <a:t>時間が</a:t>
            </a:r>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か月かかるなら、おおよそ月給</a:t>
            </a:r>
            <a:r>
              <a:rPr lang="en-US" altLang="ja-JP" dirty="0">
                <a:solidFill>
                  <a:srgbClr val="000000"/>
                </a:solidFill>
                <a:latin typeface="Consolas" panose="020B0609020204030204" pitchFamily="49" charset="0"/>
              </a:rPr>
              <a:t>×6</a:t>
            </a:r>
          </a:p>
          <a:p>
            <a:r>
              <a:rPr lang="ja-JP" altLang="en-US" dirty="0">
                <a:solidFill>
                  <a:srgbClr val="000000"/>
                </a:solidFill>
                <a:latin typeface="Consolas" panose="020B0609020204030204" pitchFamily="49" charset="0"/>
              </a:rPr>
              <a:t>ハードはいくら？</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PC</a:t>
            </a:r>
            <a:r>
              <a:rPr lang="ja-JP" altLang="en-US" dirty="0">
                <a:solidFill>
                  <a:srgbClr val="000000"/>
                </a:solidFill>
                <a:latin typeface="Consolas" panose="020B0609020204030204" pitchFamily="49" charset="0"/>
              </a:rPr>
              <a:t>・カメラ・照明・暗幕・アクチュエータ </a:t>
            </a:r>
            <a:r>
              <a:rPr lang="en-US" altLang="ja-JP" dirty="0" err="1">
                <a:solidFill>
                  <a:srgbClr val="000000"/>
                </a:solidFill>
                <a:latin typeface="Consolas" panose="020B0609020204030204" pitchFamily="49" charset="0"/>
              </a:rPr>
              <a:t>etc</a:t>
            </a:r>
            <a:r>
              <a:rPr lang="en-US" altLang="ja-JP" dirty="0">
                <a:solidFill>
                  <a:srgbClr val="000000"/>
                </a:solidFill>
                <a:latin typeface="Consolas" panose="020B0609020204030204" pitchFamily="49" charset="0"/>
              </a:rPr>
              <a:t>…</a:t>
            </a:r>
          </a:p>
          <a:p>
            <a:r>
              <a:rPr lang="ja-JP" altLang="en-US" dirty="0">
                <a:solidFill>
                  <a:srgbClr val="000000"/>
                </a:solidFill>
                <a:latin typeface="Consolas" panose="020B0609020204030204" pitchFamily="49" charset="0"/>
              </a:rPr>
              <a:t>導入によって、現在の業務がどれだけ効率化する？</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例えば部材の不良検知が一日</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人体制で</a:t>
            </a:r>
            <a:r>
              <a:rPr lang="en-US" altLang="ja-JP" dirty="0">
                <a:solidFill>
                  <a:srgbClr val="000000"/>
                </a:solidFill>
                <a:latin typeface="Consolas" panose="020B0609020204030204" pitchFamily="49" charset="0"/>
              </a:rPr>
              <a:t>1</a:t>
            </a:r>
            <a:r>
              <a:rPr lang="ja-JP" altLang="en-US" dirty="0">
                <a:solidFill>
                  <a:srgbClr val="000000"/>
                </a:solidFill>
                <a:latin typeface="Consolas" panose="020B0609020204030204" pitchFamily="49" charset="0"/>
              </a:rPr>
              <a:t>時間程度かかっているなら、その</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人の日々の業務の</a:t>
            </a:r>
            <a:r>
              <a:rPr lang="en-US" altLang="ja-JP" dirty="0">
                <a:solidFill>
                  <a:srgbClr val="000000"/>
                </a:solidFill>
                <a:latin typeface="Consolas" panose="020B0609020204030204" pitchFamily="49" charset="0"/>
              </a:rPr>
              <a:t>12.5%</a:t>
            </a:r>
            <a:r>
              <a:rPr lang="ja-JP" altLang="en-US" dirty="0">
                <a:solidFill>
                  <a:srgbClr val="000000"/>
                </a:solidFill>
                <a:latin typeface="Consolas" panose="020B0609020204030204" pitchFamily="49" charset="0"/>
              </a:rPr>
              <a:t>程度が効率化。ただしシステムの保守などもあるのでその辺も考慮する必要がある</a:t>
            </a:r>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結果として何日でそのシステムは利益を出す？（損益分岐点）</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主なコスト</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人件費</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材料費</a:t>
            </a:r>
            <a:r>
              <a:rPr lang="en-US" altLang="ja-JP" dirty="0">
                <a:solidFill>
                  <a:srgbClr val="000000"/>
                </a:solidFill>
                <a:latin typeface="Consolas" panose="020B0609020204030204" pitchFamily="49" charset="0"/>
              </a:rPr>
              <a:t>)=450</a:t>
            </a:r>
            <a:r>
              <a:rPr lang="ja-JP" altLang="en-US" dirty="0">
                <a:solidFill>
                  <a:srgbClr val="000000"/>
                </a:solidFill>
                <a:latin typeface="Consolas" panose="020B0609020204030204" pitchFamily="49" charset="0"/>
              </a:rPr>
              <a:t>万</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効率</a:t>
            </a:r>
            <a:r>
              <a:rPr lang="en-US" altLang="ja-JP" dirty="0">
                <a:solidFill>
                  <a:srgbClr val="000000"/>
                </a:solidFill>
                <a:latin typeface="Consolas" panose="020B0609020204030204" pitchFamily="49" charset="0"/>
              </a:rPr>
              <a:t>=1</a:t>
            </a:r>
            <a:r>
              <a:rPr lang="ja-JP" altLang="en-US" dirty="0">
                <a:solidFill>
                  <a:srgbClr val="000000"/>
                </a:solidFill>
                <a:latin typeface="Consolas" panose="020B0609020204030204" pitchFamily="49" charset="0"/>
              </a:rPr>
              <a:t>日当たり</a:t>
            </a:r>
            <a:r>
              <a:rPr lang="en-US" altLang="ja-JP" dirty="0">
                <a:solidFill>
                  <a:srgbClr val="000000"/>
                </a:solidFill>
                <a:latin typeface="Consolas" panose="020B0609020204030204" pitchFamily="49" charset="0"/>
              </a:rPr>
              <a:t>6</a:t>
            </a:r>
            <a:r>
              <a:rPr lang="ja-JP" altLang="en-US" dirty="0">
                <a:solidFill>
                  <a:srgbClr val="000000"/>
                </a:solidFill>
                <a:latin typeface="Consolas" panose="020B0609020204030204" pitchFamily="49" charset="0"/>
              </a:rPr>
              <a:t>万　なら</a:t>
            </a:r>
            <a:r>
              <a:rPr lang="en-US" altLang="ja-JP" dirty="0">
                <a:solidFill>
                  <a:srgbClr val="000000"/>
                </a:solidFill>
                <a:latin typeface="Consolas" panose="020B0609020204030204" pitchFamily="49" charset="0"/>
              </a:rPr>
              <a:t>75</a:t>
            </a:r>
            <a:r>
              <a:rPr lang="ja-JP" altLang="en-US" dirty="0">
                <a:solidFill>
                  <a:srgbClr val="000000"/>
                </a:solidFill>
                <a:latin typeface="Consolas" panose="020B0609020204030204" pitchFamily="49" charset="0"/>
              </a:rPr>
              <a:t>営業日あたりが損益分岐点</a:t>
            </a:r>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これらをあらかじめ見積もる必要がある</a:t>
            </a:r>
            <a:endParaRPr lang="en-US" altLang="ja-JP"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68</a:t>
            </a:fld>
            <a:endParaRPr kumimoji="1" lang="ja-JP" altLang="en-US"/>
          </a:p>
        </p:txBody>
      </p:sp>
    </p:spTree>
    <p:extLst>
      <p:ext uri="{BB962C8B-B14F-4D97-AF65-F5344CB8AC3E}">
        <p14:creationId xmlns:p14="http://schemas.microsoft.com/office/powerpoint/2010/main" val="13958389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画像処理システムにかかるコスト</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fontScale="92500" lnSpcReduction="10000"/>
          </a:bodyPr>
          <a:lstStyle/>
          <a:p>
            <a:r>
              <a:rPr lang="ja-JP" altLang="en-US" dirty="0">
                <a:solidFill>
                  <a:srgbClr val="000000"/>
                </a:solidFill>
                <a:latin typeface="Consolas" panose="020B0609020204030204" pitchFamily="49" charset="0"/>
              </a:rPr>
              <a:t>開発期間は何人月？</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人で一日</a:t>
            </a:r>
            <a:r>
              <a:rPr lang="en-US" altLang="ja-JP" dirty="0">
                <a:solidFill>
                  <a:srgbClr val="000000"/>
                </a:solidFill>
                <a:latin typeface="Consolas" panose="020B0609020204030204" pitchFamily="49" charset="0"/>
              </a:rPr>
              <a:t>8</a:t>
            </a:r>
            <a:r>
              <a:rPr lang="ja-JP" altLang="en-US" dirty="0">
                <a:solidFill>
                  <a:srgbClr val="000000"/>
                </a:solidFill>
                <a:latin typeface="Consolas" panose="020B0609020204030204" pitchFamily="49" charset="0"/>
              </a:rPr>
              <a:t>時間が</a:t>
            </a:r>
            <a:r>
              <a:rPr lang="en-US" altLang="ja-JP" dirty="0">
                <a:solidFill>
                  <a:srgbClr val="000000"/>
                </a:solidFill>
                <a:latin typeface="Consolas" panose="020B0609020204030204" pitchFamily="49" charset="0"/>
              </a:rPr>
              <a:t>2</a:t>
            </a:r>
            <a:r>
              <a:rPr lang="ja-JP" altLang="en-US" dirty="0">
                <a:solidFill>
                  <a:srgbClr val="000000"/>
                </a:solidFill>
                <a:latin typeface="Consolas" panose="020B0609020204030204" pitchFamily="49" charset="0"/>
              </a:rPr>
              <a:t>か月かかるなら、おおよそ月給</a:t>
            </a:r>
            <a:r>
              <a:rPr lang="en-US" altLang="ja-JP" dirty="0">
                <a:solidFill>
                  <a:srgbClr val="000000"/>
                </a:solidFill>
                <a:latin typeface="Consolas" panose="020B0609020204030204" pitchFamily="49" charset="0"/>
              </a:rPr>
              <a:t>×6</a:t>
            </a:r>
          </a:p>
          <a:p>
            <a:r>
              <a:rPr lang="ja-JP" altLang="en-US" dirty="0">
                <a:solidFill>
                  <a:srgbClr val="000000"/>
                </a:solidFill>
                <a:latin typeface="Consolas" panose="020B0609020204030204" pitchFamily="49" charset="0"/>
              </a:rPr>
              <a:t>ハードはいくら？</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a:t>
            </a:r>
            <a:r>
              <a:rPr lang="en-US" altLang="ja-JP" dirty="0">
                <a:solidFill>
                  <a:srgbClr val="000000"/>
                </a:solidFill>
                <a:latin typeface="Consolas" panose="020B0609020204030204" pitchFamily="49" charset="0"/>
              </a:rPr>
              <a:t>PC</a:t>
            </a:r>
            <a:r>
              <a:rPr lang="ja-JP" altLang="en-US" dirty="0">
                <a:solidFill>
                  <a:srgbClr val="000000"/>
                </a:solidFill>
                <a:latin typeface="Consolas" panose="020B0609020204030204" pitchFamily="49" charset="0"/>
              </a:rPr>
              <a:t>・カメラ・照明・暗幕・アクチュエータ </a:t>
            </a:r>
            <a:r>
              <a:rPr lang="en-US" altLang="ja-JP" dirty="0" err="1">
                <a:solidFill>
                  <a:srgbClr val="000000"/>
                </a:solidFill>
                <a:latin typeface="Consolas" panose="020B0609020204030204" pitchFamily="49" charset="0"/>
              </a:rPr>
              <a:t>etc</a:t>
            </a:r>
            <a:r>
              <a:rPr lang="en-US" altLang="ja-JP" dirty="0">
                <a:solidFill>
                  <a:srgbClr val="000000"/>
                </a:solidFill>
                <a:latin typeface="Consolas" panose="020B0609020204030204" pitchFamily="49" charset="0"/>
              </a:rPr>
              <a:t>…</a:t>
            </a:r>
          </a:p>
          <a:p>
            <a:r>
              <a:rPr lang="ja-JP" altLang="en-US" dirty="0">
                <a:solidFill>
                  <a:srgbClr val="000000"/>
                </a:solidFill>
                <a:latin typeface="Consolas" panose="020B0609020204030204" pitchFamily="49" charset="0"/>
              </a:rPr>
              <a:t>導入によって、現在の業務がどれだけ効率化する？</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例えば部材の不良検知が一日</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人体制で</a:t>
            </a:r>
            <a:r>
              <a:rPr lang="en-US" altLang="ja-JP" dirty="0">
                <a:solidFill>
                  <a:srgbClr val="000000"/>
                </a:solidFill>
                <a:latin typeface="Consolas" panose="020B0609020204030204" pitchFamily="49" charset="0"/>
              </a:rPr>
              <a:t>1</a:t>
            </a:r>
            <a:r>
              <a:rPr lang="ja-JP" altLang="en-US" dirty="0">
                <a:solidFill>
                  <a:srgbClr val="000000"/>
                </a:solidFill>
                <a:latin typeface="Consolas" panose="020B0609020204030204" pitchFamily="49" charset="0"/>
              </a:rPr>
              <a:t>時間程度かかっているなら、その</a:t>
            </a:r>
            <a:r>
              <a:rPr lang="en-US" altLang="ja-JP" dirty="0">
                <a:solidFill>
                  <a:srgbClr val="000000"/>
                </a:solidFill>
                <a:latin typeface="Consolas" panose="020B0609020204030204" pitchFamily="49" charset="0"/>
              </a:rPr>
              <a:t>3</a:t>
            </a:r>
            <a:r>
              <a:rPr lang="ja-JP" altLang="en-US" dirty="0">
                <a:solidFill>
                  <a:srgbClr val="000000"/>
                </a:solidFill>
                <a:latin typeface="Consolas" panose="020B0609020204030204" pitchFamily="49" charset="0"/>
              </a:rPr>
              <a:t>人の日々の業務の</a:t>
            </a:r>
            <a:r>
              <a:rPr lang="en-US" altLang="ja-JP" dirty="0">
                <a:solidFill>
                  <a:srgbClr val="000000"/>
                </a:solidFill>
                <a:latin typeface="Consolas" panose="020B0609020204030204" pitchFamily="49" charset="0"/>
              </a:rPr>
              <a:t>12.5%</a:t>
            </a:r>
            <a:r>
              <a:rPr lang="ja-JP" altLang="en-US" dirty="0">
                <a:solidFill>
                  <a:srgbClr val="000000"/>
                </a:solidFill>
                <a:latin typeface="Consolas" panose="020B0609020204030204" pitchFamily="49" charset="0"/>
              </a:rPr>
              <a:t>程度が効率化。ただしシステムの保守などもあるのでその辺も考慮する必要がある</a:t>
            </a:r>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結果として何日でそのシステムは利益を出す？（損益分岐点）</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主なコスト</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人件費</a:t>
            </a: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材料費</a:t>
            </a:r>
            <a:r>
              <a:rPr lang="en-US" altLang="ja-JP" dirty="0">
                <a:solidFill>
                  <a:srgbClr val="000000"/>
                </a:solidFill>
                <a:latin typeface="Consolas" panose="020B0609020204030204" pitchFamily="49" charset="0"/>
              </a:rPr>
              <a:t>)=450</a:t>
            </a:r>
            <a:r>
              <a:rPr lang="ja-JP" altLang="en-US" dirty="0">
                <a:solidFill>
                  <a:srgbClr val="000000"/>
                </a:solidFill>
                <a:latin typeface="Consolas" panose="020B0609020204030204" pitchFamily="49" charset="0"/>
              </a:rPr>
              <a:t>万</a:t>
            </a:r>
            <a:endParaRPr lang="en-US" altLang="ja-JP" dirty="0">
              <a:solidFill>
                <a:srgbClr val="000000"/>
              </a:solidFill>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　効率</a:t>
            </a:r>
            <a:r>
              <a:rPr lang="en-US" altLang="ja-JP" dirty="0">
                <a:solidFill>
                  <a:srgbClr val="000000"/>
                </a:solidFill>
                <a:latin typeface="Consolas" panose="020B0609020204030204" pitchFamily="49" charset="0"/>
              </a:rPr>
              <a:t>=1</a:t>
            </a:r>
            <a:r>
              <a:rPr lang="ja-JP" altLang="en-US" dirty="0">
                <a:solidFill>
                  <a:srgbClr val="000000"/>
                </a:solidFill>
                <a:latin typeface="Consolas" panose="020B0609020204030204" pitchFamily="49" charset="0"/>
              </a:rPr>
              <a:t>日当たり</a:t>
            </a:r>
            <a:r>
              <a:rPr lang="en-US" altLang="ja-JP" dirty="0">
                <a:solidFill>
                  <a:srgbClr val="000000"/>
                </a:solidFill>
                <a:latin typeface="Consolas" panose="020B0609020204030204" pitchFamily="49" charset="0"/>
              </a:rPr>
              <a:t>6</a:t>
            </a:r>
            <a:r>
              <a:rPr lang="ja-JP" altLang="en-US" dirty="0">
                <a:solidFill>
                  <a:srgbClr val="000000"/>
                </a:solidFill>
                <a:latin typeface="Consolas" panose="020B0609020204030204" pitchFamily="49" charset="0"/>
              </a:rPr>
              <a:t>万　なら</a:t>
            </a:r>
            <a:r>
              <a:rPr lang="en-US" altLang="ja-JP" dirty="0">
                <a:solidFill>
                  <a:srgbClr val="000000"/>
                </a:solidFill>
                <a:latin typeface="Consolas" panose="020B0609020204030204" pitchFamily="49" charset="0"/>
              </a:rPr>
              <a:t>75</a:t>
            </a:r>
            <a:r>
              <a:rPr lang="ja-JP" altLang="en-US" dirty="0">
                <a:solidFill>
                  <a:srgbClr val="000000"/>
                </a:solidFill>
                <a:latin typeface="Consolas" panose="020B0609020204030204" pitchFamily="49" charset="0"/>
              </a:rPr>
              <a:t>営業日あたりが損益分岐点</a:t>
            </a:r>
            <a:endParaRPr lang="en-US" altLang="ja-JP" dirty="0">
              <a:solidFill>
                <a:srgbClr val="000000"/>
              </a:solidFill>
              <a:latin typeface="Consolas" panose="020B0609020204030204" pitchFamily="49" charset="0"/>
            </a:endParaRPr>
          </a:p>
          <a:p>
            <a:r>
              <a:rPr lang="ja-JP" altLang="en-US" dirty="0">
                <a:solidFill>
                  <a:srgbClr val="000000"/>
                </a:solidFill>
                <a:latin typeface="Consolas" panose="020B0609020204030204" pitchFamily="49" charset="0"/>
              </a:rPr>
              <a:t>これらをあらかじめ見積もる必要がある</a:t>
            </a:r>
            <a:endParaRPr lang="en-US" altLang="ja-JP"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69</a:t>
            </a:fld>
            <a:endParaRPr kumimoji="1" lang="ja-JP" altLang="en-US"/>
          </a:p>
        </p:txBody>
      </p:sp>
    </p:spTree>
    <p:extLst>
      <p:ext uri="{BB962C8B-B14F-4D97-AF65-F5344CB8AC3E}">
        <p14:creationId xmlns:p14="http://schemas.microsoft.com/office/powerpoint/2010/main" val="944007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kumimoji="1" lang="ja-JP" altLang="en-US" b="1" dirty="0"/>
              <a:t>画像処理システム開発の</a:t>
            </a:r>
            <a:r>
              <a:rPr lang="ja-JP" altLang="en-US" b="1" dirty="0"/>
              <a:t>出発点</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dirty="0">
                <a:solidFill>
                  <a:srgbClr val="000000"/>
                </a:solidFill>
                <a:latin typeface="Consolas" panose="020B0609020204030204" pitchFamily="49" charset="0"/>
              </a:rPr>
              <a:t>とにもかくにも</a:t>
            </a:r>
            <a:r>
              <a:rPr lang="ja-JP" altLang="en-US" b="1" dirty="0">
                <a:solidFill>
                  <a:srgbClr val="000000"/>
                </a:solidFill>
                <a:latin typeface="Consolas" panose="020B0609020204030204" pitchFamily="49" charset="0"/>
              </a:rPr>
              <a:t>要件定義</a:t>
            </a:r>
            <a:r>
              <a:rPr lang="ja-JP" altLang="en-US" dirty="0">
                <a:solidFill>
                  <a:srgbClr val="000000"/>
                </a:solidFill>
                <a:latin typeface="Consolas" panose="020B0609020204030204" pitchFamily="49" charset="0"/>
              </a:rPr>
              <a:t>が一番大事</a:t>
            </a:r>
            <a:endParaRPr lang="en-US" altLang="ja-JP" dirty="0">
              <a:solidFill>
                <a:srgbClr val="000000"/>
              </a:solidFill>
              <a:latin typeface="Consolas" panose="020B0609020204030204" pitchFamily="49" charset="0"/>
            </a:endParaRPr>
          </a:p>
          <a:p>
            <a:pPr marL="0" indent="0">
              <a:buNone/>
            </a:pPr>
            <a:r>
              <a:rPr lang="ja-JP" altLang="en-US" b="0" dirty="0">
                <a:solidFill>
                  <a:srgbClr val="000000"/>
                </a:solidFill>
                <a:effectLst/>
                <a:latin typeface="Consolas" panose="020B0609020204030204" pitchFamily="49" charset="0"/>
              </a:rPr>
              <a:t>① 現状の問題点は？</a:t>
            </a:r>
            <a:endParaRPr lang="en-US" altLang="ja-JP" b="0" dirty="0">
              <a:solidFill>
                <a:srgbClr val="000000"/>
              </a:solidFill>
              <a:effectLst/>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② どんなシステムがあったらいい？</a:t>
            </a:r>
            <a:endParaRPr lang="en-US" altLang="ja-JP" dirty="0">
              <a:solidFill>
                <a:srgbClr val="000000"/>
              </a:solidFill>
              <a:latin typeface="Consolas" panose="020B0609020204030204" pitchFamily="49" charset="0"/>
            </a:endParaRPr>
          </a:p>
          <a:p>
            <a:pPr marL="0" indent="0">
              <a:buNone/>
            </a:pPr>
            <a:r>
              <a:rPr lang="ja-JP" altLang="en-US" b="0" dirty="0">
                <a:solidFill>
                  <a:srgbClr val="000000"/>
                </a:solidFill>
                <a:effectLst/>
                <a:latin typeface="Consolas" panose="020B0609020204030204" pitchFamily="49" charset="0"/>
              </a:rPr>
              <a:t>③ そのシステムで問題点のうちどこまで解決できる？</a:t>
            </a:r>
            <a:endParaRPr lang="en-US" altLang="ja-JP" b="0" dirty="0">
              <a:solidFill>
                <a:srgbClr val="000000"/>
              </a:solidFill>
              <a:effectLst/>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④ 損益分岐点は？</a:t>
            </a:r>
            <a:endParaRPr lang="en-US" altLang="ja-JP" dirty="0">
              <a:solidFill>
                <a:srgbClr val="000000"/>
              </a:solidFill>
              <a:latin typeface="Consolas" panose="020B0609020204030204" pitchFamily="49" charset="0"/>
            </a:endParaRPr>
          </a:p>
          <a:p>
            <a:pPr marL="0" indent="0">
              <a:buNone/>
            </a:pPr>
            <a:r>
              <a:rPr lang="ja-JP" altLang="en-US" b="0" dirty="0">
                <a:solidFill>
                  <a:srgbClr val="000000"/>
                </a:solidFill>
                <a:effectLst/>
                <a:latin typeface="Consolas" panose="020B0609020204030204" pitchFamily="49" charset="0"/>
              </a:rPr>
              <a:t>などなど</a:t>
            </a:r>
            <a:endParaRPr lang="en-US" altLang="ja-JP" b="0" dirty="0">
              <a:solidFill>
                <a:srgbClr val="000000"/>
              </a:solidFill>
              <a:effectLst/>
              <a:latin typeface="Consolas" panose="020B0609020204030204" pitchFamily="49" charset="0"/>
            </a:endParaRPr>
          </a:p>
          <a:p>
            <a:pPr marL="0" indent="0">
              <a:buNone/>
            </a:pPr>
            <a:endParaRPr lang="en-US" altLang="ja-JP" b="0" dirty="0">
              <a:solidFill>
                <a:srgbClr val="000000"/>
              </a:solidFill>
              <a:effectLst/>
              <a:latin typeface="Consolas" panose="020B0609020204030204" pitchFamily="49" charset="0"/>
            </a:endParaRPr>
          </a:p>
          <a:p>
            <a:pPr marL="0" indent="0">
              <a:buNone/>
            </a:pPr>
            <a:r>
              <a:rPr lang="ja-JP" altLang="en-US" dirty="0">
                <a:solidFill>
                  <a:srgbClr val="000000"/>
                </a:solidFill>
                <a:latin typeface="Consolas" panose="020B0609020204030204" pitchFamily="49" charset="0"/>
              </a:rPr>
              <a:t>見切り発車でプロジェクトをスタートすると、とんでもないことになりがち</a:t>
            </a:r>
            <a:r>
              <a:rPr lang="en-US" altLang="ja-JP" dirty="0">
                <a:solidFill>
                  <a:srgbClr val="000000"/>
                </a:solidFill>
                <a:latin typeface="Consolas" panose="020B0609020204030204" pitchFamily="49" charset="0"/>
              </a:rPr>
              <a:t>...</a:t>
            </a:r>
          </a:p>
          <a:p>
            <a:pPr marL="0" indent="0">
              <a:buNone/>
            </a:pPr>
            <a:endParaRPr lang="ja-JP" altLang="en-US" b="0" dirty="0">
              <a:solidFill>
                <a:srgbClr val="000000"/>
              </a:solidFill>
              <a:effectLst/>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70</a:t>
            </a:fld>
            <a:endParaRPr kumimoji="1" lang="ja-JP" altLang="en-US"/>
          </a:p>
        </p:txBody>
      </p:sp>
    </p:spTree>
    <p:extLst>
      <p:ext uri="{BB962C8B-B14F-4D97-AF65-F5344CB8AC3E}">
        <p14:creationId xmlns:p14="http://schemas.microsoft.com/office/powerpoint/2010/main" val="3929541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個人的なおすすめの開発手順</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pPr marL="514350" indent="-514350">
              <a:buFont typeface="+mj-lt"/>
              <a:buAutoNum type="arabicPeriod"/>
            </a:pPr>
            <a:r>
              <a:rPr lang="ja-JP" altLang="en-US" dirty="0">
                <a:solidFill>
                  <a:srgbClr val="000000"/>
                </a:solidFill>
                <a:latin typeface="Consolas" panose="020B0609020204030204" pitchFamily="49" charset="0"/>
              </a:rPr>
              <a:t>まずは</a:t>
            </a:r>
            <a:r>
              <a:rPr lang="en-US" altLang="ja-JP" dirty="0">
                <a:solidFill>
                  <a:srgbClr val="000000"/>
                </a:solidFill>
                <a:latin typeface="Consolas" panose="020B0609020204030204" pitchFamily="49" charset="0"/>
              </a:rPr>
              <a:t>PoC</a:t>
            </a:r>
            <a:r>
              <a:rPr lang="ja-JP" altLang="en-US" dirty="0">
                <a:solidFill>
                  <a:srgbClr val="000000"/>
                </a:solidFill>
                <a:latin typeface="Consolas" panose="020B0609020204030204" pitchFamily="49" charset="0"/>
              </a:rPr>
              <a:t>（技術的に実現可能か？）から始めます</a:t>
            </a:r>
            <a:endParaRPr lang="en-US" altLang="ja-JP" dirty="0">
              <a:solidFill>
                <a:srgbClr val="000000"/>
              </a:solidFill>
              <a:latin typeface="Consolas" panose="020B0609020204030204" pitchFamily="49" charset="0"/>
            </a:endParaRPr>
          </a:p>
          <a:p>
            <a:pPr marL="971550" lvl="1" indent="-514350">
              <a:buFont typeface="+mj-lt"/>
              <a:buAutoNum type="romanUcPeriod"/>
            </a:pPr>
            <a:r>
              <a:rPr lang="ja-JP" altLang="en-US" dirty="0">
                <a:solidFill>
                  <a:srgbClr val="000000"/>
                </a:solidFill>
                <a:latin typeface="Consolas" panose="020B0609020204030204" pitchFamily="49" charset="0"/>
              </a:rPr>
              <a:t>現場から写真をたくさん入手（スマホでもなんでも</a:t>
            </a:r>
            <a:r>
              <a:rPr lang="en-US" altLang="ja-JP" dirty="0">
                <a:solidFill>
                  <a:srgbClr val="000000"/>
                </a:solidFill>
                <a:latin typeface="Consolas" panose="020B0609020204030204" pitchFamily="49" charset="0"/>
              </a:rPr>
              <a:t>OK</a:t>
            </a:r>
            <a:r>
              <a:rPr lang="ja-JP" altLang="en-US" dirty="0">
                <a:solidFill>
                  <a:srgbClr val="000000"/>
                </a:solidFill>
                <a:latin typeface="Consolas" panose="020B0609020204030204" pitchFamily="49" charset="0"/>
              </a:rPr>
              <a:t>）します</a:t>
            </a:r>
            <a:endParaRPr lang="en-US" altLang="ja-JP" dirty="0">
              <a:solidFill>
                <a:srgbClr val="000000"/>
              </a:solidFill>
              <a:latin typeface="Consolas" panose="020B0609020204030204" pitchFamily="49" charset="0"/>
            </a:endParaRPr>
          </a:p>
          <a:p>
            <a:pPr marL="971550" lvl="1" indent="-514350">
              <a:buFont typeface="+mj-lt"/>
              <a:buAutoNum type="romanUcPeriod"/>
            </a:pPr>
            <a:r>
              <a:rPr lang="ja-JP" altLang="en-US" dirty="0">
                <a:solidFill>
                  <a:srgbClr val="000000"/>
                </a:solidFill>
                <a:latin typeface="Consolas" panose="020B0609020204030204" pitchFamily="49" charset="0"/>
              </a:rPr>
              <a:t>適切な画像処理・認識を行い、データを入手します（きっとこの段階で写真の角度や照明の種類の検討も必要になります）</a:t>
            </a:r>
            <a:endParaRPr lang="en-US" altLang="ja-JP" dirty="0">
              <a:solidFill>
                <a:srgbClr val="000000"/>
              </a:solidFill>
              <a:latin typeface="Consolas" panose="020B0609020204030204" pitchFamily="49" charset="0"/>
            </a:endParaRPr>
          </a:p>
          <a:p>
            <a:pPr marL="971550" lvl="1" indent="-514350">
              <a:buFont typeface="+mj-lt"/>
              <a:buAutoNum type="romanUcPeriod"/>
            </a:pPr>
            <a:r>
              <a:rPr lang="ja-JP" altLang="en-US" dirty="0">
                <a:solidFill>
                  <a:srgbClr val="000000"/>
                </a:solidFill>
                <a:latin typeface="Consolas" panose="020B0609020204030204" pitchFamily="49" charset="0"/>
              </a:rPr>
              <a:t>「良い写真」から欲しいデータが入手出来たら、良い写真・動画を継続的にとるためのカメラや照明の選定をします</a:t>
            </a:r>
            <a:endParaRPr lang="en-US" altLang="ja-JP" dirty="0">
              <a:solidFill>
                <a:srgbClr val="000000"/>
              </a:solidFill>
              <a:latin typeface="Consolas" panose="020B0609020204030204" pitchFamily="49" charset="0"/>
            </a:endParaRPr>
          </a:p>
          <a:p>
            <a:pPr marL="514350" indent="-514350">
              <a:buFont typeface="+mj-lt"/>
              <a:buAutoNum type="arabicPeriod"/>
            </a:pPr>
            <a:r>
              <a:rPr lang="ja-JP" altLang="en-US" dirty="0">
                <a:solidFill>
                  <a:srgbClr val="000000"/>
                </a:solidFill>
                <a:latin typeface="Consolas" panose="020B0609020204030204" pitchFamily="49" charset="0"/>
              </a:rPr>
              <a:t>価値を考えましょう</a:t>
            </a:r>
            <a:endParaRPr lang="en-US" altLang="ja-JP" dirty="0">
              <a:solidFill>
                <a:srgbClr val="000000"/>
              </a:solidFill>
              <a:latin typeface="Consolas" panose="020B0609020204030204" pitchFamily="49" charset="0"/>
            </a:endParaRPr>
          </a:p>
          <a:p>
            <a:pPr marL="971550" lvl="1" indent="-514350">
              <a:buFont typeface="+mj-lt"/>
              <a:buAutoNum type="romanUcPeriod"/>
            </a:pPr>
            <a:r>
              <a:rPr lang="ja-JP" altLang="en-US" dirty="0">
                <a:solidFill>
                  <a:srgbClr val="000000"/>
                </a:solidFill>
                <a:latin typeface="Consolas" panose="020B0609020204030204" pitchFamily="49" charset="0"/>
              </a:rPr>
              <a:t>それで業務がどれほど簡略化するか考えます。</a:t>
            </a:r>
            <a:endParaRPr lang="en-US" altLang="ja-JP" dirty="0">
              <a:solidFill>
                <a:srgbClr val="000000"/>
              </a:solidFill>
              <a:latin typeface="Consolas" panose="020B0609020204030204" pitchFamily="49" charset="0"/>
            </a:endParaRPr>
          </a:p>
          <a:p>
            <a:pPr marL="514350" indent="-514350">
              <a:buFont typeface="+mj-lt"/>
              <a:buAutoNum type="arabicPeriod"/>
            </a:pPr>
            <a:r>
              <a:rPr lang="ja-JP" altLang="en-US" dirty="0">
                <a:solidFill>
                  <a:srgbClr val="000000"/>
                </a:solidFill>
                <a:latin typeface="Consolas" panose="020B0609020204030204" pitchFamily="49" charset="0"/>
              </a:rPr>
              <a:t>開発スタート！</a:t>
            </a:r>
            <a:endParaRPr lang="en-US" altLang="ja-JP" dirty="0">
              <a:solidFill>
                <a:srgbClr val="000000"/>
              </a:solidFill>
              <a:latin typeface="Consolas" panose="020B0609020204030204" pitchFamily="49" charset="0"/>
            </a:endParaRPr>
          </a:p>
          <a:p>
            <a:pPr marL="514350" indent="-514350">
              <a:buFont typeface="+mj-lt"/>
              <a:buAutoNum type="arabicPeriod"/>
            </a:pPr>
            <a:endParaRPr lang="en-US" altLang="ja-JP"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71</a:t>
            </a:fld>
            <a:endParaRPr kumimoji="1" lang="ja-JP" altLang="en-US"/>
          </a:p>
        </p:txBody>
      </p:sp>
    </p:spTree>
    <p:extLst>
      <p:ext uri="{BB962C8B-B14F-4D97-AF65-F5344CB8AC3E}">
        <p14:creationId xmlns:p14="http://schemas.microsoft.com/office/powerpoint/2010/main" val="40579257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2C5487-1D0D-1E95-6171-3C73B9E9B950}"/>
              </a:ext>
            </a:extLst>
          </p:cNvPr>
          <p:cNvSpPr>
            <a:spLocks noGrp="1"/>
          </p:cNvSpPr>
          <p:nvPr>
            <p:ph type="title"/>
          </p:nvPr>
        </p:nvSpPr>
        <p:spPr>
          <a:xfrm>
            <a:off x="838200" y="365126"/>
            <a:ext cx="10515600" cy="959178"/>
          </a:xfrm>
        </p:spPr>
        <p:txBody>
          <a:bodyPr>
            <a:normAutofit/>
          </a:bodyPr>
          <a:lstStyle/>
          <a:p>
            <a:r>
              <a:rPr lang="ja-JP" altLang="en-US" b="1" dirty="0"/>
              <a:t>画像処理システム模擬開発　実践</a:t>
            </a:r>
            <a:endParaRPr kumimoji="1" lang="ja-JP" altLang="en-US" b="1" dirty="0"/>
          </a:p>
        </p:txBody>
      </p:sp>
      <p:sp>
        <p:nvSpPr>
          <p:cNvPr id="5" name="コンテンツ プレースホルダー 4">
            <a:extLst>
              <a:ext uri="{FF2B5EF4-FFF2-40B4-BE49-F238E27FC236}">
                <a16:creationId xmlns:a16="http://schemas.microsoft.com/office/drawing/2014/main" id="{B3F0FA5B-CA84-A6F5-18B9-B558247EF8A9}"/>
              </a:ext>
            </a:extLst>
          </p:cNvPr>
          <p:cNvSpPr>
            <a:spLocks noGrp="1"/>
          </p:cNvSpPr>
          <p:nvPr>
            <p:ph idx="1"/>
          </p:nvPr>
        </p:nvSpPr>
        <p:spPr>
          <a:xfrm>
            <a:off x="838200" y="1324304"/>
            <a:ext cx="10515600" cy="5168570"/>
          </a:xfrm>
        </p:spPr>
        <p:txBody>
          <a:bodyPr>
            <a:normAutofit/>
          </a:bodyPr>
          <a:lstStyle/>
          <a:p>
            <a:r>
              <a:rPr lang="ja-JP" altLang="en-US" dirty="0">
                <a:solidFill>
                  <a:srgbClr val="000000"/>
                </a:solidFill>
                <a:latin typeface="Consolas" panose="020B0609020204030204" pitchFamily="49" charset="0"/>
              </a:rPr>
              <a:t>小規模な画像処理システムを構築します</a:t>
            </a:r>
            <a:endParaRPr lang="en-US" altLang="ja-JP" dirty="0">
              <a:solidFill>
                <a:srgbClr val="000000"/>
              </a:solidFill>
              <a:latin typeface="Consolas" panose="020B0609020204030204" pitchFamily="49" charset="0"/>
            </a:endParaRPr>
          </a:p>
          <a:p>
            <a:pPr marL="0" indent="0">
              <a:buNone/>
            </a:pPr>
            <a:r>
              <a:rPr lang="en-US" altLang="ja-JP" dirty="0">
                <a:solidFill>
                  <a:srgbClr val="000000"/>
                </a:solidFill>
                <a:latin typeface="Consolas" panose="020B0609020204030204" pitchFamily="49" charset="0"/>
              </a:rPr>
              <a:t>【</a:t>
            </a:r>
            <a:r>
              <a:rPr lang="ja-JP" altLang="en-US" dirty="0">
                <a:solidFill>
                  <a:srgbClr val="000000"/>
                </a:solidFill>
                <a:latin typeface="Consolas" panose="020B0609020204030204" pitchFamily="49" charset="0"/>
              </a:rPr>
              <a:t>要件</a:t>
            </a:r>
            <a:r>
              <a:rPr lang="en-US" altLang="ja-JP" dirty="0">
                <a:solidFill>
                  <a:srgbClr val="000000"/>
                </a:solidFill>
                <a:latin typeface="Consolas" panose="020B0609020204030204" pitchFamily="49" charset="0"/>
              </a:rPr>
              <a:t>】</a:t>
            </a:r>
          </a:p>
          <a:p>
            <a:pPr marL="0" indent="0">
              <a:buNone/>
            </a:pPr>
            <a:endParaRPr lang="en-US" altLang="ja-JP" dirty="0">
              <a:solidFill>
                <a:srgbClr val="000000"/>
              </a:solidFill>
              <a:latin typeface="Consolas" panose="020B0609020204030204" pitchFamily="49" charset="0"/>
            </a:endParaRPr>
          </a:p>
          <a:p>
            <a:pPr marL="0" indent="0">
              <a:buNone/>
            </a:pPr>
            <a:endParaRPr lang="en-US" altLang="ja-JP" dirty="0">
              <a:solidFill>
                <a:srgbClr val="000000"/>
              </a:solidFill>
              <a:latin typeface="Consolas" panose="020B0609020204030204" pitchFamily="49" charset="0"/>
            </a:endParaRPr>
          </a:p>
        </p:txBody>
      </p:sp>
      <p:sp>
        <p:nvSpPr>
          <p:cNvPr id="3" name="フッター プレースホルダー 2">
            <a:extLst>
              <a:ext uri="{FF2B5EF4-FFF2-40B4-BE49-F238E27FC236}">
                <a16:creationId xmlns:a16="http://schemas.microsoft.com/office/drawing/2014/main" id="{B4CD21CA-FA8F-C667-03E0-E16C31224E4C}"/>
              </a:ext>
            </a:extLst>
          </p:cNvPr>
          <p:cNvSpPr>
            <a:spLocks noGrp="1"/>
          </p:cNvSpPr>
          <p:nvPr>
            <p:ph type="ftr" sz="quarter" idx="11"/>
          </p:nvPr>
        </p:nvSpPr>
        <p:spPr/>
        <p:txBody>
          <a:bodyPr/>
          <a:lstStyle/>
          <a:p>
            <a:r>
              <a:rPr kumimoji="1" lang="ja-JP" altLang="en-US"/>
              <a:t>ポリテクセンター栃木</a:t>
            </a:r>
          </a:p>
        </p:txBody>
      </p:sp>
      <p:sp>
        <p:nvSpPr>
          <p:cNvPr id="4" name="スライド番号プレースホルダー 3">
            <a:extLst>
              <a:ext uri="{FF2B5EF4-FFF2-40B4-BE49-F238E27FC236}">
                <a16:creationId xmlns:a16="http://schemas.microsoft.com/office/drawing/2014/main" id="{43E33F0E-9A1B-F672-7B6D-06C70C1378C4}"/>
              </a:ext>
            </a:extLst>
          </p:cNvPr>
          <p:cNvSpPr>
            <a:spLocks noGrp="1"/>
          </p:cNvSpPr>
          <p:nvPr>
            <p:ph type="sldNum" sz="quarter" idx="12"/>
          </p:nvPr>
        </p:nvSpPr>
        <p:spPr/>
        <p:txBody>
          <a:bodyPr/>
          <a:lstStyle/>
          <a:p>
            <a:fld id="{82EE47C2-3066-499F-97BE-8094ED607EB5}" type="slidenum">
              <a:rPr kumimoji="1" lang="ja-JP" altLang="en-US" smtClean="0"/>
              <a:t>72</a:t>
            </a:fld>
            <a:endParaRPr kumimoji="1" lang="ja-JP" altLang="en-US"/>
          </a:p>
        </p:txBody>
      </p:sp>
    </p:spTree>
    <p:extLst>
      <p:ext uri="{BB962C8B-B14F-4D97-AF65-F5344CB8AC3E}">
        <p14:creationId xmlns:p14="http://schemas.microsoft.com/office/powerpoint/2010/main" val="239293277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4738</TotalTime>
  <Words>5172</Words>
  <Application>Microsoft Office PowerPoint</Application>
  <PresentationFormat>ワイド画面</PresentationFormat>
  <Paragraphs>838</Paragraphs>
  <Slides>72</Slides>
  <Notes>36</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72</vt:i4>
      </vt:variant>
    </vt:vector>
  </HeadingPairs>
  <TitlesOfParts>
    <vt:vector size="78" baseType="lpstr">
      <vt:lpstr>游ゴシック</vt:lpstr>
      <vt:lpstr>游ゴシック Light</vt:lpstr>
      <vt:lpstr>Arial</vt:lpstr>
      <vt:lpstr>Cambria Math</vt:lpstr>
      <vt:lpstr>Consolas</vt:lpstr>
      <vt:lpstr>Office テーマ</vt:lpstr>
      <vt:lpstr>画像処理入門 Python×OpenCV</vt:lpstr>
      <vt:lpstr>画像処理のスケルトンコード（静止画）</vt:lpstr>
      <vt:lpstr>画像処理のスケルトンコード（動画）①</vt:lpstr>
      <vt:lpstr>画像処理のスケルトンコード（動画）②</vt:lpstr>
      <vt:lpstr>練習</vt:lpstr>
      <vt:lpstr>１章　外乱を抑える</vt:lpstr>
      <vt:lpstr>濃度ヒストグラム</vt:lpstr>
      <vt:lpstr>濃度ヒストグラムの特徴</vt:lpstr>
      <vt:lpstr>濃度変換によるコントラスト改善</vt:lpstr>
      <vt:lpstr>ヒストグラムの伸長化　equalizeHist_pict.py</vt:lpstr>
      <vt:lpstr>濃度変換曲線（階調変換関数）</vt:lpstr>
      <vt:lpstr>例：コントラスト調整　lut_contrast.py</vt:lpstr>
      <vt:lpstr>例：ガンマ補正　lut_gamma.py</vt:lpstr>
      <vt:lpstr>LUTの使い方まとめ</vt:lpstr>
      <vt:lpstr>練習</vt:lpstr>
      <vt:lpstr>フィルタリング</vt:lpstr>
      <vt:lpstr>空間フィルタリング</vt:lpstr>
      <vt:lpstr>コンボリューション</vt:lpstr>
      <vt:lpstr>平滑化フィルタ</vt:lpstr>
      <vt:lpstr>平均値フィルタ</vt:lpstr>
      <vt:lpstr>加重平均フィルタ・ガウシアンフィルタ</vt:lpstr>
      <vt:lpstr>PowerPoint プレゼンテーション</vt:lpstr>
      <vt:lpstr>平滑化フィルタ　まとめ</vt:lpstr>
      <vt:lpstr>練習</vt:lpstr>
      <vt:lpstr>エッジ検出フィルタ</vt:lpstr>
      <vt:lpstr>エッジ検出の仕組み　hello_edge.py</vt:lpstr>
      <vt:lpstr>エッジ検出の問題点</vt:lpstr>
      <vt:lpstr>代表的なエッジ検出フィルター</vt:lpstr>
      <vt:lpstr>練習</vt:lpstr>
      <vt:lpstr>鮮鋭(シャープ)化フィルタ</vt:lpstr>
      <vt:lpstr>鮮鋭(シャープ)化フィルタの仕組み</vt:lpstr>
      <vt:lpstr>ノイズ除去・フィルタ　練習</vt:lpstr>
      <vt:lpstr>練習のヒント</vt:lpstr>
      <vt:lpstr>１章　外乱を抑える　まとめ</vt:lpstr>
      <vt:lpstr>２章　色による画像処理</vt:lpstr>
      <vt:lpstr>形状による物体認識</vt:lpstr>
      <vt:lpstr>色による物体認識 RGBの問題点</vt:lpstr>
      <vt:lpstr>画像処理のための色の定義　HSV色空間</vt:lpstr>
      <vt:lpstr>OpenCVでHSV空間を扱う</vt:lpstr>
      <vt:lpstr>複数の色範囲指定</vt:lpstr>
      <vt:lpstr>マスク</vt:lpstr>
      <vt:lpstr>マスクのイメージ</vt:lpstr>
      <vt:lpstr>特定の色を画像から抽出　orange_pict.py</vt:lpstr>
      <vt:lpstr>青色だけ検出するカメラ　blue_move.py</vt:lpstr>
      <vt:lpstr>画像の合成　orange_pict_add.py</vt:lpstr>
      <vt:lpstr>練習</vt:lpstr>
      <vt:lpstr>３章　形状による画像処理</vt:lpstr>
      <vt:lpstr>形状 とは何か</vt:lpstr>
      <vt:lpstr>形状特徴パラメータの算出</vt:lpstr>
      <vt:lpstr>グレースケール → 2値画像</vt:lpstr>
      <vt:lpstr>手法(type)について　threshold_pict.py</vt:lpstr>
      <vt:lpstr>閾値を自動で決める　大津の2値化</vt:lpstr>
      <vt:lpstr>練習</vt:lpstr>
      <vt:lpstr>２値画像の問題点</vt:lpstr>
      <vt:lpstr>２値画像の問題点　具体例</vt:lpstr>
      <vt:lpstr>モルフォロジー演算の原理</vt:lpstr>
      <vt:lpstr>膨張・収縮させる　morphrology_demo.py</vt:lpstr>
      <vt:lpstr>練習</vt:lpstr>
      <vt:lpstr>ラベリング</vt:lpstr>
      <vt:lpstr>特徴パラメータを取得　hello_labeling.py</vt:lpstr>
      <vt:lpstr>もっと特徴パラメータ　hello_parameters.py</vt:lpstr>
      <vt:lpstr>Huモーメント</vt:lpstr>
      <vt:lpstr>特徴パラメータを取得</vt:lpstr>
      <vt:lpstr>４章　画像認識</vt:lpstr>
      <vt:lpstr>画像処理で得た特徴量</vt:lpstr>
      <vt:lpstr>５章　画像処理システム開発</vt:lpstr>
      <vt:lpstr>費用対効果が何より大事</vt:lpstr>
      <vt:lpstr>画像処理システムにかかるコスト</vt:lpstr>
      <vt:lpstr>画像処理システムにかかるコスト</vt:lpstr>
      <vt:lpstr>画像処理システム開発の出発点</vt:lpstr>
      <vt:lpstr>個人的なおすすめの開発手順</vt:lpstr>
      <vt:lpstr>画像処理システム模擬開発　実践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sem00</dc:creator>
  <cp:lastModifiedBy>sem00</cp:lastModifiedBy>
  <cp:revision>8</cp:revision>
  <dcterms:created xsi:type="dcterms:W3CDTF">2026-06-23T01:17:33Z</dcterms:created>
  <dcterms:modified xsi:type="dcterms:W3CDTF">2026-06-26T08:22:34Z</dcterms:modified>
</cp:coreProperties>
</file>