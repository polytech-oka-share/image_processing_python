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9" r:id="rId5"/>
    <p:sldId id="258" r:id="rId6"/>
    <p:sldId id="261" r:id="rId7"/>
    <p:sldId id="262"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761739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1937658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429403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10774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36041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693126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413916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621923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3397140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1463709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3D49746-E969-4CB9-88A5-FA83268A870D}" type="datetimeFigureOut">
              <a:rPr kumimoji="1" lang="ja-JP" altLang="en-US" smtClean="0"/>
              <a:t>2026/6/12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2189541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D49746-E969-4CB9-88A5-FA83268A870D}" type="datetimeFigureOut">
              <a:rPr kumimoji="1" lang="ja-JP" altLang="en-US" smtClean="0"/>
              <a:t>2026/6/12</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F8CBF0-873C-4A82-8701-EEE0E47109A0}" type="slidenum">
              <a:rPr kumimoji="1" lang="ja-JP" altLang="en-US" smtClean="0"/>
              <a:t>‹#›</a:t>
            </a:fld>
            <a:endParaRPr kumimoji="1" lang="ja-JP" altLang="en-US"/>
          </a:p>
        </p:txBody>
      </p:sp>
    </p:spTree>
    <p:extLst>
      <p:ext uri="{BB962C8B-B14F-4D97-AF65-F5344CB8AC3E}">
        <p14:creationId xmlns:p14="http://schemas.microsoft.com/office/powerpoint/2010/main" val="3889900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画像について</a:t>
            </a:r>
          </a:p>
        </p:txBody>
      </p:sp>
      <p:sp>
        <p:nvSpPr>
          <p:cNvPr id="3" name="サブタイトル 2"/>
          <p:cNvSpPr>
            <a:spLocks noGrp="1"/>
          </p:cNvSpPr>
          <p:nvPr>
            <p:ph type="subTitle" idx="1"/>
          </p:nvPr>
        </p:nvSpPr>
        <p:spPr/>
        <p:txBody>
          <a:bodyPr/>
          <a:lstStyle/>
          <a:p>
            <a:endParaRPr kumimoji="1" lang="en-US" altLang="ja-JP" dirty="0"/>
          </a:p>
          <a:p>
            <a:r>
              <a:rPr kumimoji="1" lang="ja-JP" altLang="en-US" dirty="0"/>
              <a:t>ポリテクセンター栃木</a:t>
            </a:r>
          </a:p>
        </p:txBody>
      </p:sp>
    </p:spTree>
    <p:extLst>
      <p:ext uri="{BB962C8B-B14F-4D97-AF65-F5344CB8AC3E}">
        <p14:creationId xmlns:p14="http://schemas.microsoft.com/office/powerpoint/2010/main" val="1240304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画像とは？？？</a:t>
            </a:r>
          </a:p>
        </p:txBody>
      </p:sp>
      <p:pic>
        <p:nvPicPr>
          <p:cNvPr id="4" name="コンテンツ プレースホルダー 3"/>
          <p:cNvPicPr>
            <a:picLocks noGrp="1" noChangeAspect="1"/>
          </p:cNvPicPr>
          <p:nvPr>
            <p:ph idx="1"/>
          </p:nvPr>
        </p:nvPicPr>
        <p:blipFill>
          <a:blip r:embed="rId2"/>
          <a:stretch>
            <a:fillRect/>
          </a:stretch>
        </p:blipFill>
        <p:spPr>
          <a:xfrm>
            <a:off x="1078245" y="1690688"/>
            <a:ext cx="9980280" cy="2384923"/>
          </a:xfrm>
          <a:prstGeom prst="rect">
            <a:avLst/>
          </a:prstGeom>
        </p:spPr>
      </p:pic>
      <p:sp>
        <p:nvSpPr>
          <p:cNvPr id="5" name="テキスト ボックス 4"/>
          <p:cNvSpPr txBox="1"/>
          <p:nvPr/>
        </p:nvSpPr>
        <p:spPr>
          <a:xfrm>
            <a:off x="1078245" y="4258491"/>
            <a:ext cx="9980280" cy="2062103"/>
          </a:xfrm>
          <a:prstGeom prst="rect">
            <a:avLst/>
          </a:prstGeom>
          <a:noFill/>
        </p:spPr>
        <p:txBody>
          <a:bodyPr wrap="square" rtlCol="0">
            <a:spAutoFit/>
          </a:bodyPr>
          <a:lstStyle/>
          <a:p>
            <a:r>
              <a:rPr lang="ja-JP" altLang="en-US" sz="3200" dirty="0"/>
              <a:t>本セミナーでは、</a:t>
            </a:r>
            <a:endParaRPr lang="en-US" altLang="ja-JP" sz="3200" dirty="0"/>
          </a:p>
          <a:p>
            <a:r>
              <a:rPr lang="ja-JP" altLang="en-US" sz="3200" b="1" dirty="0"/>
              <a:t>画像＝</a:t>
            </a:r>
            <a:r>
              <a:rPr lang="en-US" altLang="ja-JP" sz="3200" b="1" dirty="0"/>
              <a:t>PC</a:t>
            </a:r>
            <a:r>
              <a:rPr lang="ja-JP" altLang="en-US" sz="3200" b="1" dirty="0"/>
              <a:t>やスマホのプログラムで処理することで静止画として表現可能なデータ</a:t>
            </a:r>
            <a:endParaRPr lang="en-US" altLang="ja-JP" sz="3200" b="1" dirty="0"/>
          </a:p>
          <a:p>
            <a:r>
              <a:rPr kumimoji="1" lang="ja-JP" altLang="en-US" sz="3200" dirty="0"/>
              <a:t>とします</a:t>
            </a:r>
            <a:endParaRPr kumimoji="1" lang="en-US" altLang="ja-JP" sz="3200" dirty="0"/>
          </a:p>
        </p:txBody>
      </p:sp>
    </p:spTree>
    <p:extLst>
      <p:ext uri="{BB962C8B-B14F-4D97-AF65-F5344CB8AC3E}">
        <p14:creationId xmlns:p14="http://schemas.microsoft.com/office/powerpoint/2010/main" val="2052485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デジタル</a:t>
            </a:r>
            <a:r>
              <a:rPr kumimoji="1" lang="ja-JP" altLang="en-US" dirty="0"/>
              <a:t>画像の表示の流れ</a:t>
            </a:r>
          </a:p>
        </p:txBody>
      </p:sp>
      <p:sp>
        <p:nvSpPr>
          <p:cNvPr id="3" name="テキスト ボックス 2"/>
          <p:cNvSpPr txBox="1"/>
          <p:nvPr/>
        </p:nvSpPr>
        <p:spPr>
          <a:xfrm>
            <a:off x="1230086" y="4721270"/>
            <a:ext cx="2427514" cy="646331"/>
          </a:xfrm>
          <a:prstGeom prst="rect">
            <a:avLst/>
          </a:prstGeom>
          <a:noFill/>
        </p:spPr>
        <p:txBody>
          <a:bodyPr wrap="square" rtlCol="0">
            <a:spAutoFit/>
          </a:bodyPr>
          <a:lstStyle/>
          <a:p>
            <a:pPr algn="ctr"/>
            <a:r>
              <a:rPr kumimoji="1" lang="ja-JP" altLang="en-US" dirty="0"/>
              <a:t>画像ファイル</a:t>
            </a:r>
            <a:endParaRPr kumimoji="1" lang="en-US" altLang="ja-JP" dirty="0"/>
          </a:p>
          <a:p>
            <a:pPr algn="ctr"/>
            <a:r>
              <a:rPr lang="ja-JP" altLang="en-US" dirty="0"/>
              <a:t>（テキストデータ）</a:t>
            </a:r>
            <a:endParaRPr kumimoji="1" lang="ja-JP" altLang="en-US" dirty="0"/>
          </a:p>
        </p:txBody>
      </p:sp>
      <p:pic>
        <p:nvPicPr>
          <p:cNvPr id="10" name="図 9"/>
          <p:cNvPicPr>
            <a:picLocks noChangeAspect="1"/>
          </p:cNvPicPr>
          <p:nvPr/>
        </p:nvPicPr>
        <p:blipFill>
          <a:blip r:embed="rId2"/>
          <a:stretch>
            <a:fillRect/>
          </a:stretch>
        </p:blipFill>
        <p:spPr>
          <a:xfrm>
            <a:off x="1435009" y="2225065"/>
            <a:ext cx="2017668" cy="2341491"/>
          </a:xfrm>
          <a:prstGeom prst="rect">
            <a:avLst/>
          </a:prstGeom>
        </p:spPr>
      </p:pic>
      <p:sp>
        <p:nvSpPr>
          <p:cNvPr id="11" name="右矢印 10"/>
          <p:cNvSpPr/>
          <p:nvPr/>
        </p:nvSpPr>
        <p:spPr>
          <a:xfrm>
            <a:off x="3958046" y="3317966"/>
            <a:ext cx="3108960" cy="5486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p:cNvSpPr txBox="1"/>
          <p:nvPr/>
        </p:nvSpPr>
        <p:spPr>
          <a:xfrm>
            <a:off x="4298769" y="3864700"/>
            <a:ext cx="2427514" cy="369332"/>
          </a:xfrm>
          <a:prstGeom prst="rect">
            <a:avLst/>
          </a:prstGeom>
          <a:noFill/>
        </p:spPr>
        <p:txBody>
          <a:bodyPr wrap="square" rtlCol="0">
            <a:spAutoFit/>
          </a:bodyPr>
          <a:lstStyle/>
          <a:p>
            <a:pPr algn="ctr"/>
            <a:r>
              <a:rPr kumimoji="1" lang="ja-JP" altLang="en-US" dirty="0"/>
              <a:t>ソフトウェアで処理</a:t>
            </a:r>
          </a:p>
        </p:txBody>
      </p:sp>
      <p:pic>
        <p:nvPicPr>
          <p:cNvPr id="13" name="図 12"/>
          <p:cNvPicPr>
            <a:picLocks noChangeAspect="1"/>
          </p:cNvPicPr>
          <p:nvPr/>
        </p:nvPicPr>
        <p:blipFill>
          <a:blip r:embed="rId3"/>
          <a:stretch>
            <a:fillRect/>
          </a:stretch>
        </p:blipFill>
        <p:spPr>
          <a:xfrm>
            <a:off x="7572375" y="1557601"/>
            <a:ext cx="3476625" cy="3810000"/>
          </a:xfrm>
          <a:prstGeom prst="rect">
            <a:avLst/>
          </a:prstGeom>
        </p:spPr>
      </p:pic>
      <p:sp>
        <p:nvSpPr>
          <p:cNvPr id="14" name="テキスト ボックス 13"/>
          <p:cNvSpPr txBox="1"/>
          <p:nvPr/>
        </p:nvSpPr>
        <p:spPr>
          <a:xfrm>
            <a:off x="8096930" y="5454677"/>
            <a:ext cx="2427514" cy="369332"/>
          </a:xfrm>
          <a:prstGeom prst="rect">
            <a:avLst/>
          </a:prstGeom>
          <a:noFill/>
        </p:spPr>
        <p:txBody>
          <a:bodyPr wrap="square" rtlCol="0">
            <a:spAutoFit/>
          </a:bodyPr>
          <a:lstStyle/>
          <a:p>
            <a:pPr algn="ctr"/>
            <a:r>
              <a:rPr kumimoji="1" lang="ja-JP" altLang="en-US" dirty="0"/>
              <a:t>画像を表示</a:t>
            </a:r>
          </a:p>
        </p:txBody>
      </p:sp>
      <p:sp>
        <p:nvSpPr>
          <p:cNvPr id="15" name="テキスト ボックス 14"/>
          <p:cNvSpPr txBox="1"/>
          <p:nvPr/>
        </p:nvSpPr>
        <p:spPr>
          <a:xfrm>
            <a:off x="2516778" y="6099305"/>
            <a:ext cx="7158445" cy="523220"/>
          </a:xfrm>
          <a:prstGeom prst="rect">
            <a:avLst/>
          </a:prstGeom>
          <a:noFill/>
        </p:spPr>
        <p:txBody>
          <a:bodyPr wrap="square" rtlCol="0">
            <a:spAutoFit/>
          </a:bodyPr>
          <a:lstStyle/>
          <a:p>
            <a:pPr algn="ctr"/>
            <a:r>
              <a:rPr lang="ja-JP" altLang="en-US" sz="2800" b="1" dirty="0"/>
              <a:t>画像の本体はただのテキストデータ！</a:t>
            </a:r>
            <a:endParaRPr kumimoji="1" lang="ja-JP" altLang="en-US" sz="2800" b="1" dirty="0"/>
          </a:p>
        </p:txBody>
      </p:sp>
    </p:spTree>
    <p:extLst>
      <p:ext uri="{BB962C8B-B14F-4D97-AF65-F5344CB8AC3E}">
        <p14:creationId xmlns:p14="http://schemas.microsoft.com/office/powerpoint/2010/main" val="739224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デジタル</a:t>
            </a:r>
            <a:r>
              <a:rPr kumimoji="1" lang="ja-JP" altLang="en-US" dirty="0"/>
              <a:t>画像の表示の流れ（具体的に）</a:t>
            </a:r>
          </a:p>
        </p:txBody>
      </p:sp>
      <p:sp>
        <p:nvSpPr>
          <p:cNvPr id="4" name="正方形/長方形 3"/>
          <p:cNvSpPr/>
          <p:nvPr/>
        </p:nvSpPr>
        <p:spPr>
          <a:xfrm>
            <a:off x="261983" y="1309914"/>
            <a:ext cx="5381897" cy="45328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altLang="ja-JP" sz="2000" dirty="0"/>
              <a:t>P2</a:t>
            </a:r>
          </a:p>
          <a:p>
            <a:r>
              <a:rPr lang="en-US" altLang="ja-JP" sz="2000" dirty="0"/>
              <a:t>11 11</a:t>
            </a:r>
          </a:p>
          <a:p>
            <a:r>
              <a:rPr lang="en-US" altLang="ja-JP" sz="2000" dirty="0"/>
              <a:t>255</a:t>
            </a:r>
          </a:p>
          <a:p>
            <a:r>
              <a:rPr lang="en-US" altLang="ja-JP" sz="2000" dirty="0"/>
              <a:t>255 255 255 255 255 0 255 255 255 255 255</a:t>
            </a:r>
          </a:p>
          <a:p>
            <a:r>
              <a:rPr lang="en-US" altLang="ja-JP" sz="2000" dirty="0"/>
              <a:t>255 255 255 255 0 0 0 255 255 255 255</a:t>
            </a:r>
          </a:p>
          <a:p>
            <a:r>
              <a:rPr lang="en-US" altLang="ja-JP" sz="2000" dirty="0"/>
              <a:t>255 255 255 0 0 0 0 0 255 255 255</a:t>
            </a:r>
          </a:p>
          <a:p>
            <a:r>
              <a:rPr lang="en-US" altLang="ja-JP" sz="2000" dirty="0"/>
              <a:t>255 255 0 0 0 0 0 0 0 255 255</a:t>
            </a:r>
          </a:p>
          <a:p>
            <a:r>
              <a:rPr lang="en-US" altLang="ja-JP" sz="2000" dirty="0"/>
              <a:t>255 255 0 0 255 0 255 0 0 255 255</a:t>
            </a:r>
          </a:p>
          <a:p>
            <a:r>
              <a:rPr lang="en-US" altLang="ja-JP" sz="2000" dirty="0"/>
              <a:t>255 255 0 0 0 0 0 0 0 255 255</a:t>
            </a:r>
          </a:p>
          <a:p>
            <a:r>
              <a:rPr lang="en-US" altLang="ja-JP" sz="2000" dirty="0"/>
              <a:t>255 255 0 0 255 0 255 0 0 255 255</a:t>
            </a:r>
          </a:p>
          <a:p>
            <a:r>
              <a:rPr lang="en-US" altLang="ja-JP" sz="2000" dirty="0"/>
              <a:t>255 255 0 0 255 255 255 0 0 255 255</a:t>
            </a:r>
          </a:p>
          <a:p>
            <a:r>
              <a:rPr lang="en-US" altLang="ja-JP" sz="2000" dirty="0"/>
              <a:t>255 0 0 0 0 0 0 0 0 0 255</a:t>
            </a:r>
          </a:p>
          <a:p>
            <a:r>
              <a:rPr lang="en-US" altLang="ja-JP" sz="2000" dirty="0"/>
              <a:t>0 0 0 0 0 0 0 0 0 0 0</a:t>
            </a:r>
          </a:p>
          <a:p>
            <a:r>
              <a:rPr lang="en-US" altLang="ja-JP" sz="2000" dirty="0"/>
              <a:t>255 255 255 0 255 255 255 0 255 255 255</a:t>
            </a:r>
            <a:endParaRPr kumimoji="1" lang="ja-JP" altLang="en-US" sz="2000" dirty="0"/>
          </a:p>
        </p:txBody>
      </p:sp>
      <p:sp>
        <p:nvSpPr>
          <p:cNvPr id="5" name="テキスト ボックス 4"/>
          <p:cNvSpPr txBox="1"/>
          <p:nvPr/>
        </p:nvSpPr>
        <p:spPr>
          <a:xfrm>
            <a:off x="261983" y="5842723"/>
            <a:ext cx="5181598" cy="369332"/>
          </a:xfrm>
          <a:prstGeom prst="rect">
            <a:avLst/>
          </a:prstGeom>
          <a:noFill/>
        </p:spPr>
        <p:txBody>
          <a:bodyPr wrap="square" rtlCol="0">
            <a:spAutoFit/>
          </a:bodyPr>
          <a:lstStyle/>
          <a:p>
            <a:pPr algn="ctr"/>
            <a:r>
              <a:rPr lang="en-US" altLang="ja-JP" dirty="0" err="1"/>
              <a:t>HalloTrainKun.pgm</a:t>
            </a:r>
            <a:r>
              <a:rPr lang="ja-JP" altLang="en-US" dirty="0"/>
              <a:t>　</a:t>
            </a:r>
            <a:r>
              <a:rPr kumimoji="1" lang="en-US" altLang="ja-JP" dirty="0"/>
              <a:t>(</a:t>
            </a:r>
            <a:r>
              <a:rPr kumimoji="1" lang="ja-JP" altLang="en-US" dirty="0"/>
              <a:t>画像ファイル</a:t>
            </a:r>
            <a:r>
              <a:rPr kumimoji="1" lang="en-US" altLang="ja-JP" dirty="0"/>
              <a:t>)</a:t>
            </a:r>
            <a:endParaRPr kumimoji="1" lang="ja-JP" altLang="en-US" dirty="0"/>
          </a:p>
        </p:txBody>
      </p:sp>
      <p:sp>
        <p:nvSpPr>
          <p:cNvPr id="6" name="右矢印 5"/>
          <p:cNvSpPr/>
          <p:nvPr/>
        </p:nvSpPr>
        <p:spPr>
          <a:xfrm>
            <a:off x="5994399" y="3513795"/>
            <a:ext cx="1293223" cy="3788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5691777" y="4061822"/>
            <a:ext cx="1898468" cy="646331"/>
          </a:xfrm>
          <a:prstGeom prst="rect">
            <a:avLst/>
          </a:prstGeom>
          <a:noFill/>
        </p:spPr>
        <p:txBody>
          <a:bodyPr wrap="square" rtlCol="0">
            <a:spAutoFit/>
          </a:bodyPr>
          <a:lstStyle/>
          <a:p>
            <a:r>
              <a:rPr lang="ja-JP" altLang="en-US" dirty="0"/>
              <a:t>ソフトウェアで</a:t>
            </a:r>
            <a:endParaRPr lang="en-US" altLang="ja-JP" dirty="0"/>
          </a:p>
          <a:p>
            <a:r>
              <a:rPr lang="ja-JP" altLang="en-US" dirty="0"/>
              <a:t>読み込み</a:t>
            </a:r>
            <a:endParaRPr kumimoji="1" lang="ja-JP" altLang="en-US" dirty="0"/>
          </a:p>
        </p:txBody>
      </p:sp>
      <p:pic>
        <p:nvPicPr>
          <p:cNvPr id="8" name="図 7"/>
          <p:cNvPicPr>
            <a:picLocks noChangeAspect="1"/>
          </p:cNvPicPr>
          <p:nvPr/>
        </p:nvPicPr>
        <p:blipFill>
          <a:blip r:embed="rId2"/>
          <a:stretch>
            <a:fillRect/>
          </a:stretch>
        </p:blipFill>
        <p:spPr>
          <a:xfrm>
            <a:off x="7590245" y="1891857"/>
            <a:ext cx="4375932" cy="3622698"/>
          </a:xfrm>
          <a:prstGeom prst="rect">
            <a:avLst/>
          </a:prstGeom>
        </p:spPr>
      </p:pic>
      <p:sp>
        <p:nvSpPr>
          <p:cNvPr id="9" name="テキスト ボックス 8"/>
          <p:cNvSpPr txBox="1"/>
          <p:nvPr/>
        </p:nvSpPr>
        <p:spPr>
          <a:xfrm>
            <a:off x="7590246" y="5519558"/>
            <a:ext cx="4375932" cy="646331"/>
          </a:xfrm>
          <a:prstGeom prst="rect">
            <a:avLst/>
          </a:prstGeom>
          <a:noFill/>
        </p:spPr>
        <p:txBody>
          <a:bodyPr wrap="square" rtlCol="0">
            <a:spAutoFit/>
          </a:bodyPr>
          <a:lstStyle/>
          <a:p>
            <a:pPr algn="ctr"/>
            <a:r>
              <a:rPr lang="en-US" altLang="ja-JP" dirty="0"/>
              <a:t>GIMP</a:t>
            </a:r>
            <a:r>
              <a:rPr lang="ja-JP" altLang="en-US" dirty="0"/>
              <a:t>などで表示！</a:t>
            </a:r>
            <a:endParaRPr lang="en-US" altLang="ja-JP" dirty="0"/>
          </a:p>
          <a:p>
            <a:pPr algn="ctr"/>
            <a:r>
              <a:rPr kumimoji="1" lang="ja-JP" altLang="en-US" dirty="0"/>
              <a:t>（</a:t>
            </a:r>
            <a:r>
              <a:rPr lang="ja-JP" altLang="en-US" dirty="0"/>
              <a:t>上画像は </a:t>
            </a:r>
            <a:r>
              <a:rPr kumimoji="1" lang="en-US" altLang="ja-JP" dirty="0"/>
              <a:t>Eye of MATE</a:t>
            </a:r>
            <a:r>
              <a:rPr kumimoji="1" lang="ja-JP" altLang="en-US" dirty="0"/>
              <a:t>）</a:t>
            </a:r>
          </a:p>
        </p:txBody>
      </p:sp>
      <p:sp>
        <p:nvSpPr>
          <p:cNvPr id="3" name="テキスト ボックス 2">
            <a:extLst>
              <a:ext uri="{FF2B5EF4-FFF2-40B4-BE49-F238E27FC236}">
                <a16:creationId xmlns:a16="http://schemas.microsoft.com/office/drawing/2014/main" id="{E556164D-8A38-7C65-3B3C-7F37EFB333B0}"/>
              </a:ext>
            </a:extLst>
          </p:cNvPr>
          <p:cNvSpPr txBox="1"/>
          <p:nvPr/>
        </p:nvSpPr>
        <p:spPr>
          <a:xfrm>
            <a:off x="3403600" y="6418182"/>
            <a:ext cx="5181598" cy="369332"/>
          </a:xfrm>
          <a:prstGeom prst="rect">
            <a:avLst/>
          </a:prstGeom>
          <a:noFill/>
        </p:spPr>
        <p:txBody>
          <a:bodyPr wrap="square" rtlCol="0">
            <a:spAutoFit/>
          </a:bodyPr>
          <a:lstStyle/>
          <a:p>
            <a:pPr algn="ctr"/>
            <a:r>
              <a:rPr lang="ja-JP" altLang="en-US" dirty="0"/>
              <a:t>配布フォルダの</a:t>
            </a:r>
            <a:r>
              <a:rPr lang="en-US" altLang="ja-JP" dirty="0"/>
              <a:t>SVG</a:t>
            </a:r>
            <a:r>
              <a:rPr lang="ja-JP" altLang="en-US" dirty="0"/>
              <a:t>形式も見てみましょう</a:t>
            </a:r>
            <a:endParaRPr kumimoji="1" lang="ja-JP" altLang="en-US" dirty="0"/>
          </a:p>
        </p:txBody>
      </p:sp>
    </p:spTree>
    <p:extLst>
      <p:ext uri="{BB962C8B-B14F-4D97-AF65-F5344CB8AC3E}">
        <p14:creationId xmlns:p14="http://schemas.microsoft.com/office/powerpoint/2010/main" val="2210252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画像の種類　～データ形式で分類～</a:t>
            </a:r>
          </a:p>
        </p:txBody>
      </p:sp>
      <p:sp>
        <p:nvSpPr>
          <p:cNvPr id="3" name="コンテンツ プレースホルダー 2"/>
          <p:cNvSpPr>
            <a:spLocks noGrp="1"/>
          </p:cNvSpPr>
          <p:nvPr>
            <p:ph idx="1"/>
          </p:nvPr>
        </p:nvSpPr>
        <p:spPr/>
        <p:txBody>
          <a:bodyPr>
            <a:normAutofit lnSpcReduction="10000"/>
          </a:bodyPr>
          <a:lstStyle/>
          <a:p>
            <a:r>
              <a:rPr lang="ja-JP" altLang="en-US" dirty="0"/>
              <a:t>ラスタ</a:t>
            </a:r>
            <a:r>
              <a:rPr kumimoji="1" lang="ja-JP" altLang="en-US" dirty="0"/>
              <a:t>画像（セミナーで利用する形式）</a:t>
            </a:r>
            <a:endParaRPr lang="en-US" altLang="ja-JP" dirty="0"/>
          </a:p>
          <a:p>
            <a:pPr marL="0" indent="0">
              <a:buNone/>
            </a:pPr>
            <a:r>
              <a:rPr lang="en-US" altLang="ja-JP" dirty="0"/>
              <a:t>1pixel</a:t>
            </a:r>
            <a:r>
              <a:rPr lang="ja-JP" altLang="en-US" dirty="0"/>
              <a:t>ごとに色情報を持たせて画像を表現するデータ形式</a:t>
            </a:r>
            <a:endParaRPr lang="en-US" altLang="ja-JP" dirty="0"/>
          </a:p>
          <a:p>
            <a:pPr marL="0" indent="0">
              <a:buNone/>
            </a:pPr>
            <a:endParaRPr kumimoji="1" lang="en-US" altLang="ja-JP" dirty="0"/>
          </a:p>
          <a:p>
            <a:pPr marL="0" indent="0">
              <a:buNone/>
            </a:pPr>
            <a:endParaRPr lang="en-US" altLang="ja-JP" dirty="0"/>
          </a:p>
          <a:p>
            <a:pPr marL="0" indent="0">
              <a:buNone/>
            </a:pPr>
            <a:endParaRPr kumimoji="1" lang="en-US" altLang="ja-JP" dirty="0"/>
          </a:p>
          <a:p>
            <a:pPr marL="0" indent="0">
              <a:buNone/>
            </a:pPr>
            <a:endParaRPr kumimoji="1" lang="en-US" altLang="ja-JP" dirty="0"/>
          </a:p>
          <a:p>
            <a:r>
              <a:rPr lang="ja-JP" altLang="en-US" dirty="0"/>
              <a:t>ベクタ画像</a:t>
            </a:r>
            <a:endParaRPr lang="en-US" altLang="ja-JP" dirty="0"/>
          </a:p>
          <a:p>
            <a:pPr marL="0" indent="0">
              <a:buNone/>
            </a:pPr>
            <a:r>
              <a:rPr kumimoji="1" lang="ja-JP" altLang="en-US" dirty="0"/>
              <a:t>点と点を結ぶルールが記述されたデータ形式。拡大してもぼやけないというメリットがあるが画像処理には不向き</a:t>
            </a:r>
          </a:p>
        </p:txBody>
      </p:sp>
    </p:spTree>
    <p:extLst>
      <p:ext uri="{BB962C8B-B14F-4D97-AF65-F5344CB8AC3E}">
        <p14:creationId xmlns:p14="http://schemas.microsoft.com/office/powerpoint/2010/main" val="2877518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076C7E-8BA8-5DDA-E5B7-117606207985}"/>
              </a:ext>
            </a:extLst>
          </p:cNvPr>
          <p:cNvSpPr>
            <a:spLocks noGrp="1"/>
          </p:cNvSpPr>
          <p:nvPr>
            <p:ph type="title"/>
          </p:nvPr>
        </p:nvSpPr>
        <p:spPr/>
        <p:txBody>
          <a:bodyPr>
            <a:normAutofit/>
          </a:bodyPr>
          <a:lstStyle/>
          <a:p>
            <a:r>
              <a:rPr kumimoji="1" lang="ja-JP" altLang="en-US" sz="4000" dirty="0"/>
              <a:t>画像の種類　～フォーマット形式 </a:t>
            </a:r>
            <a:r>
              <a:rPr kumimoji="1" lang="en-US" altLang="ja-JP" sz="4000" dirty="0"/>
              <a:t>JPG</a:t>
            </a:r>
            <a:r>
              <a:rPr kumimoji="1" lang="ja-JP" altLang="en-US" sz="4000" dirty="0"/>
              <a:t>～</a:t>
            </a:r>
          </a:p>
        </p:txBody>
      </p:sp>
      <p:sp>
        <p:nvSpPr>
          <p:cNvPr id="3" name="コンテンツ プレースホルダー 2">
            <a:extLst>
              <a:ext uri="{FF2B5EF4-FFF2-40B4-BE49-F238E27FC236}">
                <a16:creationId xmlns:a16="http://schemas.microsoft.com/office/drawing/2014/main" id="{0883B574-F5E7-7C36-35D4-8E634C00E444}"/>
              </a:ext>
            </a:extLst>
          </p:cNvPr>
          <p:cNvSpPr>
            <a:spLocks noGrp="1"/>
          </p:cNvSpPr>
          <p:nvPr>
            <p:ph idx="1"/>
          </p:nvPr>
        </p:nvSpPr>
        <p:spPr/>
        <p:txBody>
          <a:bodyPr/>
          <a:lstStyle/>
          <a:p>
            <a:r>
              <a:rPr kumimoji="1" lang="en-US" altLang="ja-JP" dirty="0"/>
              <a:t>24bit</a:t>
            </a:r>
            <a:r>
              <a:rPr kumimoji="1" lang="ja-JP" altLang="en-US" dirty="0"/>
              <a:t>フルカラー（</a:t>
            </a:r>
            <a:r>
              <a:rPr kumimoji="1" lang="en-US" altLang="ja-JP" dirty="0"/>
              <a:t>1pixel</a:t>
            </a:r>
            <a:r>
              <a:rPr kumimoji="1" lang="ja-JP" altLang="en-US" dirty="0"/>
              <a:t>あたり</a:t>
            </a:r>
            <a:r>
              <a:rPr kumimoji="1" lang="en-US" altLang="ja-JP" dirty="0"/>
              <a:t>3</a:t>
            </a:r>
            <a:r>
              <a:rPr kumimoji="1" lang="ja-JP" altLang="en-US" dirty="0"/>
              <a:t>原色</a:t>
            </a:r>
            <a:r>
              <a:rPr kumimoji="1" lang="en-US" altLang="ja-JP" dirty="0"/>
              <a:t>×8bit</a:t>
            </a:r>
            <a:r>
              <a:rPr kumimoji="1" lang="ja-JP" altLang="en-US" dirty="0"/>
              <a:t>≒</a:t>
            </a:r>
            <a:r>
              <a:rPr kumimoji="1" lang="en-US" altLang="ja-JP" dirty="0"/>
              <a:t>1677</a:t>
            </a:r>
            <a:r>
              <a:rPr kumimoji="1" lang="ja-JP" altLang="en-US" dirty="0"/>
              <a:t>万色）を扱うことができる</a:t>
            </a:r>
            <a:endParaRPr kumimoji="1" lang="en-US" altLang="ja-JP" dirty="0"/>
          </a:p>
          <a:p>
            <a:r>
              <a:rPr kumimoji="1" lang="ja-JP" altLang="en-US" dirty="0"/>
              <a:t>非可逆圧縮方式を採用しており、データサイズが小さい</a:t>
            </a:r>
            <a:endParaRPr kumimoji="1" lang="en-US" altLang="ja-JP" dirty="0"/>
          </a:p>
          <a:p>
            <a:r>
              <a:rPr kumimoji="1" lang="ja-JP" altLang="en-US" dirty="0"/>
              <a:t>反面、非可逆圧縮なため上書き保存を繰り返すとブロックノイズやモスキートノイズが発生しやすい</a:t>
            </a:r>
          </a:p>
        </p:txBody>
      </p:sp>
    </p:spTree>
    <p:extLst>
      <p:ext uri="{BB962C8B-B14F-4D97-AF65-F5344CB8AC3E}">
        <p14:creationId xmlns:p14="http://schemas.microsoft.com/office/powerpoint/2010/main" val="3607883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076C7E-8BA8-5DDA-E5B7-117606207985}"/>
              </a:ext>
            </a:extLst>
          </p:cNvPr>
          <p:cNvSpPr>
            <a:spLocks noGrp="1"/>
          </p:cNvSpPr>
          <p:nvPr>
            <p:ph type="title"/>
          </p:nvPr>
        </p:nvSpPr>
        <p:spPr/>
        <p:txBody>
          <a:bodyPr>
            <a:normAutofit/>
          </a:bodyPr>
          <a:lstStyle/>
          <a:p>
            <a:r>
              <a:rPr kumimoji="1" lang="ja-JP" altLang="en-US" sz="4000" dirty="0"/>
              <a:t>画像の種類　～フォーマット形式 </a:t>
            </a:r>
            <a:r>
              <a:rPr kumimoji="1" lang="en-US" altLang="ja-JP" sz="4000" dirty="0"/>
              <a:t>PNG</a:t>
            </a:r>
            <a:r>
              <a:rPr kumimoji="1" lang="ja-JP" altLang="en-US" sz="4000" dirty="0"/>
              <a:t>～</a:t>
            </a:r>
          </a:p>
        </p:txBody>
      </p:sp>
      <p:sp>
        <p:nvSpPr>
          <p:cNvPr id="3" name="コンテンツ プレースホルダー 2">
            <a:extLst>
              <a:ext uri="{FF2B5EF4-FFF2-40B4-BE49-F238E27FC236}">
                <a16:creationId xmlns:a16="http://schemas.microsoft.com/office/drawing/2014/main" id="{0883B574-F5E7-7C36-35D4-8E634C00E444}"/>
              </a:ext>
            </a:extLst>
          </p:cNvPr>
          <p:cNvSpPr>
            <a:spLocks noGrp="1"/>
          </p:cNvSpPr>
          <p:nvPr>
            <p:ph idx="1"/>
          </p:nvPr>
        </p:nvSpPr>
        <p:spPr/>
        <p:txBody>
          <a:bodyPr/>
          <a:lstStyle/>
          <a:p>
            <a:r>
              <a:rPr kumimoji="1" lang="en-US" altLang="ja-JP" dirty="0"/>
              <a:t>24bit</a:t>
            </a:r>
            <a:r>
              <a:rPr kumimoji="1" lang="ja-JP" altLang="en-US" dirty="0"/>
              <a:t>フルカラー（</a:t>
            </a:r>
            <a:r>
              <a:rPr kumimoji="1" lang="en-US" altLang="ja-JP" dirty="0"/>
              <a:t>1pixel</a:t>
            </a:r>
            <a:r>
              <a:rPr kumimoji="1" lang="ja-JP" altLang="en-US" dirty="0"/>
              <a:t>あたり</a:t>
            </a:r>
            <a:r>
              <a:rPr kumimoji="1" lang="en-US" altLang="ja-JP" dirty="0"/>
              <a:t>3</a:t>
            </a:r>
            <a:r>
              <a:rPr kumimoji="1" lang="ja-JP" altLang="en-US" dirty="0"/>
              <a:t>原色</a:t>
            </a:r>
            <a:r>
              <a:rPr kumimoji="1" lang="en-US" altLang="ja-JP" dirty="0"/>
              <a:t>×8bit</a:t>
            </a:r>
            <a:r>
              <a:rPr kumimoji="1" lang="ja-JP" altLang="en-US" dirty="0"/>
              <a:t>≒</a:t>
            </a:r>
            <a:r>
              <a:rPr kumimoji="1" lang="en-US" altLang="ja-JP" dirty="0"/>
              <a:t>1677</a:t>
            </a:r>
            <a:r>
              <a:rPr kumimoji="1" lang="ja-JP" altLang="en-US" dirty="0"/>
              <a:t>万色）を扱うことができ、最大値では</a:t>
            </a:r>
            <a:r>
              <a:rPr kumimoji="1" lang="en-US" altLang="ja-JP" dirty="0"/>
              <a:t>48bit</a:t>
            </a:r>
            <a:r>
              <a:rPr kumimoji="1" lang="ja-JP" altLang="en-US" dirty="0"/>
              <a:t>（</a:t>
            </a:r>
            <a:r>
              <a:rPr lang="ja-JP" altLang="en-US" dirty="0"/>
              <a:t>約</a:t>
            </a:r>
            <a:r>
              <a:rPr lang="en-US" altLang="ja-JP" dirty="0"/>
              <a:t>280</a:t>
            </a:r>
            <a:r>
              <a:rPr lang="ja-JP" altLang="en-US" dirty="0"/>
              <a:t>兆色</a:t>
            </a:r>
            <a:r>
              <a:rPr kumimoji="1" lang="ja-JP" altLang="en-US" dirty="0"/>
              <a:t>）まで対応可能</a:t>
            </a:r>
            <a:endParaRPr kumimoji="1" lang="en-US" altLang="ja-JP" dirty="0"/>
          </a:p>
          <a:p>
            <a:r>
              <a:rPr lang="ja-JP" altLang="en-US" dirty="0"/>
              <a:t>アルファチャンネルを利用して、各</a:t>
            </a:r>
            <a:r>
              <a:rPr lang="en-US" altLang="ja-JP" dirty="0"/>
              <a:t>pixel</a:t>
            </a:r>
            <a:r>
              <a:rPr lang="ja-JP" altLang="en-US" dirty="0"/>
              <a:t>の透明度を</a:t>
            </a:r>
            <a:r>
              <a:rPr lang="en-US" altLang="ja-JP" dirty="0"/>
              <a:t>8bit</a:t>
            </a:r>
            <a:r>
              <a:rPr lang="ja-JP" altLang="en-US" dirty="0"/>
              <a:t>で指定可能</a:t>
            </a:r>
            <a:endParaRPr kumimoji="1" lang="en-US" altLang="ja-JP" dirty="0"/>
          </a:p>
          <a:p>
            <a:r>
              <a:rPr kumimoji="1" lang="ja-JP" altLang="en-US" dirty="0"/>
              <a:t>可逆圧縮方式を採用しており、データサイズが大きい</a:t>
            </a:r>
            <a:endParaRPr kumimoji="1" lang="en-US" altLang="ja-JP" dirty="0"/>
          </a:p>
          <a:p>
            <a:r>
              <a:rPr kumimoji="1" lang="ja-JP" altLang="en-US" dirty="0"/>
              <a:t>可逆圧縮なので画像をいくら上書き保存してもデータの損失がない→ 画像処理（たくさん画像に上書き保存するの）に向いている！</a:t>
            </a:r>
          </a:p>
        </p:txBody>
      </p:sp>
    </p:spTree>
    <p:extLst>
      <p:ext uri="{BB962C8B-B14F-4D97-AF65-F5344CB8AC3E}">
        <p14:creationId xmlns:p14="http://schemas.microsoft.com/office/powerpoint/2010/main" val="145556141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437</Words>
  <Application>Microsoft Office PowerPoint</Application>
  <PresentationFormat>ワイド画面</PresentationFormat>
  <Paragraphs>52</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画像について</vt:lpstr>
      <vt:lpstr>画像とは？？？</vt:lpstr>
      <vt:lpstr>デジタル画像の表示の流れ</vt:lpstr>
      <vt:lpstr>デジタル画像の表示の流れ（具体的に）</vt:lpstr>
      <vt:lpstr>画像の種類　～データ形式で分類～</vt:lpstr>
      <vt:lpstr>画像の種類　～フォーマット形式 JPG～</vt:lpstr>
      <vt:lpstr>画像の種類　～フォーマット形式 PNG～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te02</dc:creator>
  <cp:lastModifiedBy>sem00</cp:lastModifiedBy>
  <cp:revision>6</cp:revision>
  <dcterms:created xsi:type="dcterms:W3CDTF">2024-07-05T01:28:49Z</dcterms:created>
  <dcterms:modified xsi:type="dcterms:W3CDTF">2026-06-12T08:17:05Z</dcterms:modified>
</cp:coreProperties>
</file>